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163f20477e436c" /><Relationship Type="http://schemas.openxmlformats.org/officeDocument/2006/relationships/extended-properties" Target="/docProps/app.xml" Id="Rf8f34a27a75a4895" /><Relationship Type="http://schemas.openxmlformats.org/officeDocument/2006/relationships/officeDocument" Target="/ppt/presentation.xml" Id="Rd435fd592d714e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54012d1d24447f"/>
  </p:sldMasterIdLst>
  <p:notesMasterIdLst>
    <p:notesMasterId xmlns:r="http://schemas.openxmlformats.org/officeDocument/2006/relationships" r:id="R3aed10a7e0f74a76"/>
  </p:notesMasterIdLst>
  <p:sldIdLst>
    <p:sldId xmlns:r="http://schemas.openxmlformats.org/officeDocument/2006/relationships" id="256" r:id="Rc04f6bf1c12e4f20"/>
    <p:sldId xmlns:r="http://schemas.openxmlformats.org/officeDocument/2006/relationships" id="257" r:id="R2c4db5fe4e3547cb"/>
    <p:sldId xmlns:r="http://schemas.openxmlformats.org/officeDocument/2006/relationships" id="258" r:id="R758280d8628c420d"/>
    <p:sldId xmlns:r="http://schemas.openxmlformats.org/officeDocument/2006/relationships" id="259" r:id="R0722a7406fbd4d77"/>
    <p:sldId xmlns:r="http://schemas.openxmlformats.org/officeDocument/2006/relationships" id="260" r:id="R868a87e360714336"/>
    <p:sldId xmlns:r="http://schemas.openxmlformats.org/officeDocument/2006/relationships" id="261" r:id="Re967cd9c8b7345bc"/>
    <p:sldId xmlns:r="http://schemas.openxmlformats.org/officeDocument/2006/relationships" id="262" r:id="Rd7e65428b8934c3f"/>
    <p:sldId xmlns:r="http://schemas.openxmlformats.org/officeDocument/2006/relationships" id="263" r:id="R56e1d2d29f38445a"/>
    <p:sldId xmlns:r="http://schemas.openxmlformats.org/officeDocument/2006/relationships" id="264" r:id="Rf0956adb27fb4028"/>
    <p:sldId xmlns:r="http://schemas.openxmlformats.org/officeDocument/2006/relationships" id="265" r:id="Rfae479c76d554780"/>
    <p:sldId xmlns:r="http://schemas.openxmlformats.org/officeDocument/2006/relationships" id="266" r:id="Rd252b13afe58431a"/>
    <p:sldId xmlns:r="http://schemas.openxmlformats.org/officeDocument/2006/relationships" id="267" r:id="R74058e3cbb2648de"/>
    <p:sldId xmlns:r="http://schemas.openxmlformats.org/officeDocument/2006/relationships" id="268" r:id="Rdd5d9d88cce84e75"/>
    <p:sldId xmlns:r="http://schemas.openxmlformats.org/officeDocument/2006/relationships" id="269" r:id="R9ce035c70c6d4842"/>
    <p:sldId xmlns:r="http://schemas.openxmlformats.org/officeDocument/2006/relationships" id="270" r:id="Rae8099ed9e044b29"/>
    <p:sldId xmlns:r="http://schemas.openxmlformats.org/officeDocument/2006/relationships" id="271" r:id="Rb0a851a0dbcd490d"/>
    <p:sldId xmlns:r="http://schemas.openxmlformats.org/officeDocument/2006/relationships" id="272" r:id="Rb73ae2e748db4bd9"/>
    <p:sldId xmlns:r="http://schemas.openxmlformats.org/officeDocument/2006/relationships" id="273" r:id="R01ac5f42cd744f10"/>
    <p:sldId xmlns:r="http://schemas.openxmlformats.org/officeDocument/2006/relationships" id="274" r:id="R59df0348355f4af7"/>
    <p:sldId xmlns:r="http://schemas.openxmlformats.org/officeDocument/2006/relationships" id="275" r:id="R7bed2d007b644f5e"/>
    <p:sldId xmlns:r="http://schemas.openxmlformats.org/officeDocument/2006/relationships" id="276" r:id="R956cbe68ec6a4146"/>
    <p:sldId xmlns:r="http://schemas.openxmlformats.org/officeDocument/2006/relationships" id="277" r:id="R71f1d002903f4d9a"/>
    <p:sldId xmlns:r="http://schemas.openxmlformats.org/officeDocument/2006/relationships" id="278" r:id="Rdc940fd5e9be43a2"/>
    <p:sldId xmlns:r="http://schemas.openxmlformats.org/officeDocument/2006/relationships" id="279" r:id="Rfb8658404e8f43c1"/>
    <p:sldId xmlns:r="http://schemas.openxmlformats.org/officeDocument/2006/relationships" id="280" r:id="R72827bbc3b4149a5"/>
    <p:sldId xmlns:r="http://schemas.openxmlformats.org/officeDocument/2006/relationships" id="281" r:id="R116f95bef715434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14d31e9c0344de" /><Relationship Type="http://schemas.openxmlformats.org/officeDocument/2006/relationships/slideMaster" Target="/ppt/slideMasters/slideMaster1.xml" Id="R6854012d1d24447f" /><Relationship Type="http://schemas.openxmlformats.org/officeDocument/2006/relationships/notesMaster" Target="/ppt/notesMasters/notesMaster1.xml" Id="R3aed10a7e0f74a76" /><Relationship Type="http://schemas.openxmlformats.org/officeDocument/2006/relationships/presProps" Target="/ppt/presProps.xml" Id="Rcb02b32119334f85" /><Relationship Type="http://schemas.openxmlformats.org/officeDocument/2006/relationships/tableStyles" Target="/ppt/tableStyles.xml" Id="Rcf5c8d1ea1444c2d" /><Relationship Type="http://schemas.openxmlformats.org/officeDocument/2006/relationships/slide" Target="/ppt/slides/slide1.xml" Id="Rc04f6bf1c12e4f20" /><Relationship Type="http://schemas.openxmlformats.org/officeDocument/2006/relationships/slide" Target="/ppt/slides/slide2.xml" Id="R2c4db5fe4e3547cb" /><Relationship Type="http://schemas.openxmlformats.org/officeDocument/2006/relationships/slide" Target="/ppt/slides/slide3.xml" Id="R758280d8628c420d" /><Relationship Type="http://schemas.openxmlformats.org/officeDocument/2006/relationships/slide" Target="/ppt/slides/slide4.xml" Id="R0722a7406fbd4d77" /><Relationship Type="http://schemas.openxmlformats.org/officeDocument/2006/relationships/slide" Target="/ppt/slides/slide5.xml" Id="R868a87e360714336" /><Relationship Type="http://schemas.openxmlformats.org/officeDocument/2006/relationships/slide" Target="/ppt/slides/slide6.xml" Id="Re967cd9c8b7345bc" /><Relationship Type="http://schemas.openxmlformats.org/officeDocument/2006/relationships/slide" Target="/ppt/slides/slide7.xml" Id="Rd7e65428b8934c3f" /><Relationship Type="http://schemas.openxmlformats.org/officeDocument/2006/relationships/slide" Target="/ppt/slides/slide8.xml" Id="R56e1d2d29f38445a" /><Relationship Type="http://schemas.openxmlformats.org/officeDocument/2006/relationships/slide" Target="/ppt/slides/slide9.xml" Id="Rf0956adb27fb4028" /><Relationship Type="http://schemas.openxmlformats.org/officeDocument/2006/relationships/slide" Target="/ppt/slides/slide10.xml" Id="Rfae479c76d554780" /><Relationship Type="http://schemas.openxmlformats.org/officeDocument/2006/relationships/slide" Target="/ppt/slides/slide11.xml" Id="Rd252b13afe58431a" /><Relationship Type="http://schemas.openxmlformats.org/officeDocument/2006/relationships/slide" Target="/ppt/slides/slide12.xml" Id="R74058e3cbb2648de" /><Relationship Type="http://schemas.openxmlformats.org/officeDocument/2006/relationships/slide" Target="/ppt/slides/slide13.xml" Id="Rdd5d9d88cce84e75" /><Relationship Type="http://schemas.openxmlformats.org/officeDocument/2006/relationships/slide" Target="/ppt/slides/slide14.xml" Id="R9ce035c70c6d4842" /><Relationship Type="http://schemas.openxmlformats.org/officeDocument/2006/relationships/slide" Target="/ppt/slides/slide15.xml" Id="Rae8099ed9e044b29" /><Relationship Type="http://schemas.openxmlformats.org/officeDocument/2006/relationships/slide" Target="/ppt/slides/slide16.xml" Id="Rb0a851a0dbcd490d" /><Relationship Type="http://schemas.openxmlformats.org/officeDocument/2006/relationships/slide" Target="/ppt/slides/slide17.xml" Id="Rb73ae2e748db4bd9" /><Relationship Type="http://schemas.openxmlformats.org/officeDocument/2006/relationships/slide" Target="/ppt/slides/slide18.xml" Id="R01ac5f42cd744f10" /><Relationship Type="http://schemas.openxmlformats.org/officeDocument/2006/relationships/slide" Target="/ppt/slides/slide19.xml" Id="R59df0348355f4af7" /><Relationship Type="http://schemas.openxmlformats.org/officeDocument/2006/relationships/slide" Target="/ppt/slides/slide20.xml" Id="R7bed2d007b644f5e" /><Relationship Type="http://schemas.openxmlformats.org/officeDocument/2006/relationships/slide" Target="/ppt/slides/slide21.xml" Id="R956cbe68ec6a4146" /><Relationship Type="http://schemas.openxmlformats.org/officeDocument/2006/relationships/slide" Target="/ppt/slides/slide22.xml" Id="R71f1d002903f4d9a" /><Relationship Type="http://schemas.openxmlformats.org/officeDocument/2006/relationships/slide" Target="/ppt/slides/slide23.xml" Id="Rdc940fd5e9be43a2" /><Relationship Type="http://schemas.openxmlformats.org/officeDocument/2006/relationships/slide" Target="/ppt/slides/slide24.xml" Id="Rfb8658404e8f43c1" /><Relationship Type="http://schemas.openxmlformats.org/officeDocument/2006/relationships/slide" Target="/ppt/slides/slide25.xml" Id="R72827bbc3b4149a5" /><Relationship Type="http://schemas.openxmlformats.org/officeDocument/2006/relationships/slide" Target="/ppt/slides/slide26.xml" Id="R116f95bef71543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414561cff04a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6bc96f9ea34837" /><Relationship Type="http://schemas.openxmlformats.org/officeDocument/2006/relationships/notesMaster" Target="/ppt/notesMasters/notesMaster1.xml" Id="R74b178fcd32d46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f8fdbf869b4f3e" /><Relationship Type="http://schemas.openxmlformats.org/officeDocument/2006/relationships/notesMaster" Target="/ppt/notesMasters/notesMaster1.xml" Id="Rf268a7c56cbd44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3acda7f25b4ad1" /><Relationship Type="http://schemas.openxmlformats.org/officeDocument/2006/relationships/notesMaster" Target="/ppt/notesMasters/notesMaster1.xml" Id="R18b17304e8474d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b7371d119a49a5" /><Relationship Type="http://schemas.openxmlformats.org/officeDocument/2006/relationships/notesMaster" Target="/ppt/notesMasters/notesMaster1.xml" Id="Re34564005eb54a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7dd02368e0482f" /><Relationship Type="http://schemas.openxmlformats.org/officeDocument/2006/relationships/notesMaster" Target="/ppt/notesMasters/notesMaster1.xml" Id="Rf2bb80934b9445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bf1fd192df4fba" /><Relationship Type="http://schemas.openxmlformats.org/officeDocument/2006/relationships/notesMaster" Target="/ppt/notesMasters/notesMaster1.xml" Id="Rab5a4a185c0145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92c70368a04047" /><Relationship Type="http://schemas.openxmlformats.org/officeDocument/2006/relationships/notesMaster" Target="/ppt/notesMasters/notesMaster1.xml" Id="R1aa0dab3b26742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ec4878f9254753" /><Relationship Type="http://schemas.openxmlformats.org/officeDocument/2006/relationships/notesMaster" Target="/ppt/notesMasters/notesMaster1.xml" Id="R80a81850bbe345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581757dd5f4d2e" /><Relationship Type="http://schemas.openxmlformats.org/officeDocument/2006/relationships/notesMaster" Target="/ppt/notesMasters/notesMaster1.xml" Id="R05c0b815a9b94e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89318a17504949" /><Relationship Type="http://schemas.openxmlformats.org/officeDocument/2006/relationships/notesMaster" Target="/ppt/notesMasters/notesMaster1.xml" Id="Ra2c97dcb07d54c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36260697724604" /><Relationship Type="http://schemas.openxmlformats.org/officeDocument/2006/relationships/notesMaster" Target="/ppt/notesMasters/notesMaster1.xml" Id="R703eb7a480254d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4f69ff42bf4a0f" /><Relationship Type="http://schemas.openxmlformats.org/officeDocument/2006/relationships/notesMaster" Target="/ppt/notesMasters/notesMaster1.xml" Id="R97287524036d4d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3a748a07f144fa" /><Relationship Type="http://schemas.openxmlformats.org/officeDocument/2006/relationships/notesMaster" Target="/ppt/notesMasters/notesMaster1.xml" Id="Rf9d7b2ac91f24c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5e90ce464074f2d" /><Relationship Type="http://schemas.openxmlformats.org/officeDocument/2006/relationships/notesMaster" Target="/ppt/notesMasters/notesMaster1.xml" Id="R50fa8784f55142d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cee5011a29e492a" /><Relationship Type="http://schemas.openxmlformats.org/officeDocument/2006/relationships/notesMaster" Target="/ppt/notesMasters/notesMaster1.xml" Id="R87da0d7cfd484ec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7bbc46d336b476c" /><Relationship Type="http://schemas.openxmlformats.org/officeDocument/2006/relationships/notesMaster" Target="/ppt/notesMasters/notesMaster1.xml" Id="R5e5b5a48c235407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9396f52826d4826" /><Relationship Type="http://schemas.openxmlformats.org/officeDocument/2006/relationships/notesMaster" Target="/ppt/notesMasters/notesMaster1.xml" Id="Re0f01df4e18148a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4c5262d2747407a" /><Relationship Type="http://schemas.openxmlformats.org/officeDocument/2006/relationships/notesMaster" Target="/ppt/notesMasters/notesMaster1.xml" Id="R9a23936819474f8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06d2e401b0848b9" /><Relationship Type="http://schemas.openxmlformats.org/officeDocument/2006/relationships/notesMaster" Target="/ppt/notesMasters/notesMaster1.xml" Id="Ra3a39e02af93453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ff7dc58045d4628" /><Relationship Type="http://schemas.openxmlformats.org/officeDocument/2006/relationships/notesMaster" Target="/ppt/notesMasters/notesMaster1.xml" Id="R8854a7603cf04d0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84e87a6d86949a7" /><Relationship Type="http://schemas.openxmlformats.org/officeDocument/2006/relationships/notesMaster" Target="/ppt/notesMasters/notesMaster1.xml" Id="R2c755a1110cb46f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51ace98154e45ce" /><Relationship Type="http://schemas.openxmlformats.org/officeDocument/2006/relationships/notesMaster" Target="/ppt/notesMasters/notesMaster1.xml" Id="R28d9249fa3de42b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34b28a17a554dad" /><Relationship Type="http://schemas.openxmlformats.org/officeDocument/2006/relationships/notesMaster" Target="/ppt/notesMasters/notesMaster1.xml" Id="R7f58f4b69f3d4e3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2f6653d4a3c4ed6" /><Relationship Type="http://schemas.openxmlformats.org/officeDocument/2006/relationships/notesMaster" Target="/ppt/notesMasters/notesMaster1.xml" Id="Rd7b3a8ffdffb465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0b4615e2b9641a2" /><Relationship Type="http://schemas.openxmlformats.org/officeDocument/2006/relationships/notesMaster" Target="/ppt/notesMasters/notesMaster1.xml" Id="R68835cbb49a9489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724eb6809604554" /><Relationship Type="http://schemas.openxmlformats.org/officeDocument/2006/relationships/notesMaster" Target="/ppt/notesMasters/notesMaster1.xml" Id="Rc5eb85f13ca648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9aae4f99f04e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ac344e60ac4a5c" /><Relationship Type="http://schemas.openxmlformats.org/officeDocument/2006/relationships/slideLayout" Target="/ppt/slideLayouts/slideLayout1.xml" Id="R2c274983ce5e46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274983ce5e46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9f440a952426c" /><Relationship Type="http://schemas.openxmlformats.org/officeDocument/2006/relationships/notesSlide" Target="/ppt/notesSlides/notesSlide1.xml" Id="R501545c2977446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12e9d1d1f43b9" /><Relationship Type="http://schemas.openxmlformats.org/officeDocument/2006/relationships/notesSlide" Target="/ppt/notesSlides/notesSlide2.xml" Id="Rabd37d5745d647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554b513164b36" /><Relationship Type="http://schemas.openxmlformats.org/officeDocument/2006/relationships/notesSlide" Target="/ppt/notesSlides/notesSlide3.xml" Id="R329891d185804b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4f98ed22045f1" /><Relationship Type="http://schemas.openxmlformats.org/officeDocument/2006/relationships/image" Target="/ppt/media/image.png" Id="Re6e6c7eaee344d9c" /><Relationship Type="http://schemas.openxmlformats.org/officeDocument/2006/relationships/notesSlide" Target="/ppt/notesSlides/notesSlide4.xml" Id="R330360a84fa34b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c10e6055a4d1a" /><Relationship Type="http://schemas.openxmlformats.org/officeDocument/2006/relationships/chart" Target="/ppt/slides/charts/chart1.xml" Id="R9727d16a324d4a5d" /><Relationship Type="http://schemas.openxmlformats.org/officeDocument/2006/relationships/notesSlide" Target="/ppt/notesSlides/notesSlide5.xml" Id="R7ffda47cdb674f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aa43893d14268" /><Relationship Type="http://schemas.openxmlformats.org/officeDocument/2006/relationships/notesSlide" Target="/ppt/notesSlides/notesSlide6.xml" Id="Re5a8984e0c904c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2d0d7f40b4af1" /><Relationship Type="http://schemas.openxmlformats.org/officeDocument/2006/relationships/notesSlide" Target="/ppt/notesSlides/notesSlide7.xml" Id="R9b2d798ba44a4a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5da1c9ca24865" /><Relationship Type="http://schemas.openxmlformats.org/officeDocument/2006/relationships/notesSlide" Target="/ppt/notesSlides/notesSlide8.xml" Id="Rf7f86c6ec46f4b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1e83f6453456a" /><Relationship Type="http://schemas.openxmlformats.org/officeDocument/2006/relationships/notesSlide" Target="/ppt/notesSlides/notesSlide9.xml" Id="R0525f438264841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559b3c04d4e7c" /><Relationship Type="http://schemas.openxmlformats.org/officeDocument/2006/relationships/notesSlide" Target="/ppt/notesSlides/notesSlide10.xml" Id="R08ef0c531fed4b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1e555b0814b01" /><Relationship Type="http://schemas.openxmlformats.org/officeDocument/2006/relationships/notesSlide" Target="/ppt/notesSlides/notesSlide11.xml" Id="Re9c2197be62449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a70973a74459c" /><Relationship Type="http://schemas.openxmlformats.org/officeDocument/2006/relationships/notesSlide" Target="/ppt/notesSlides/notesSlide12.xml" Id="R945bdc4c9e5e43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3b78b6d374ab1" /><Relationship Type="http://schemas.openxmlformats.org/officeDocument/2006/relationships/notesSlide" Target="/ppt/notesSlides/notesSlide13.xml" Id="R4a407b7e1f2b447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8ae51829f4844" /><Relationship Type="http://schemas.openxmlformats.org/officeDocument/2006/relationships/notesSlide" Target="/ppt/notesSlides/notesSlide14.xml" Id="Rba4a863dcd014d6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e6ae1c9e64957" /><Relationship Type="http://schemas.openxmlformats.org/officeDocument/2006/relationships/notesSlide" Target="/ppt/notesSlides/notesSlide15.xml" Id="Rc046018d1a8749e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adb84557a4fdf" /><Relationship Type="http://schemas.openxmlformats.org/officeDocument/2006/relationships/notesSlide" Target="/ppt/notesSlides/notesSlide16.xml" Id="R2e123247687a4e0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9273f5ea24abb" /><Relationship Type="http://schemas.openxmlformats.org/officeDocument/2006/relationships/notesSlide" Target="/ppt/notesSlides/notesSlide17.xml" Id="Ra2bec16ed01c416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079b5988c4531" /><Relationship Type="http://schemas.openxmlformats.org/officeDocument/2006/relationships/notesSlide" Target="/ppt/notesSlides/notesSlide18.xml" Id="R76c9e84c567e483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a7acfca2c49ea" /><Relationship Type="http://schemas.openxmlformats.org/officeDocument/2006/relationships/notesSlide" Target="/ppt/notesSlides/notesSlide19.xml" Id="Rb9816e49f11c418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224b26d224c57" /><Relationship Type="http://schemas.openxmlformats.org/officeDocument/2006/relationships/notesSlide" Target="/ppt/notesSlides/notesSlide20.xml" Id="Rc1388b69f3a6423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cac1c0a20452d" /><Relationship Type="http://schemas.openxmlformats.org/officeDocument/2006/relationships/notesSlide" Target="/ppt/notesSlides/notesSlide21.xml" Id="Re148894e31b54ee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e364c27da4856" /><Relationship Type="http://schemas.openxmlformats.org/officeDocument/2006/relationships/notesSlide" Target="/ppt/notesSlides/notesSlide22.xml" Id="R7a305181abf94cc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e254e97e447ef" /><Relationship Type="http://schemas.openxmlformats.org/officeDocument/2006/relationships/notesSlide" Target="/ppt/notesSlides/notesSlide23.xml" Id="Rc3eb78cbf13b431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1ac33dcd94df3" /><Relationship Type="http://schemas.openxmlformats.org/officeDocument/2006/relationships/notesSlide" Target="/ppt/notesSlides/notesSlide24.xml" Id="Rb02a0c736bb843b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f04808e444a4d" /><Relationship Type="http://schemas.openxmlformats.org/officeDocument/2006/relationships/notesSlide" Target="/ppt/notesSlides/notesSlide25.xml" Id="R4e08b37b2a19441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129ca869b475c" /><Relationship Type="http://schemas.openxmlformats.org/officeDocument/2006/relationships/notesSlide" Target="/ppt/notesSlides/notesSlide26.xml" Id="R24697e20024b4595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得分</c:v>
          </c:tx>
          <c:spPr>
            <a:solidFill xmlns:a="http://schemas.openxmlformats.org/drawingml/2006/main">
              <a:srgbClr val="FF6B3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basic</c:v>
              </c:pt>
              <c:pt idx="1">
                <c:v>busybox</c:v>
              </c:pt>
              <c:pt idx="2">
                <c:v>libcbench</c:v>
              </c:pt>
              <c:pt idx="3">
                <c:v>lua</c:v>
              </c:pt>
            </c:strLit>
          </c:cat>
          <c:val>
            <c:numLit>
              <c:formatCode>General</c:formatCode>
              <c:ptCount val="4"/>
              <c:pt idx="0">
                <c:v>388</c:v>
              </c:pt>
              <c:pt idx="1">
                <c:v>214</c:v>
              </c:pt>
              <c:pt idx="2">
                <c:v>103.9279616944203</c:v>
              </c:pt>
              <c:pt idx="3">
                <c:v>36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分数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nel">
            <a:extLst xmlns:a="http://schemas.openxmlformats.org/drawingml/2006/main">
              <a:ext uri="{FF2B5EF4-FFF2-40B4-BE49-F238E27FC236}">
                <a16:creationId xmlns:a16="http://schemas.microsoft.com/office/drawing/2014/main" id="{716E5667-4D80-4A95-8B06-DA91A53F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1FC6A93-57FD-4888-B6F4-635F5F86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5238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101114"/>
                </a:solidFill>
              </a:defRPr>
            </a:pPr>
            <a:r>
              <a:t>SudoOS-Plus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C12504C-7DAE-4D4A-854B-E78FB9E6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73342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01114"/>
                </a:solidFill>
              </a:defRPr>
            </a:pPr>
            <a:r>
              <a:t>双架构 Rust 操作系统
设计方案与 OSCOMP 进展汇报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599F840-571B-434F-82DB-3EE5775F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6858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55B66"/>
                </a:solidFill>
              </a:defRPr>
            </a:pPr>
            <a:r>
              <a:t>RISC-V 64 × LoongArch 64 · glibc × musl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9713FAF6-F00B-4B75-9803-0BE925A7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23900"/>
            <a:ext cx="314325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B8C117F-1B65-4E85-B01F-A2DAA38F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219200"/>
            <a:ext cx="261937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6B35"/>
                </a:solidFill>
              </a:defRPr>
            </a:pPr>
            <a:r>
              <a:t>741.9279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4FF11F8-27C0-4448-AF76-2E5C8D7F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26193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555B66"/>
                </a:solidFill>
              </a:defRPr>
            </a:pPr>
            <a:r>
              <a:t>附件平台总分</a:t>
            </a:r>
          </a:p>
        </p:txBody>
      </p:sp>
      <p:cxnSp>
        <p:nvCxnSpPr>
          <p:cNvPr id="36" name="rule"/>
          <p:cNvCxnSpPr/>
          <p:nvPr/>
        </p:nvCxnSpPr>
        <p:spPr>
          <a:xfrm xmlns:a="http://schemas.openxmlformats.org/drawingml/2006/main">
            <a:off x="8705850" y="2838450"/>
            <a:ext cx="2190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89CEC3D-D669-401D-BBA9-256620DE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2266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55B66"/>
                </a:solidFill>
              </a:defRPr>
            </a:pPr>
            <a:r>
              <a:t>当前基线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EE53FC5-4BBB-4909-AB40-14168469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24250"/>
            <a:ext cx="2647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114"/>
                </a:solidFill>
              </a:defRPr>
            </a:pPr>
            <a:r>
              <a:t>6.28 @ a7da2b9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FDC0C14-54D3-4C07-8E6E-4613ABD1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43400"/>
            <a:ext cx="2619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55B66"/>
                </a:solidFill>
              </a:defRPr>
            </a:pPr>
            <a:r>
              <a:t>2026-06-28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016938B-341C-407E-8962-2D1D0097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29300"/>
            <a:ext cx="809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B66"/>
                </a:solidFill>
              </a:defRPr>
            </a:pPr>
            <a:r>
              <a:t>代码审计 · 当前进度 · 实现细节 · 风险 · 路线图</a:t>
            </a:r>
          </a:p>
        </p:txBody>
      </p:sp>
    </p:spTree>
    <p:extLst>
      <p:ext uri="{BB962C8B-B14F-4D97-AF65-F5344CB8AC3E}">
        <p14:creationId xmlns:p14="http://schemas.microsoft.com/office/powerpoint/2010/main" val="13200925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C805C0E9-BB13-442F-A001-EB92D8D4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7034F23-C13F-402C-930F-EC8EE229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114"/>
                </a:solidFill>
              </a:defRPr>
            </a:pPr>
            <a:r>
              <a:t>汇报结构</a:t>
            </a:r>
          </a:p>
        </p:txBody>
      </p:sp>
      <p:cxnSp>
        <p:nvCxnSpPr>
          <p:cNvPr id="28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297E4F5-EFD9-42F8-964F-EF096731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B66"/>
                </a:solidFill>
              </a:defRPr>
            </a:pPr>
            <a: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DBCC609-E5B6-4E2A-8A0F-FAAAF999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76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6B35"/>
                </a:solidFill>
              </a:defRPr>
            </a:pPr>
            <a: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F68182D-EAC7-498E-BF98-C78BE691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00200"/>
            <a:ext cx="4000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114"/>
                </a:solidFill>
              </a:defRPr>
            </a:pPr>
            <a:r>
              <a:t>当前结论与评分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49C6808-BEAB-4253-9C3D-420B8863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76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6B35"/>
                </a:solidFill>
              </a:defRPr>
            </a:pPr>
            <a: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BC0B687-1C5B-406B-AF48-4BA7680D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24100"/>
            <a:ext cx="4000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114"/>
                </a:solidFill>
              </a:defRPr>
            </a:pPr>
            <a:r>
              <a:t>系统架构与关键实现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ABA6AF7-26FB-46EB-92F3-4DE5792B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76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6B35"/>
                </a:solidFill>
              </a:defRPr>
            </a:pPr>
            <a: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0943555-D78E-4D45-801E-B337A8EE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48000"/>
            <a:ext cx="4000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114"/>
                </a:solidFill>
              </a:defRPr>
            </a:pPr>
            <a:r>
              <a:t>验证证据与进度边界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A520A04-45DF-4707-840D-61D4FC49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76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6B35"/>
                </a:solidFill>
              </a:defRPr>
            </a:pPr>
            <a:r>
              <a:t>04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D29EC2D-0EBF-446D-9D5E-8F51A331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00200"/>
            <a:ext cx="4095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114"/>
                </a:solidFill>
              </a:defRPr>
            </a:pPr>
            <a:r>
              <a:t>文件职责与工程组织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E8D093E-780C-4DFF-9F7E-A819532C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76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6B35"/>
                </a:solidFill>
              </a:defRPr>
            </a:pPr>
            <a:r>
              <a:t>05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554A8C0-1C4D-4CD8-B205-F5F35AF9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24100"/>
            <a:ext cx="4095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114"/>
                </a:solidFill>
              </a:defRPr>
            </a:pPr>
            <a:r>
              <a:t>风险登记与实施计划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D528405-3B15-48BF-B3AA-33908BF2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76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6B35"/>
                </a:solidFill>
              </a:defRPr>
            </a:pPr>
            <a:r>
              <a:t>06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4F9F1A8-AAFD-4224-A7F7-A563FC48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48000"/>
            <a:ext cx="4095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114"/>
                </a:solidFill>
              </a:defRPr>
            </a:pPr>
            <a:r>
              <a:t>完成定义与下一阶段</a:t>
            </a:r>
          </a:p>
        </p:txBody>
      </p: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542E35A9-4D6B-48B7-8BED-95F1317B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113919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491CD1E-A8DF-4DEB-B12D-24F81238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</a:defRPr>
            </a:pPr>
            <a:r>
              <a:t>事实口径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626D971-A9B7-4A77-B1DF-EDB32F23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52950"/>
            <a:ext cx="8763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55B66"/>
                </a:solidFill>
              </a:defRPr>
            </a:pPr>
            <a:r>
              <a:t>源码存在 ≠ 当前 HEAD 动态通过 ≠ 平台截图得分。三类证据分开陈述。</a:t>
            </a:r>
          </a:p>
        </p:txBody>
      </p:sp>
    </p:spTree>
    <p:extLst>
      <p:ext uri="{BB962C8B-B14F-4D97-AF65-F5344CB8AC3E}">
        <p14:creationId xmlns:p14="http://schemas.microsoft.com/office/powerpoint/2010/main" val="3514252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CB9822CA-840B-44AE-8BD5-7BDDA5C6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568AF60-06D7-4CA9-A012-A907C847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114"/>
                </a:solidFill>
              </a:defRPr>
            </a:pPr>
            <a:r>
              <a:t>一页结论：底座已成形，证据链仍需闭环</a:t>
            </a:r>
          </a:p>
        </p:txBody>
      </p:sp>
      <p:cxnSp>
        <p:nvCxnSpPr>
          <p:cNvPr id="28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5BBD110-67BC-414A-BCD1-C352B44A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B66"/>
                </a:solidFill>
              </a:defRPr>
            </a:pPr>
            <a:r>
              <a:t>03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2D049C12-14CC-44A6-AA2B-62395FD7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258127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E183DF7-C985-4AB7-AEFF-34F04B55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1621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6B35"/>
                </a:solidFill>
              </a:defRPr>
            </a:pPr>
            <a:r>
              <a:t>741.9279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1D10A8E-56CA-47F3-8E16-D449A8CD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16217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</a:defRPr>
            </a:pPr>
            <a:r>
              <a:t>附件平台总分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79265180-6A02-4015-8C7E-DF89FEB0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258127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28B8A7B-01ED-482C-9C30-0543E73C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66900"/>
            <a:ext cx="21621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01114"/>
                </a:solidFill>
              </a:defRPr>
            </a:pPr>
            <a:r>
              <a:t>4 / 11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8B9C408-CF03-45BF-8644-94751C13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00450"/>
            <a:ext cx="216217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</a:defRPr>
            </a:pPr>
            <a:r>
              <a:t>当前有得分测试组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D5594688-174F-494D-86F9-4089A11C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258127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C609426-7762-4BBA-BF24-ED8A19F9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66900"/>
            <a:ext cx="21621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E7A4D"/>
                </a:solidFill>
              </a:defRPr>
            </a:pPr>
            <a:r>
              <a:t>45 / 45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9207F9A-D139-4711-8B8C-FBF0C607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0450"/>
            <a:ext cx="216217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</a:defRPr>
            </a:pPr>
            <a:r>
              <a:t>myos-mm 单测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0CD6758D-214F-49E2-8F85-689562AF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657350"/>
            <a:ext cx="258127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30B6EB6-4D8F-4787-A627-D8EA22C0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866900"/>
            <a:ext cx="21621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B42318"/>
                </a:solidFill>
              </a:defRPr>
            </a:pPr>
            <a:r>
              <a:t>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A6990EF-99FE-4B54-8676-AC5BD2D5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600450"/>
            <a:ext cx="216217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</a:defRPr>
            </a:pPr>
            <a:r>
              <a:t>newtest 静态失败组</a:t>
            </a:r>
          </a:p>
        </p:txBody>
      </p: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BA0AA122-91C2-4EE8-811C-C3FA9B2B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C09E728-13A4-4A91-B1F9-0C5EC635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114"/>
                </a:solidFill>
              </a:defRPr>
            </a:pPr>
            <a:r>
              <a:t>判断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78E01B6-B53E-4181-B173-F9B02150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953000"/>
            <a:ext cx="9525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114"/>
                </a:solidFill>
              </a:defRPr>
            </a:pPr>
            <a:r>
              <a:t>双架构、进程、VFS、动态 ELF 与 VirtIO 已进入系统集成阶段；下一步先修可信门禁与 LA busybox，再冲性能、文件系统和网络。</a:t>
            </a:r>
          </a:p>
        </p:txBody>
      </p:sp>
    </p:spTree>
    <p:extLst>
      <p:ext uri="{BB962C8B-B14F-4D97-AF65-F5344CB8AC3E}">
        <p14:creationId xmlns:p14="http://schemas.microsoft.com/office/powerpoint/2010/main" val="15332014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E75CBABA-85F9-4343-9BC0-063C01EE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17B942E-D221-46E1-BD08-C99F7E6B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114"/>
                </a:solidFill>
              </a:defRPr>
            </a:pPr>
            <a:r>
              <a:t>当前评分：平台截图原始证据</a:t>
            </a:r>
          </a:p>
        </p:txBody>
      </p:sp>
      <p:cxnSp>
        <p:nvCxnSpPr>
          <p:cNvPr id="18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152D965-99B3-4D8D-B48D-C6F21D38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B66"/>
                </a:solidFill>
              </a:defRPr>
            </a:pPr>
            <a:r>
              <a:t>04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28726AD0-6C6B-42D2-B505-9DDC6A72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F2B19DB-90A1-41F6-8300-8061E9BF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952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66"/>
                </a:solidFill>
              </a:defRPr>
            </a:pPr>
            <a:r>
              <a:t>来源：用户附件“截屏2026-06-28 19.20.41.png”；未用源码推算替代平台结果。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6c7eaee344d9c"/>
          <a:stretch xmlns:a="http://schemas.openxmlformats.org/drawingml/2006/main"/>
        </p:blipFill>
        <p:spPr>
          <a:xfrm xmlns:a="http://schemas.openxmlformats.org/drawingml/2006/main">
            <a:off x="702906" y="1600200"/>
            <a:ext cx="10786189" cy="4019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7900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F6757E58-DF62-422A-8D3F-419CA3CC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394135B-05CB-43CD-926D-45EF467E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114"/>
                </a:solidFill>
              </a:defRPr>
            </a:pPr>
            <a:r>
              <a:t>得分结构：81.14% 来自 basic + busybox</a:t>
            </a:r>
          </a:p>
        </p:txBody>
      </p:sp>
      <p:cxnSp>
        <p:nvCxnSpPr>
          <p:cNvPr id="29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CCD6E6A-F15F-4A89-AFCA-7752D505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B66"/>
                </a:solidFill>
              </a:defRPr>
            </a:pPr>
            <a:r>
              <a:t>05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5D988704-39A7-47FD-AA2D-BEA4013E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76400"/>
            <a:ext cx="1809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E981402-5A23-4D61-977F-12CFACA7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13906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F6B35"/>
                </a:solidFill>
              </a:defRPr>
            </a:pPr>
            <a:r>
              <a:t>52.30%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BE3591A-F8CC-4FD3-9020-6ED5660E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1390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</a:defRPr>
            </a:pPr>
            <a:r>
              <a:t>basic 占比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DF6504F8-E09D-44D2-9276-EDCCE0F2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76400"/>
            <a:ext cx="1809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6DFAF1D-3C79-4341-A9B5-BEACD5E1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885950"/>
            <a:ext cx="13906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114"/>
                </a:solidFill>
              </a:defRPr>
            </a:pPr>
            <a:r>
              <a:t>28.84%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44C53BD-6605-4015-B0BE-F4F0DAD4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86050"/>
            <a:ext cx="1390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</a:defRPr>
            </a:pPr>
            <a:r>
              <a:t>busybox 占比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32CF30C-5429-4740-97B4-6D59E86B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38550"/>
            <a:ext cx="1809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6C9C09F-51CC-4D66-B629-177D1C69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48100"/>
            <a:ext cx="13906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114"/>
                </a:solidFill>
              </a:defRPr>
            </a:pPr>
            <a:r>
              <a:t>14.01%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9C9073F-4416-44B3-855B-AF9D5A27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48200"/>
            <a:ext cx="1390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</a:defRPr>
            </a:pPr>
            <a:r>
              <a:t>libcbench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6F15AD26-409D-4DC8-8D02-B0A2720F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38550"/>
            <a:ext cx="1809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7C0284F-9106-4293-B23C-5004061A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48100"/>
            <a:ext cx="13906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114"/>
                </a:solidFill>
              </a:defRPr>
            </a:pPr>
            <a:r>
              <a:t>4.85%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ACE2776-2211-4FD3-868E-830E6FB9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648200"/>
            <a:ext cx="1390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</a:defRPr>
            </a:pPr>
            <a:r>
              <a:t>lua 占比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AFEB25B-282A-40D2-882F-E30B74F0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55B66"/>
                </a:solidFill>
              </a:defRPr>
            </a:pPr>
            <a:r>
              <a:t>七个测试组仍为 0：cyclictest / iozone / iperf / libctest / lmbench / ltp / netperf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6762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27d16a324d4a5d"/>
          </a:graphicData>
        </a:graphic>
      </p:graphicFrame>
    </p:spTree>
    <p:extLst>
      <p:ext uri="{BB962C8B-B14F-4D97-AF65-F5344CB8AC3E}">
        <p14:creationId xmlns:p14="http://schemas.microsoft.com/office/powerpoint/2010/main" val="3012580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BCBC1FC0-2680-486D-A42C-2A605C7C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0AC086B-6C2D-4E76-B80C-00D10004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114"/>
                </a:solidFill>
              </a:defRPr>
            </a:pPr>
            <a:r>
              <a:t>当前快照与证据等级</a:t>
            </a:r>
          </a:p>
        </p:txBody>
      </p:sp>
      <p:cxnSp>
        <p:nvCxnSpPr>
          <p:cNvPr id="23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97A8444-8AAC-4A75-B2A7-9265E90D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B66"/>
                </a:solidFill>
              </a:defRPr>
            </a:pPr>
            <a:r>
              <a:t>06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135BA88A-C55A-442A-8C33-D6B7FAC8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3467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53C89EC-9037-421C-BE22-2B49A980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114"/>
                </a:solidFill>
              </a:defRPr>
            </a:pPr>
            <a:r>
              <a:t>A · 当前源码事实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D41C57B-736F-4A53-8CD8-09E06F2F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3009900" cy="3067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• 6.28 @ a7da2b9
• 9 个 workspace crate
• 118 个 syscall 编号常量
• 双架构 / 动态 ELF / VFS / VirtIO / socket
• P14K 评分路径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326AB58E-F670-4EA6-8ECC-9DED32FA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62100"/>
            <a:ext cx="3467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8703803-E40A-4DA2-994F-01F16833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526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114"/>
                </a:solidFill>
              </a:defRPr>
            </a:pPr>
            <a:r>
              <a:t>B · 本轮本地验证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990438F-2FDF-4235-AB06-2854047E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3009900" cy="3067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• myos-mm 45/45
• 总审计 11 PASS / 2 WARN
• P0/P3/P5/P6 PASS
• P2/P4 FAIL
• kernel hash 与专项文档一致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3A7828A2-35A1-4A77-868C-39F53CA9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62100"/>
            <a:ext cx="3467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0950723-D5E1-4C5F-9F23-FF336662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526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6B35"/>
                </a:solidFill>
              </a:defRPr>
            </a:pPr>
            <a:r>
              <a:t>C · 平台证据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EC08752-9208-4C70-824E-B2E287CC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90750"/>
            <a:ext cx="3009900" cy="3067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• 附件总分 741.9279
• basic 四组合均 97
• busybox 53/54
• libcbench 四组合有分
• lua 四组合均 9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360A975-7028-444B-A70C-9C277808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47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</a:defRPr>
            </a:pPr>
            <a:r>
              <a:t>原则：只有 A、B、C 同时对齐，才称为“当前稳定基线”。</a:t>
            </a:r>
          </a:p>
        </p:txBody>
      </p:sp>
    </p:spTree>
    <p:extLst>
      <p:ext uri="{BB962C8B-B14F-4D97-AF65-F5344CB8AC3E}">
        <p14:creationId xmlns:p14="http://schemas.microsoft.com/office/powerpoint/2010/main" val="1950290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4E416CDA-98F0-4E0C-8C48-A21EF372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325877C-83D2-40DA-9235-24C02375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114"/>
                </a:solidFill>
              </a:defRPr>
            </a:pPr>
            <a:r>
              <a:t>总体架构：机制下沉，策略共享</a:t>
            </a:r>
          </a:p>
        </p:txBody>
      </p:sp>
      <p:cxnSp>
        <p:nvCxnSpPr>
          <p:cNvPr id="46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F58A695-DF7A-403A-A865-E2AAED74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B66"/>
                </a:solidFill>
              </a:defRPr>
            </a:pPr>
            <a:r>
              <a:t>07</a:t>
            </a:r>
          </a:p>
        </p:txBody>
      </p:sp>
      <p:cxnSp>
        <p:nvCxnSpPr>
          <p:cNvPr id="48" name="rule"/>
          <p:cNvCxnSpPr/>
          <p:nvPr/>
        </p:nvCxnSpPr>
        <p:spPr>
          <a:xfrm xmlns:a="http://schemas.openxmlformats.org/drawingml/2006/main">
            <a:off x="2009775" y="2133600"/>
            <a:ext cx="9525" cy="3143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9" name="rule"/>
          <p:cNvCxnSpPr/>
          <p:nvPr/>
        </p:nvCxnSpPr>
        <p:spPr>
          <a:xfrm xmlns:a="http://schemas.openxmlformats.org/drawingml/2006/main">
            <a:off x="5924550" y="2133600"/>
            <a:ext cx="9525" cy="3143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0" name="rule"/>
          <p:cNvCxnSpPr/>
          <p:nvPr/>
        </p:nvCxnSpPr>
        <p:spPr>
          <a:xfrm xmlns:a="http://schemas.openxmlformats.org/drawingml/2006/main">
            <a:off x="9848850" y="2133600"/>
            <a:ext cx="9525" cy="3143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227662AD-6DFA-4387-A50B-0EF50A27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23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8BE3CB5-162D-44CC-996A-3D8B0D56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781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</a:defRPr>
            </a:pPr>
            <a:r>
              <a:t>固件与架构层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7D52B5D-E079-4E1D-820D-F0E8181B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2781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OpenSBI / QEMU
RISC-V Sv39 · LoongArch DMW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29B5B970-C0EF-4CC6-B9F9-C18DCE57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19250"/>
            <a:ext cx="323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CA224C3-B973-4BE9-B885-6056790C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09750"/>
            <a:ext cx="2781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</a:defRPr>
            </a:pPr>
            <a:r>
              <a:t>公共启动层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00E585D-1293-4233-BC5D-95AD6941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47900"/>
            <a:ext cx="2781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BootInfo · FDT
CPU / RAM / VirtIO / PCI / initrd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D425E2B7-C85C-4978-B657-E9885880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19250"/>
            <a:ext cx="3467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0C76E7D-889D-4CAA-86F0-2230F43C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0975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6B35"/>
                </a:solidFill>
              </a:defRPr>
            </a:pPr>
            <a:r>
              <a:t>内核集成层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B2A0796-A8FD-4E71-B374-39F1DF79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47900"/>
            <a:ext cx="3009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memory · task · process · fs
virtio · net · OSCOMP runner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5F60129-6C12-4E9A-A6F7-9D059305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52750"/>
            <a:ext cx="762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3150" b="0">
                <a:solidFill>
                  <a:srgbClr val="555B66"/>
                </a:solidFill>
              </a:defRPr>
            </a:pPr>
            <a:r>
              <a:t>↓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7552E98-3CA1-4378-9034-BD96C795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952750"/>
            <a:ext cx="762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3150" b="0">
                <a:solidFill>
                  <a:srgbClr val="555B66"/>
                </a:solidFill>
              </a:defRPr>
            </a:pPr>
            <a:r>
              <a:t>↓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BD2FF75-C322-40CB-89F5-26D0AAE8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52750"/>
            <a:ext cx="762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3150" b="0">
                <a:solidFill>
                  <a:srgbClr val="555B66"/>
                </a:solidFill>
              </a:defRPr>
            </a:pPr>
            <a:r>
              <a:t>↓</a:t>
            </a:r>
          </a:p>
        </p:txBody>
      </p:sp>
      <p:sp>
        <p:nvSpPr>
          <p:cNvPr id="20" name="panel">
            <a:extLst xmlns:a="http://schemas.openxmlformats.org/drawingml/2006/main">
              <a:ext uri="{FF2B5EF4-FFF2-40B4-BE49-F238E27FC236}">
                <a16:creationId xmlns:a16="http://schemas.microsoft.com/office/drawing/2014/main" id="{79018015-CFB6-441D-A721-96B4F0CB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3238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20CD7ED-FCC0-423E-9903-C3399561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2781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114"/>
                </a:solidFill>
              </a:defRPr>
            </a:pPr>
            <a:r>
              <a:t>arch/*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1E5A54F-CD7B-4CEF-8A57-2B974CD2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2781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114"/>
                </a:solidFill>
              </a:defRPr>
            </a:pPr>
            <a:r>
              <a:t>启动汇编
CSR / trap / timer / SMP
上下文切换与页表格式</a:t>
            </a:r>
          </a:p>
        </p:txBody>
      </p:sp>
      <p:sp>
        <p:nvSpPr>
          <p:cNvPr id="23" name="panel">
            <a:extLst xmlns:a="http://schemas.openxmlformats.org/drawingml/2006/main">
              <a:ext uri="{FF2B5EF4-FFF2-40B4-BE49-F238E27FC236}">
                <a16:creationId xmlns:a16="http://schemas.microsoft.com/office/drawing/2014/main" id="{3B3824AD-F8E3-4873-995B-931383DB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00450"/>
            <a:ext cx="3238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BC8B275-AC9B-4CB6-8550-ABA6F609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90950"/>
            <a:ext cx="2781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114"/>
                </a:solidFill>
              </a:defRPr>
            </a:pPr>
            <a:r>
              <a:t>通用基础 crate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1A5A4CE-AD41-4D3A-9611-01887F7F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29100"/>
            <a:ext cx="2781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114"/>
                </a:solidFill>
              </a:defRPr>
            </a:pPr>
            <a:r>
              <a:t>mm · sync · runtime
boot · firmware/fdt · vfs</a:t>
            </a:r>
          </a:p>
        </p:txBody>
      </p:sp>
      <p:sp>
        <p:nvSpPr>
          <p:cNvPr id="26" name="panel">
            <a:extLst xmlns:a="http://schemas.openxmlformats.org/drawingml/2006/main">
              <a:ext uri="{FF2B5EF4-FFF2-40B4-BE49-F238E27FC236}">
                <a16:creationId xmlns:a16="http://schemas.microsoft.com/office/drawing/2014/main" id="{69452C56-2595-41DD-9FD3-39BADA18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00450"/>
            <a:ext cx="3467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4553A6E-8BA1-49C3-AE66-F5416AC2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9095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114"/>
                </a:solidFill>
              </a:defRPr>
            </a:pPr>
            <a:r>
              <a:t>kernel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A5B6F883-E10C-4893-97FF-48B3EC5E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29100"/>
            <a:ext cx="30099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114"/>
                </a:solidFill>
              </a:defRPr>
            </a:pPr>
            <a:r>
              <a:t>Linux-like 内核策略
用户态与比赛执行闭环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E05E9A9E-D48A-467F-815B-C7F21872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10287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55B66"/>
                </a:solidFill>
              </a:defRPr>
            </a:pPr>
            <a:r>
              <a:t>依赖方向单向向下；硬件差异不渗入 syscall/VFS/进程策略。</a:t>
            </a:r>
          </a:p>
        </p:txBody>
      </p:sp>
    </p:spTree>
    <p:extLst>
      <p:ext uri="{BB962C8B-B14F-4D97-AF65-F5344CB8AC3E}">
        <p14:creationId xmlns:p14="http://schemas.microsoft.com/office/powerpoint/2010/main" val="2008112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FBBE487-0869-40B1-B0D2-D5BB4826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26F5A68-3194-41CD-A68B-061F4D0E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114"/>
                </a:solidFill>
              </a:defRPr>
            </a:pPr>
            <a:r>
              <a:t>启动链：从固件到评分关机</a:t>
            </a:r>
          </a:p>
        </p:txBody>
      </p:sp>
      <p:cxnSp>
        <p:nvCxnSpPr>
          <p:cNvPr id="36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4C7E673-3C8E-46F3-8BB8-3F7F859F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B66"/>
                </a:solidFill>
              </a:defRPr>
            </a:pPr>
            <a:r>
              <a:t>08</a:t>
            </a:r>
          </a:p>
        </p:txBody>
      </p:sp>
      <p:cxnSp>
        <p:nvCxnSpPr>
          <p:cNvPr id="38" name="rule"/>
          <p:cNvCxnSpPr/>
          <p:nvPr/>
        </p:nvCxnSpPr>
        <p:spPr>
          <a:xfrm xmlns:a="http://schemas.openxmlformats.org/drawingml/2006/main">
            <a:off x="723900" y="3314700"/>
            <a:ext cx="10668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114"/>
            </a:solidFill>
            <a:prstDash val="solid"/>
          </a:ln>
        </p:spPr>
      </p:cxn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E6F59F00-9376-4311-A36C-D195A31F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A0CFDC3D-DB16-4923-AD8E-7D12B781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73CF6E33-0B75-4B66-83BA-12725504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C1F34FF8-CC8B-414B-A6CD-ECDB1C75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181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9376602-5625-4C2D-8FA5-7B784B23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724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</a:defRPr>
            </a:pPr>
            <a:r>
              <a:t>01 · 架构接管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AAB3AC5-17D4-4681-8241-66E9DB28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2724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低地址入口 / DMW
临时页表 · 高半跳转
BSS / gp / sp</a:t>
            </a:r>
          </a:p>
        </p:txBody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78BE3A54-90BF-4D35-8FA1-59BBA745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3181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371A1E5-8556-481F-9459-DB54327B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09750"/>
            <a:ext cx="2724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</a:defRPr>
            </a:pPr>
            <a:r>
              <a:t>02 · 内核服务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70315CC-A89B-48AD-AC5E-07FB3180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47900"/>
            <a:ext cx="2724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FDT → 内存 → trap/IRQ
VirtIO → VFS → TTY
SMP → workqueue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D46EEE2C-0578-47C4-9C8F-42D7B557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19250"/>
            <a:ext cx="4191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2FDEA7F-E3B2-4A1F-88F7-B598099E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09750"/>
            <a:ext cx="3733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6B35"/>
                </a:solidFill>
              </a:defRPr>
            </a:pPr>
            <a:r>
              <a:t>03 · 用户与评测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6BAC1CA-8D52-4478-A970-EBCE4620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47900"/>
            <a:ext cx="3733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initramfs / sdcard 物化
ELF / syscall / direct runner
summary → score → poweroff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8F8813B-AF4F-47DB-B76A-C638455B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3181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</a:defRPr>
            </a:pPr>
            <a:r>
              <a:t>RISC-V：OpenSBI → Sv39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1D676D6-309D-481A-8D8E-6903DF29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3181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</a:defRPr>
            </a:pPr>
            <a:r>
              <a:t>LoongArch：QEMU → DMW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F7A3627-2BB1-491B-A0EA-1E047219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52850"/>
            <a:ext cx="3181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</a:defRPr>
            </a:pPr>
            <a:r>
              <a:t>关键初始化顺序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6522BF7-422C-4DBE-A462-4ADA41A6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10050"/>
            <a:ext cx="31813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114"/>
                </a:solidFill>
              </a:defRPr>
            </a:pPr>
            <a:r>
              <a:t>page allocator → heap → trap/IRQ → device/fs → task/SMP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C535ABD-CD04-4E1E-9D25-FDDC6F17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528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</a:defRPr>
            </a:pPr>
            <a:r>
              <a:t>终止条件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50926C7-F24A-4A42-BCFC-DD925B57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10050"/>
            <a:ext cx="3810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114"/>
                </a:solidFill>
              </a:defRPr>
            </a:pPr>
            <a:r>
              <a:t>contest：统一平台关机
non-contest：idle halt</a:t>
            </a:r>
          </a:p>
        </p:txBody>
      </p:sp>
    </p:spTree>
    <p:extLst>
      <p:ext uri="{BB962C8B-B14F-4D97-AF65-F5344CB8AC3E}">
        <p14:creationId xmlns:p14="http://schemas.microsoft.com/office/powerpoint/2010/main" val="16562013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B7484096-6D14-42F8-9DA8-7B938359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120EFD4-E587-41F6-8B02-0F7CBB61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114"/>
                </a:solidFill>
              </a:defRPr>
            </a:pPr>
            <a:r>
              <a:t>内存系统：启动分配、正式分配与用户 MM 三层闭环</a:t>
            </a:r>
          </a:p>
        </p:txBody>
      </p:sp>
      <p:cxnSp>
        <p:nvCxnSpPr>
          <p:cNvPr id="23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B214615-0CE0-40A3-A55E-A3D39C2C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B66"/>
                </a:solidFill>
              </a:defRPr>
            </a:pPr>
            <a:r>
              <a:t>09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04DB9703-68F6-452A-8E79-59AE354A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4671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5E29C1E-A45A-4F4C-9AC7-9D96F57E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114"/>
                </a:solidFill>
              </a:defRPr>
            </a:pPr>
            <a:r>
              <a:t>启动期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5856EDE-E7C1-4F58-B2F3-7BBE97A9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3009900" cy="281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• FDT RAM + 6 类保留区
• MemoryMap merge/reserve
• EarlyFrameAllocator
• boot page table
• 正式页表安装后立即退场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14B09012-192C-4F5D-A847-F570D9E2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81150"/>
            <a:ext cx="34671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A2E6BF3-E9A6-4E74-AA91-CD09E0D1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7165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114"/>
                </a:solidFill>
              </a:defRPr>
            </a:pPr>
            <a:r>
              <a:t>内核运行期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6C884E2-4D80-4C24-8032-0C035D3D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3009900" cy="281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• buddy：DMA32 / Normal
• page refcount
• slab：8 B–2048 B
• large allocation
• vmalloc / ioremap + guard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E6D17743-B539-4B6A-941B-44A5CFBA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81150"/>
            <a:ext cx="34671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547F56B-7A8F-468A-BE46-0B525915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7165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6B35"/>
                </a:solidFill>
              </a:defRPr>
            </a:pPr>
            <a:r>
              <a:t>用户地址空间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B3A43A8-014B-480D-852E-57C15ABA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09800"/>
            <a:ext cx="3009900" cy="281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• per-process root
• ASID generation
• VMA split/coalesce
• brk/mmap/mprotect
• fault + per-mm TLB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16DD1F9-9425-4FD6-9754-2408941D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049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B66"/>
                </a:solidFill>
              </a:defRPr>
            </a:pPr>
            <a:r>
              <a:t>本轮证据：myos-mm 45/45；覆盖 W^X、VMA、ASID rollover、stack growth、buddy refcount、vmalloc guard。</a:t>
            </a:r>
          </a:p>
        </p:txBody>
      </p:sp>
    </p:spTree>
    <p:extLst>
      <p:ext uri="{BB962C8B-B14F-4D97-AF65-F5344CB8AC3E}">
        <p14:creationId xmlns:p14="http://schemas.microsoft.com/office/powerpoint/2010/main" val="18516139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16D3A3F8-BF12-4995-A838-88DB61D6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C02F198-90FF-4B3B-8D60-8B59E0D3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114"/>
                </a:solidFill>
              </a:defRPr>
            </a:pPr>
            <a:r>
              <a:t>并发与调度：最多 8 CPU 的可追踪状态机</a:t>
            </a:r>
          </a:p>
        </p:txBody>
      </p:sp>
      <p:cxnSp>
        <p:nvCxnSpPr>
          <p:cNvPr id="32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FBE00EC-204F-45BF-B238-8FB2EAC5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B66"/>
                </a:solidFill>
              </a:defRPr>
            </a:pPr>
            <a:r>
              <a:t>10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B5BF0F93-51EA-4141-B81A-4F5E0095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DF61CFA-C818-444B-A297-69AA89C7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2057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01114"/>
                </a:solidFill>
              </a:defRPr>
            </a:pPr>
            <a:r>
              <a:t>8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7F4A121-97F4-4DB9-BA93-6B2F3257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057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</a:defRPr>
            </a:pPr>
            <a:r>
              <a:t>MAX_CPUS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1725B0CD-ABD0-4586-971B-184CBAB3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1925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88BE7BB-4763-462A-A565-A6E4403B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28800"/>
            <a:ext cx="2057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1114"/>
                </a:solidFill>
              </a:defRPr>
            </a:pPr>
            <a:r>
              <a:t>64 KiB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1E124EC-AC62-46F8-A5BF-C200D3F8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09850"/>
            <a:ext cx="2057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</a:defRPr>
            </a:pPr>
            <a:r>
              <a:t>guarded kernel stack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F613433E-1400-4023-B130-DA198AB8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1925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135DD2B-465A-4173-9043-50FB79B0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28800"/>
            <a:ext cx="2057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01114"/>
                </a:solidFill>
              </a:defRPr>
            </a:pPr>
            <a:r>
              <a:t>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962C31B-EFD6-43C4-BDCB-4E6F4394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09850"/>
            <a:ext cx="2057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</a:defRPr>
            </a:pPr>
            <a:r>
              <a:t>IPI message classes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0B4D2D43-B3A5-4C37-B1DD-39F5E752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19250"/>
            <a:ext cx="3276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491B73E-C5F4-49A4-9815-94143F4B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28800"/>
            <a:ext cx="2857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6B35"/>
                </a:solidFill>
              </a:defRPr>
            </a:pPr>
            <a:r>
              <a:t>RR + steal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2EBAB01-D3D7-420B-92E6-B145C918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09850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</a:defRPr>
            </a:pPr>
            <a:r>
              <a:t>per-CPU 调度策略</a:t>
            </a:r>
          </a:p>
        </p:txBody>
      </p: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DA63BF49-5D58-4B56-895A-9BDE831C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5410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8374DFB-D6C8-41CE-AFA2-E1A80D4C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</a:defRPr>
            </a:pPr>
            <a:r>
              <a:t>调度与等待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8489743-0E91-42C6-AA34-DEC99D28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4953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• per-CPU FIFO round-robin / idle task
• 抢占、迁移、work stealing、task reaper
• WaitQueue / Completion / timer timeout</a:t>
            </a:r>
          </a:p>
        </p:txBody>
      </p:sp>
      <p:sp>
        <p:nvSpPr>
          <p:cNvPr id="20" name="panel">
            <a:extLst xmlns:a="http://schemas.openxmlformats.org/drawingml/2006/main">
              <a:ext uri="{FF2B5EF4-FFF2-40B4-BE49-F238E27FC236}">
                <a16:creationId xmlns:a16="http://schemas.microsoft.com/office/drawing/2014/main" id="{F89EB8F6-3881-441C-B2D4-D4D9527B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38550"/>
            <a:ext cx="55816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8DA883D-A562-4EEB-970E-67EA6169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5124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</a:defRPr>
            </a:pPr>
            <a:r>
              <a:t>跨 CPU 协作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165BC0E-FBB5-42BE-8DD1-66F5E1F0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67200"/>
            <a:ext cx="51244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• IPI mailbox：reschedule / TLB / call-function
• request ID + target/completion mask
• lockdep rank + IRQ-safe tracked spin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2FFA164-84ED-4FBD-891E-D7A0622C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1057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B66"/>
                </a:solidFill>
              </a:defRPr>
            </a:pPr>
            <a:r>
              <a:t>P3 scheduler ABI 静态审计通过；当前 HEAD 动态 SMP contest 仍需补日志。</a:t>
            </a:r>
          </a:p>
        </p:txBody>
      </p:sp>
    </p:spTree>
    <p:extLst>
      <p:ext uri="{BB962C8B-B14F-4D97-AF65-F5344CB8AC3E}">
        <p14:creationId xmlns:p14="http://schemas.microsoft.com/office/powerpoint/2010/main" val="12661343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13490F31-C3C1-4381-A722-EC8C5A0E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9A7BC2F-73E0-4377-AFE8-BC46647B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114"/>
                </a:solidFill>
              </a:defRPr>
            </a:pPr>
            <a:r>
              <a:t>进程与 syscall：Linux asm-generic 兼容层已经成规模</a:t>
            </a:r>
          </a:p>
        </p:txBody>
      </p:sp>
      <p:cxnSp>
        <p:nvCxnSpPr>
          <p:cNvPr id="23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C788E7E-6943-47D1-8803-01D856F5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B66"/>
                </a:solidFill>
              </a:defRPr>
            </a:pPr>
            <a:r>
              <a:t>11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C8CF73D7-F570-4375-B9AA-CE82C2B7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46710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E73F003-CB7E-4ABF-B7EE-0FCE6296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114"/>
                </a:solidFill>
              </a:defRPr>
            </a:pPr>
            <a:r>
              <a:t>Process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8CA534B-6F33-4B18-B16F-898897C4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300990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• UserMm
• FileTable
• SignalState
• Credentials
• cwd / root / children / session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D5DA882F-98DF-4F38-A375-74E200AB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81150"/>
            <a:ext cx="346710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112ED9E-3073-4F51-A6BE-93234273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7165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114"/>
                </a:solidFill>
              </a:defRPr>
            </a:pPr>
            <a:r>
              <a:t>Thread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1F71F03-380C-40E5-A592-A2BE280E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300990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• user trap frame
• TLS / clear-child-tid
• robust list
• signal mask
• scheduler task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AE3194F9-2DC4-4A79-8810-48B7F8D6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81150"/>
            <a:ext cx="346710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7510DC8-0DCD-488F-B9A5-4DAA8CF5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7165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6B35"/>
                </a:solidFill>
              </a:defRPr>
            </a:pPr>
            <a:r>
              <a:t>ABI 覆盖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2AC00D3-AE5E-4A2D-9967-1932D7C9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09800"/>
            <a:ext cx="300990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• 118 个编号常量
• file / mm / process
• signal / time / scheduler
• futex / clone3
• socket / sockopt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D3148A6-81D6-4427-936F-41072EF2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10858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B66"/>
                </a:solidFill>
              </a:defRPr>
            </a:pPr>
            <a:r>
              <a:t>P5 clone/futex/TLS 审计通过；平台 basic/busybox/libcbench 得分证明部分真实闭环。</a:t>
            </a:r>
          </a:p>
        </p:txBody>
      </p:sp>
    </p:spTree>
    <p:extLst>
      <p:ext uri="{BB962C8B-B14F-4D97-AF65-F5344CB8AC3E}">
        <p14:creationId xmlns:p14="http://schemas.microsoft.com/office/powerpoint/2010/main" val="18954914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9996C04-361A-4A65-8A92-B8DC4606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5920A92-CC72-43DF-BB3A-C575568E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114"/>
                </a:solidFill>
              </a:defRPr>
            </a:pPr>
            <a:r>
              <a:t>用户态与动态 ELF：从镜像解析到解释器交接</a:t>
            </a:r>
          </a:p>
        </p:txBody>
      </p:sp>
      <p:cxnSp>
        <p:nvCxnSpPr>
          <p:cNvPr id="26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06587D5-7672-4FDE-8934-514209CB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B66"/>
                </a:solidFill>
              </a:defRPr>
            </a:pPr>
            <a:r>
              <a:t>12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10EF7EB7-6CC3-4913-A7CC-F66CDB9F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3149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803BE71-7416-49C3-9673-4D9D6ED8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485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114"/>
                </a:solidFill>
              </a:defRPr>
            </a:pPr>
            <a:r>
              <a:t>ELF 映射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A5F07B8-C7EB-4067-A7D5-6AA2147C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48577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114"/>
                </a:solidFill>
              </a:defRPr>
            </a:pPr>
            <a:r>
              <a:t>ELF64 校验 · PT_LOAD · BSS 清零
静态 ELF / ET_DYN · W^X 权限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04E816A1-6BB3-4B12-A9D4-82967FE2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6959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163850F-7CAB-4739-B928-0719984C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71650"/>
            <a:ext cx="523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114"/>
                </a:solidFill>
              </a:defRPr>
            </a:pPr>
            <a:r>
              <a:t>Linux 初始栈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C7886E4-8F28-4A37-992D-FFE4B551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52387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114"/>
                </a:solidFill>
              </a:defRPr>
            </a:pPr>
            <a:r>
              <a:t>argc / argv / envp / auxv
AT_RANDOM · UID/GID · HWCAP · PLATFORM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5C75E97-3EA1-4614-9F59-2DCCD76A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149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76A9B2B-882D-42D6-8109-0BF046B1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485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6B35"/>
                </a:solidFill>
              </a:defRPr>
            </a:pPr>
            <a:r>
              <a:t>动态链接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8D8010F-AAA6-482A-894D-7D4654FE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48577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114"/>
                </a:solidFill>
              </a:defRPr>
            </a:pPr>
            <a:r>
              <a:t>PT_INTERP · loader alias
/lib · /lib64 · /usr/lib 运行时库物化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C92695E8-24F8-464A-A00A-1B7CA43C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76650"/>
            <a:ext cx="56959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EE849A5-5CC6-41C7-8025-09A426B5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67150"/>
            <a:ext cx="523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114"/>
                </a:solidFill>
              </a:defRPr>
            </a:pPr>
            <a:r>
              <a:t>当前边界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4574016-8060-4494-B0B6-1B89CE13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05300"/>
            <a:ext cx="52387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114"/>
                </a:solidFill>
              </a:defRPr>
            </a:pPr>
            <a:r>
              <a:t>P4 审计失败：LA loader 路径与 /lib64 契约未统一
Lua 四组合均 9 分，但当前 HEAD 仍需专项日志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B69F0E9-1A25-4B5C-80E8-D79C68FF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1095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B66"/>
                </a:solidFill>
              </a:defRPr>
            </a:pPr>
            <a:r>
              <a:t>设计选择：当前源码把 /lib64 作为真实目录；不能只为字符串审计改成 symlink。</a:t>
            </a:r>
          </a:p>
        </p:txBody>
      </p:sp>
    </p:spTree>
    <p:extLst>
      <p:ext uri="{BB962C8B-B14F-4D97-AF65-F5344CB8AC3E}">
        <p14:creationId xmlns:p14="http://schemas.microsoft.com/office/powerpoint/2010/main" val="21161900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B137C8CE-7000-4E41-B846-DCBEE5AD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FE6C9AB-E6E6-45A1-B195-84D2AEE7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114"/>
                </a:solidFill>
              </a:defRPr>
            </a:pPr>
            <a:r>
              <a:t>VFS 与存储：可运行根目录已建立，ext4 写路径尚未闭环</a:t>
            </a:r>
          </a:p>
        </p:txBody>
      </p:sp>
      <p:cxnSp>
        <p:nvCxnSpPr>
          <p:cNvPr id="23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528169D-0274-4B05-B9F7-2618CE67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B66"/>
                </a:solidFill>
              </a:defRPr>
            </a:pPr>
            <a:r>
              <a:t>13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1BFE409E-81CE-4665-BD09-E8083843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4671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A920F1F-151E-46D8-9B91-4EAA36E6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114"/>
                </a:solidFill>
              </a:defRPr>
            </a:pPr>
            <a:r>
              <a:t>VFS / namespace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94AE136-14F1-4CBF-B174-3BC4F617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3009900" cy="2838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• tmpfs · devfs · mount table
• cwd/root · path resolve
• symlink / hardlink
• fd table · poll · dirent
• procfs / sysfs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F5FC0CDD-2A55-4596-9A00-F5FE8A50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81150"/>
            <a:ext cx="34671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3FB748D-D73A-4D7C-90FE-C53BE3E1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7165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114"/>
                </a:solidFill>
              </a:defRPr>
            </a:pPr>
            <a:r>
              <a:t>进程 I/O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DFAB32C-6EBC-44FF-AF0B-A3083B8C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3009900" cy="2838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• pipe：blocking/EOF/EPIPE
• TTY：canonical/echo/Ctrl-C
• PTY：/dev/ptmx
• termios / winsize
• 标准 fd 0/1/2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4E59BA81-1B0D-46EA-9660-AB14C94B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81150"/>
            <a:ext cx="34671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C465B36-5670-4785-B3C6-D7508582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7165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6B35"/>
                </a:solidFill>
              </a:defRPr>
            </a:pPr>
            <a:r>
              <a:t>块与 ext4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E9D4FEE-E768-4C31-A73E-F0B7B610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09800"/>
            <a:ext cx="3009900" cy="2838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• VirtIO block + /dev/vda
• buffer/page cache
• ext4 superblock/inode
• 目录遍历/文件读取
• 完整写入/journal 未完成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1385BEE-672C-4616-BB91-F00F1C26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10953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B66"/>
                </a:solidFill>
              </a:defRPr>
            </a:pPr>
            <a:r>
              <a:t>P2 静态审计当前仅明确失败 RTC_RD_TIME；iozone 仍为 0，存储性能与持久化是后续主战场。</a:t>
            </a:r>
          </a:p>
        </p:txBody>
      </p:sp>
    </p:spTree>
    <p:extLst>
      <p:ext uri="{BB962C8B-B14F-4D97-AF65-F5344CB8AC3E}">
        <p14:creationId xmlns:p14="http://schemas.microsoft.com/office/powerpoint/2010/main" val="7063963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9A8F438-34CE-45A5-B097-7195B2F7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6ECE72F-6110-4B0E-AAF4-5806603A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114"/>
                </a:solidFill>
              </a:defRPr>
            </a:pPr>
            <a:r>
              <a:t>设备与网络：代码路径存在，平台网络分数仍为 0</a:t>
            </a:r>
          </a:p>
        </p:txBody>
      </p:sp>
      <p:cxnSp>
        <p:nvCxnSpPr>
          <p:cNvPr id="32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96F2E87-369F-409B-A7ED-C035D59C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B66"/>
                </a:solidFill>
              </a:defRPr>
            </a:pPr>
            <a:r>
              <a:t>14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09CBB7AE-1B4B-463A-9175-9A2D6EEB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3149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C4C2223-327E-4B1D-A8D3-741773DB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485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114"/>
                </a:solidFill>
              </a:defRPr>
            </a:pPr>
            <a:r>
              <a:t>设备模型与 VirtIO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D9AD01E-A299-4477-8CA5-B593B828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4857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114"/>
                </a:solidFill>
              </a:defRPr>
            </a:pPr>
            <a:r>
              <a:t>• Bus / Device / Driver 匹配与 probe
• FDT VirtIO-MMIO + PCI host
• DMA HAL · block · rng · net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92A2E7B4-0AD9-479E-8784-50F73EDC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6959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4BE19ED-403C-4ED7-AAEB-7444B8B0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71650"/>
            <a:ext cx="523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114"/>
                </a:solidFill>
              </a:defRPr>
            </a:pPr>
            <a:r>
              <a:t>网络接口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E54C8E1-889B-4C4D-9269-10B53B8E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5238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114"/>
                </a:solidFill>
              </a:defRPr>
            </a:pPr>
            <a:r>
              <a:t>• NetDevice registry · VirtIO-Net raw
• smoltcp：Ethernet / IPv4 / IPv6 / TCP / UDP
• AF_INET socket + poll + FIONBIO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CD5B10CF-E711-4B28-BFEC-541062EE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2571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EB1F4B5-78B0-410D-99CE-7F7FE7D6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1526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E7A4D"/>
                </a:solidFill>
              </a:defRPr>
            </a:pPr>
            <a:r>
              <a:t>PASS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1FB4CE0-F2F9-466C-A2E4-6B5FF309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152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</a:defRPr>
            </a:pPr>
            <a:r>
              <a:t>P6 network 静态审计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CF8D93E8-5669-4E5C-8D65-928FD5B9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05250"/>
            <a:ext cx="2571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E4324CB-CE86-486E-8133-60D5BFF6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114800"/>
            <a:ext cx="21526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B42318"/>
                </a:solidFill>
              </a:defRPr>
            </a:pPr>
            <a:r>
              <a:t>0.0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13B30C1-2DF2-47B2-A4D2-457C95E0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86300"/>
            <a:ext cx="2152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</a:defRPr>
            </a:pPr>
            <a:r>
              <a:t>iperf 平台分</a:t>
            </a:r>
          </a:p>
        </p:txBody>
      </p: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91167EB1-9C61-4176-B331-2EF83F44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2571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A806927-681A-45D3-BB64-D1F0450C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14800"/>
            <a:ext cx="21526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B42318"/>
                </a:solidFill>
              </a:defRPr>
            </a:pPr>
            <a:r>
              <a:t>0.0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056B246-C0C6-4BC0-8EA1-00E7C564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86300"/>
            <a:ext cx="2152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</a:defRPr>
            </a:pPr>
            <a:r>
              <a:t>netperf 平台分</a:t>
            </a:r>
          </a:p>
        </p:txBody>
      </p:sp>
      <p:sp>
        <p:nvSpPr>
          <p:cNvPr id="20" name="panel">
            <a:extLst xmlns:a="http://schemas.openxmlformats.org/drawingml/2006/main">
              <a:ext uri="{FF2B5EF4-FFF2-40B4-BE49-F238E27FC236}">
                <a16:creationId xmlns:a16="http://schemas.microsoft.com/office/drawing/2014/main" id="{3E8EE4CE-0142-4D07-ADE6-CE11FDF4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05250"/>
            <a:ext cx="28575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6D3B070-A2E5-453F-B59A-20977253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14800"/>
            <a:ext cx="2438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6B35"/>
                </a:solidFill>
              </a:defRPr>
            </a:pPr>
            <a:r>
              <a:t>OFF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EB5B19D-DDAC-4442-A8D9-89AD7240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86300"/>
            <a:ext cx="2438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</a:defRPr>
            </a:pPr>
            <a:r>
              <a:t>两组评分开关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0E70931-A723-4732-BB26-B7EE7587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0668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</a:defRPr>
            </a:pPr>
            <a:r>
              <a:t>结论：网络应标记为“骨架与 ABI 已有、数据面和评分闭环未完成”。</a:t>
            </a:r>
          </a:p>
        </p:txBody>
      </p:sp>
    </p:spTree>
    <p:extLst>
      <p:ext uri="{BB962C8B-B14F-4D97-AF65-F5344CB8AC3E}">
        <p14:creationId xmlns:p14="http://schemas.microsoft.com/office/powerpoint/2010/main" val="16118260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6AAB668-D8D2-4284-B752-426EA127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AB87DEC-DC9C-4DD3-A034-803B99B2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114"/>
                </a:solidFill>
              </a:defRPr>
            </a:pPr>
            <a:r>
              <a:t>OSCOMP 执行架构：PASS 必须追溯到真实退出状态</a:t>
            </a:r>
          </a:p>
        </p:txBody>
      </p:sp>
      <p:cxnSp>
        <p:nvCxnSpPr>
          <p:cNvPr id="44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EB3FB00-CFDC-4132-8134-8AA428F7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B66"/>
                </a:solidFill>
              </a:defRPr>
            </a:pPr>
            <a:r>
              <a:t>15</a:t>
            </a:r>
          </a:p>
        </p:txBody>
      </p:sp>
      <p:cxnSp>
        <p:nvCxnSpPr>
          <p:cNvPr id="46" name="rule"/>
          <p:cNvCxnSpPr/>
          <p:nvPr/>
        </p:nvCxnSpPr>
        <p:spPr>
          <a:xfrm xmlns:a="http://schemas.openxmlformats.org/drawingml/2006/main">
            <a:off x="1047750" y="3162300"/>
            <a:ext cx="10001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F3D88AC0-6027-4DE6-9D65-A39240C6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943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421D863-69EE-4580-86AE-A7228DD3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1485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</a:defRPr>
            </a:pPr>
            <a:r>
              <a:t>发现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F18C013-A4A5-4302-AC2D-6C3FE72C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1485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bounded sdcard
目录与脚本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DD17876E-5276-4CD7-AC5E-1799CAE0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57350"/>
            <a:ext cx="1943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A012E08-921C-46A1-A88F-62A73F4F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47850"/>
            <a:ext cx="1485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</a:defRPr>
            </a:pPr>
            <a:r>
              <a:t>分类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A166226-99F3-4D62-9816-64D14CE1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1485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arch × libc
× group</a:t>
            </a:r>
          </a:p>
        </p:txBody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54A83E76-6F23-4046-88FC-440D26DD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57350"/>
            <a:ext cx="1943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17D7006-F1BF-496F-9E04-3EACB71C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47850"/>
            <a:ext cx="1485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</a:defRPr>
            </a:pPr>
            <a:r>
              <a:t>预检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B64DF71-0543-40E1-A6CC-55D6723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86000"/>
            <a:ext cx="1485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path / shell
loader / env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AC2660E9-6878-433E-A21D-B39796F0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57350"/>
            <a:ext cx="1943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74D9395-24EB-46D1-AE2E-B2611B79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47850"/>
            <a:ext cx="1485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6B35"/>
                </a:solidFill>
              </a:defRPr>
            </a:pPr>
            <a:r>
              <a:t>执行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C0641AC-12C6-4CCB-A592-77E8264C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86000"/>
            <a:ext cx="1485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direct / shell
真实 binary</a:t>
            </a:r>
          </a:p>
        </p:txBody>
      </p:sp>
      <p:sp>
        <p:nvSpPr>
          <p:cNvPr id="18" name="panel">
            <a:extLst xmlns:a="http://schemas.openxmlformats.org/drawingml/2006/main">
              <a:ext uri="{FF2B5EF4-FFF2-40B4-BE49-F238E27FC236}">
                <a16:creationId xmlns:a16="http://schemas.microsoft.com/office/drawing/2014/main" id="{4F745A87-3618-4756-9A47-FBEFBF41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573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63CE743-B7D5-4701-AA62-DF4561D6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47850"/>
            <a:ext cx="1638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</a:defRPr>
            </a:pPr>
            <a:r>
              <a:t>汇总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365CC55-48E0-4308-8C9F-FD514174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86000"/>
            <a:ext cx="1638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raw → parser
summary / score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42944CE-060C-4A47-B8ED-A7DBA893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762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850" b="0">
                <a:solidFill>
                  <a:srgbClr val="101114"/>
                </a:solidFill>
              </a:defRPr>
            </a:pPr>
            <a:r>
              <a:t>↓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A221453-D270-45C7-A0A8-53F44DC6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95600"/>
            <a:ext cx="762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850" b="0">
                <a:solidFill>
                  <a:srgbClr val="101114"/>
                </a:solidFill>
              </a:defRPr>
            </a:pPr>
            <a:r>
              <a:t>↓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E656BB0-DA18-4132-982D-1AFFBD5C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95600"/>
            <a:ext cx="762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850" b="0">
                <a:solidFill>
                  <a:srgbClr val="101114"/>
                </a:solidFill>
              </a:defRPr>
            </a:pPr>
            <a:r>
              <a:t>↓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9A671EB-A112-4138-8614-5956A3A3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95600"/>
            <a:ext cx="762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850" b="0">
                <a:solidFill>
                  <a:srgbClr val="101114"/>
                </a:solidFill>
              </a:defRPr>
            </a:pPr>
            <a:r>
              <a:t>↓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0B42B2E-85E9-4898-8ACC-0B721241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95600"/>
            <a:ext cx="762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850" b="0">
                <a:solidFill>
                  <a:srgbClr val="101114"/>
                </a:solidFill>
              </a:defRPr>
            </a:pPr>
            <a:r>
              <a:t>↓</a:t>
            </a:r>
          </a:p>
        </p:txBody>
      </p:sp>
      <p:sp>
        <p:nvSpPr>
          <p:cNvPr id="26" name="panel">
            <a:extLst xmlns:a="http://schemas.openxmlformats.org/drawingml/2006/main">
              <a:ext uri="{FF2B5EF4-FFF2-40B4-BE49-F238E27FC236}">
                <a16:creationId xmlns:a16="http://schemas.microsoft.com/office/drawing/2014/main" id="{C9E614BA-B77C-48B7-9AFD-16B87C93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410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B7D4401-885C-45A1-AD2E-07AD3FB9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</a:defRPr>
            </a:pPr>
            <a:r>
              <a:t>真实性不变量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D484DDE-744D-4172-8D46-CAA617E0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49530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• success 只能来自 raw 与 expected 匹配
• parser 失败必须 fail-closed
• fallback 必须记录实际二进制与 raw</a:t>
            </a:r>
          </a:p>
        </p:txBody>
      </p:sp>
      <p:sp>
        <p:nvSpPr>
          <p:cNvPr id="29" name="panel">
            <a:extLst xmlns:a="http://schemas.openxmlformats.org/drawingml/2006/main">
              <a:ext uri="{FF2B5EF4-FFF2-40B4-BE49-F238E27FC236}">
                <a16:creationId xmlns:a16="http://schemas.microsoft.com/office/drawing/2014/main" id="{AEABE6C6-1A73-4293-88A4-4FF58535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55816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37FC2108-9926-43AE-A0EA-EB516CC8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5124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</a:defRPr>
            </a:pPr>
            <a:r>
              <a:t>预算不变量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61E3A67E-E478-4987-8F2C-AF51307B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51244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• RV 420 s · LA 240 s
• lmbench 320 s + 全局安全余量
• 必须能够到达 summary 与 poweroff</a:t>
            </a:r>
          </a:p>
        </p:txBody>
      </p:sp>
    </p:spTree>
    <p:extLst>
      <p:ext uri="{BB962C8B-B14F-4D97-AF65-F5344CB8AC3E}">
        <p14:creationId xmlns:p14="http://schemas.microsoft.com/office/powerpoint/2010/main" val="5850144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6EDF1124-51AD-48D7-B500-1B340808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CD1CBB6-B2B5-4639-BC75-EA056F43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114"/>
                </a:solidFill>
              </a:defRPr>
            </a:pPr>
            <a:r>
              <a:t>当前评分范围：只开放已知稳定组</a:t>
            </a:r>
          </a:p>
        </p:txBody>
      </p:sp>
      <p:cxnSp>
        <p:nvCxnSpPr>
          <p:cNvPr id="224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92E4509-8302-48DE-96A3-7FF97B10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B66"/>
                </a:solidFill>
              </a:defRPr>
            </a:pPr>
            <a:r>
              <a:t>16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750C8BED-C91D-4D39-82BF-761F5C4C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095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A7E918D-465C-4D74-A5DF-ADB4F150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3830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t>测试组</a:t>
            </a:r>
          </a:p>
        </p:txBody>
      </p:sp>
      <p:cxnSp>
        <p:nvCxnSpPr>
          <p:cNvPr id="228" name="rule"/>
          <p:cNvCxnSpPr/>
          <p:nvPr/>
        </p:nvCxnSpPr>
        <p:spPr>
          <a:xfrm xmlns:a="http://schemas.openxmlformats.org/drawingml/2006/main">
            <a:off x="2971800" y="15621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4416F78-DD75-4DE9-BDFD-04761996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6383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t>glibc-la</a:t>
            </a:r>
          </a:p>
        </p:txBody>
      </p:sp>
      <p:cxnSp>
        <p:nvCxnSpPr>
          <p:cNvPr id="230" name="rule"/>
          <p:cNvCxnSpPr/>
          <p:nvPr/>
        </p:nvCxnSpPr>
        <p:spPr>
          <a:xfrm xmlns:a="http://schemas.openxmlformats.org/drawingml/2006/main">
            <a:off x="5067300" y="15621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D321FB7-EC60-4787-A7B7-23BE9038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383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t>glibc-rv</a:t>
            </a:r>
          </a:p>
        </p:txBody>
      </p:sp>
      <p:cxnSp>
        <p:nvCxnSpPr>
          <p:cNvPr id="232" name="rule"/>
          <p:cNvCxnSpPr/>
          <p:nvPr/>
        </p:nvCxnSpPr>
        <p:spPr>
          <a:xfrm xmlns:a="http://schemas.openxmlformats.org/drawingml/2006/main">
            <a:off x="7162800" y="15621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E143D24-4E10-4920-AE27-23D3473E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383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t>musl-la</a:t>
            </a:r>
          </a:p>
        </p:txBody>
      </p:sp>
      <p:cxnSp>
        <p:nvCxnSpPr>
          <p:cNvPr id="234" name="rule"/>
          <p:cNvCxnSpPr/>
          <p:nvPr/>
        </p:nvCxnSpPr>
        <p:spPr>
          <a:xfrm xmlns:a="http://schemas.openxmlformats.org/drawingml/2006/main">
            <a:off x="9258300" y="15621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3918031-08AB-41D7-BF2D-39D0D423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383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t>musl-rv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12D948BC-273D-4018-AA17-BD501B9D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095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6139721-EA6A-4804-8200-A38E92BE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114"/>
                </a:solidFill>
              </a:defRPr>
            </a:pPr>
            <a:r>
              <a:t>basic</a:t>
            </a:r>
          </a:p>
        </p:txBody>
      </p:sp>
      <p:cxnSp>
        <p:nvCxnSpPr>
          <p:cNvPr id="238" name="rule"/>
          <p:cNvCxnSpPr/>
          <p:nvPr/>
        </p:nvCxnSpPr>
        <p:spPr>
          <a:xfrm xmlns:a="http://schemas.openxmlformats.org/drawingml/2006/main">
            <a:off x="2971800" y="207645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696BE27-1274-4BD7-AF02-7B59CBA1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526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114"/>
                </a:solidFill>
              </a:defRPr>
            </a:pPr>
            <a:r>
              <a:t>97</a:t>
            </a:r>
          </a:p>
        </p:txBody>
      </p:sp>
      <p:cxnSp>
        <p:nvCxnSpPr>
          <p:cNvPr id="240" name="rule"/>
          <p:cNvCxnSpPr/>
          <p:nvPr/>
        </p:nvCxnSpPr>
        <p:spPr>
          <a:xfrm xmlns:a="http://schemas.openxmlformats.org/drawingml/2006/main">
            <a:off x="5067300" y="207645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2CEF399-C875-431D-ABB5-2C4B5B7A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526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114"/>
                </a:solidFill>
              </a:defRPr>
            </a:pPr>
            <a:r>
              <a:t>97</a:t>
            </a:r>
          </a:p>
        </p:txBody>
      </p:sp>
      <p:cxnSp>
        <p:nvCxnSpPr>
          <p:cNvPr id="242" name="rule"/>
          <p:cNvCxnSpPr/>
          <p:nvPr/>
        </p:nvCxnSpPr>
        <p:spPr>
          <a:xfrm xmlns:a="http://schemas.openxmlformats.org/drawingml/2006/main">
            <a:off x="7162800" y="207645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57EAEAB-C8E0-4B4A-8027-80DC56A5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526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114"/>
                </a:solidFill>
              </a:defRPr>
            </a:pPr>
            <a:r>
              <a:t>97</a:t>
            </a:r>
          </a:p>
        </p:txBody>
      </p:sp>
      <p:cxnSp>
        <p:nvCxnSpPr>
          <p:cNvPr id="244" name="rule"/>
          <p:cNvCxnSpPr/>
          <p:nvPr/>
        </p:nvCxnSpPr>
        <p:spPr>
          <a:xfrm xmlns:a="http://schemas.openxmlformats.org/drawingml/2006/main">
            <a:off x="9258300" y="207645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84F58D3-10C3-46BA-BD32-977DC39C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526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114"/>
                </a:solidFill>
              </a:defRPr>
            </a:pPr>
            <a:r>
              <a:t>97</a:t>
            </a:r>
          </a:p>
        </p:txBody>
      </p:sp>
      <p:sp>
        <p:nvSpPr>
          <p:cNvPr id="25" name="panel">
            <a:extLst xmlns:a="http://schemas.openxmlformats.org/drawingml/2006/main">
              <a:ext uri="{FF2B5EF4-FFF2-40B4-BE49-F238E27FC236}">
                <a16:creationId xmlns:a16="http://schemas.microsoft.com/office/drawing/2014/main" id="{331D5799-2A6F-4137-AD06-D347269C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1095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EADB4B5-1014-4421-9C9F-6304D540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114"/>
                </a:solidFill>
              </a:defRPr>
            </a:pPr>
            <a:r>
              <a:t>busybox</a:t>
            </a:r>
          </a:p>
        </p:txBody>
      </p:sp>
      <p:cxnSp>
        <p:nvCxnSpPr>
          <p:cNvPr id="248" name="rule"/>
          <p:cNvCxnSpPr/>
          <p:nvPr/>
        </p:nvCxnSpPr>
        <p:spPr>
          <a:xfrm xmlns:a="http://schemas.openxmlformats.org/drawingml/2006/main">
            <a:off x="2971800" y="25908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963062C-0CB6-4C1D-8DB1-90CB9F69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670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114"/>
                </a:solidFill>
              </a:defRPr>
            </a:pPr>
            <a:r>
              <a:t>53</a:t>
            </a:r>
          </a:p>
        </p:txBody>
      </p:sp>
      <p:cxnSp>
        <p:nvCxnSpPr>
          <p:cNvPr id="250" name="rule"/>
          <p:cNvCxnSpPr/>
          <p:nvPr/>
        </p:nvCxnSpPr>
        <p:spPr>
          <a:xfrm xmlns:a="http://schemas.openxmlformats.org/drawingml/2006/main">
            <a:off x="5067300" y="25908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5A767380-3784-419C-89E0-D39E05FD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670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114"/>
                </a:solidFill>
              </a:defRPr>
            </a:pPr>
            <a:r>
              <a:t>54</a:t>
            </a:r>
          </a:p>
        </p:txBody>
      </p:sp>
      <p:cxnSp>
        <p:nvCxnSpPr>
          <p:cNvPr id="252" name="rule"/>
          <p:cNvCxnSpPr/>
          <p:nvPr/>
        </p:nvCxnSpPr>
        <p:spPr>
          <a:xfrm xmlns:a="http://schemas.openxmlformats.org/drawingml/2006/main">
            <a:off x="7162800" y="25908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F87290A3-D51F-44F2-8694-CF5F8605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670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114"/>
                </a:solidFill>
              </a:defRPr>
            </a:pPr>
            <a:r>
              <a:t>53</a:t>
            </a:r>
          </a:p>
        </p:txBody>
      </p:sp>
      <p:cxnSp>
        <p:nvCxnSpPr>
          <p:cNvPr id="254" name="rule"/>
          <p:cNvCxnSpPr/>
          <p:nvPr/>
        </p:nvCxnSpPr>
        <p:spPr>
          <a:xfrm xmlns:a="http://schemas.openxmlformats.org/drawingml/2006/main">
            <a:off x="9258300" y="25908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0B6F59AA-C433-4E20-9EB6-CE233A29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670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114"/>
                </a:solidFill>
              </a:defRPr>
            </a:pPr>
            <a:r>
              <a:t>54</a:t>
            </a:r>
          </a:p>
        </p:txBody>
      </p:sp>
      <p:sp>
        <p:nvSpPr>
          <p:cNvPr id="35" name="panel">
            <a:extLst xmlns:a="http://schemas.openxmlformats.org/drawingml/2006/main">
              <a:ext uri="{FF2B5EF4-FFF2-40B4-BE49-F238E27FC236}">
                <a16:creationId xmlns:a16="http://schemas.microsoft.com/office/drawing/2014/main" id="{99B326B3-AE84-4751-972B-5CFE5A21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1095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F7525077-F75F-4FDF-A2FF-525EF89A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8135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114"/>
                </a:solidFill>
              </a:defRPr>
            </a:pPr>
            <a:r>
              <a:t>libcbench</a:t>
            </a:r>
          </a:p>
        </p:txBody>
      </p:sp>
      <p:cxnSp>
        <p:nvCxnSpPr>
          <p:cNvPr id="258" name="rule"/>
          <p:cNvCxnSpPr/>
          <p:nvPr/>
        </p:nvCxnSpPr>
        <p:spPr>
          <a:xfrm xmlns:a="http://schemas.openxmlformats.org/drawingml/2006/main">
            <a:off x="2971800" y="310515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D72B0863-2FB9-4139-ACD2-71FE4AB2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813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114"/>
                </a:solidFill>
              </a:defRPr>
            </a:pPr>
            <a:r>
              <a:t>27.1439</a:t>
            </a:r>
          </a:p>
        </p:txBody>
      </p:sp>
      <p:cxnSp>
        <p:nvCxnSpPr>
          <p:cNvPr id="260" name="rule"/>
          <p:cNvCxnSpPr/>
          <p:nvPr/>
        </p:nvCxnSpPr>
        <p:spPr>
          <a:xfrm xmlns:a="http://schemas.openxmlformats.org/drawingml/2006/main">
            <a:off x="5067300" y="310515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DFC92DB1-F6E6-43EA-957F-AF5BCB7F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813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114"/>
                </a:solidFill>
              </a:defRPr>
            </a:pPr>
            <a:r>
              <a:t>28.3798</a:t>
            </a:r>
          </a:p>
        </p:txBody>
      </p:sp>
      <p:cxnSp>
        <p:nvCxnSpPr>
          <p:cNvPr id="262" name="rule"/>
          <p:cNvCxnSpPr/>
          <p:nvPr/>
        </p:nvCxnSpPr>
        <p:spPr>
          <a:xfrm xmlns:a="http://schemas.openxmlformats.org/drawingml/2006/main">
            <a:off x="7162800" y="310515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BC98A5A6-8340-4AE3-882A-176D6D16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813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114"/>
                </a:solidFill>
              </a:defRPr>
            </a:pPr>
            <a:r>
              <a:t>22.9361</a:t>
            </a:r>
          </a:p>
        </p:txBody>
      </p:sp>
      <p:cxnSp>
        <p:nvCxnSpPr>
          <p:cNvPr id="264" name="rule"/>
          <p:cNvCxnSpPr/>
          <p:nvPr/>
        </p:nvCxnSpPr>
        <p:spPr>
          <a:xfrm xmlns:a="http://schemas.openxmlformats.org/drawingml/2006/main">
            <a:off x="9258300" y="310515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304C5F4B-913E-46F0-9524-2B3E9C54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813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114"/>
                </a:solidFill>
              </a:defRPr>
            </a:pPr>
            <a:r>
              <a:t>25.4681</a:t>
            </a:r>
          </a:p>
        </p:txBody>
      </p:sp>
      <p:sp>
        <p:nvSpPr>
          <p:cNvPr id="45" name="panel">
            <a:extLst xmlns:a="http://schemas.openxmlformats.org/drawingml/2006/main">
              <a:ext uri="{FF2B5EF4-FFF2-40B4-BE49-F238E27FC236}">
                <a16:creationId xmlns:a16="http://schemas.microsoft.com/office/drawing/2014/main" id="{43460B83-1163-4651-9649-FCE677C2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1095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742E16D6-30BC-468F-BA94-ECDCB720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114"/>
                </a:solidFill>
              </a:defRPr>
            </a:pPr>
            <a:r>
              <a:t>lua</a:t>
            </a:r>
          </a:p>
        </p:txBody>
      </p:sp>
      <p:cxnSp>
        <p:nvCxnSpPr>
          <p:cNvPr id="268" name="rule"/>
          <p:cNvCxnSpPr/>
          <p:nvPr/>
        </p:nvCxnSpPr>
        <p:spPr>
          <a:xfrm xmlns:a="http://schemas.openxmlformats.org/drawingml/2006/main">
            <a:off x="2971800" y="36195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D816BC76-96FB-4820-AD5C-1A5C4D42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957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114"/>
                </a:solidFill>
              </a:defRPr>
            </a:pPr>
            <a:r>
              <a:t>9</a:t>
            </a:r>
          </a:p>
        </p:txBody>
      </p:sp>
      <p:cxnSp>
        <p:nvCxnSpPr>
          <p:cNvPr id="270" name="rule"/>
          <p:cNvCxnSpPr/>
          <p:nvPr/>
        </p:nvCxnSpPr>
        <p:spPr>
          <a:xfrm xmlns:a="http://schemas.openxmlformats.org/drawingml/2006/main">
            <a:off x="5067300" y="36195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AC8D22CA-6A50-42F3-95CC-736ADE1F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957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114"/>
                </a:solidFill>
              </a:defRPr>
            </a:pPr>
            <a:r>
              <a:t>9</a:t>
            </a:r>
          </a:p>
        </p:txBody>
      </p:sp>
      <p:cxnSp>
        <p:nvCxnSpPr>
          <p:cNvPr id="272" name="rule"/>
          <p:cNvCxnSpPr/>
          <p:nvPr/>
        </p:nvCxnSpPr>
        <p:spPr>
          <a:xfrm xmlns:a="http://schemas.openxmlformats.org/drawingml/2006/main">
            <a:off x="7162800" y="36195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83FB93E6-CCFF-4C69-A8AD-63017E01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957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114"/>
                </a:solidFill>
              </a:defRPr>
            </a:pPr>
            <a:r>
              <a:t>9</a:t>
            </a:r>
          </a:p>
        </p:txBody>
      </p:sp>
      <p:cxnSp>
        <p:nvCxnSpPr>
          <p:cNvPr id="274" name="rule"/>
          <p:cNvCxnSpPr/>
          <p:nvPr/>
        </p:nvCxnSpPr>
        <p:spPr>
          <a:xfrm xmlns:a="http://schemas.openxmlformats.org/drawingml/2006/main">
            <a:off x="9258300" y="36195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36CC5B7D-3B23-406D-A1B5-1E5B32C7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957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114"/>
                </a:solidFill>
              </a:defRPr>
            </a:pPr>
            <a:r>
              <a:t>9</a:t>
            </a:r>
          </a:p>
        </p:txBody>
      </p:sp>
      <p:sp>
        <p:nvSpPr>
          <p:cNvPr id="55" name="panel">
            <a:extLst xmlns:a="http://schemas.openxmlformats.org/drawingml/2006/main">
              <a:ext uri="{FF2B5EF4-FFF2-40B4-BE49-F238E27FC236}">
                <a16:creationId xmlns:a16="http://schemas.microsoft.com/office/drawing/2014/main" id="{4D5BE9E5-4A1D-44FD-A7D0-BDDF520D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1095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402E2712-5E7A-4903-BB35-0BFD9834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1005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114"/>
                </a:solidFill>
              </a:defRPr>
            </a:pPr>
            <a:r>
              <a:t>lmbench mini</a:t>
            </a:r>
          </a:p>
        </p:txBody>
      </p:sp>
      <p:cxnSp>
        <p:nvCxnSpPr>
          <p:cNvPr id="278" name="rule"/>
          <p:cNvCxnSpPr/>
          <p:nvPr/>
        </p:nvCxnSpPr>
        <p:spPr>
          <a:xfrm xmlns:a="http://schemas.openxmlformats.org/drawingml/2006/main">
            <a:off x="2971800" y="413385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8" name="text">
            <a:extLst xmlns:a="http://schemas.openxmlformats.org/drawingml/2006/main">
              <a:ext uri="{FF2B5EF4-FFF2-40B4-BE49-F238E27FC236}">
                <a16:creationId xmlns:a16="http://schemas.microsoft.com/office/drawing/2014/main" id="{A7494F2A-3392-4173-9B6B-9A676D3D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100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114"/>
                </a:solidFill>
              </a:defRPr>
            </a:pPr>
            <a:r>
              <a:t>关闭</a:t>
            </a:r>
          </a:p>
        </p:txBody>
      </p:sp>
      <p:cxnSp>
        <p:nvCxnSpPr>
          <p:cNvPr id="280" name="rule"/>
          <p:cNvCxnSpPr/>
          <p:nvPr/>
        </p:nvCxnSpPr>
        <p:spPr>
          <a:xfrm xmlns:a="http://schemas.openxmlformats.org/drawingml/2006/main">
            <a:off x="5067300" y="413385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0" name="text">
            <a:extLst xmlns:a="http://schemas.openxmlformats.org/drawingml/2006/main">
              <a:ext uri="{FF2B5EF4-FFF2-40B4-BE49-F238E27FC236}">
                <a16:creationId xmlns:a16="http://schemas.microsoft.com/office/drawing/2014/main" id="{2A039F04-63F4-4CEB-B365-CC6A96AC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100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114"/>
                </a:solidFill>
              </a:defRPr>
            </a:pPr>
            <a:r>
              <a:t>源码开启</a:t>
            </a:r>
          </a:p>
        </p:txBody>
      </p:sp>
      <p:cxnSp>
        <p:nvCxnSpPr>
          <p:cNvPr id="282" name="rule"/>
          <p:cNvCxnSpPr/>
          <p:nvPr/>
        </p:nvCxnSpPr>
        <p:spPr>
          <a:xfrm xmlns:a="http://schemas.openxmlformats.org/drawingml/2006/main">
            <a:off x="7162800" y="413385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2" name="text">
            <a:extLst xmlns:a="http://schemas.openxmlformats.org/drawingml/2006/main">
              <a:ext uri="{FF2B5EF4-FFF2-40B4-BE49-F238E27FC236}">
                <a16:creationId xmlns:a16="http://schemas.microsoft.com/office/drawing/2014/main" id="{6970C2F4-6493-49BD-99E7-3CE3520E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100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114"/>
                </a:solidFill>
              </a:defRPr>
            </a:pPr>
            <a:r>
              <a:t>关闭</a:t>
            </a:r>
          </a:p>
        </p:txBody>
      </p:sp>
      <p:cxnSp>
        <p:nvCxnSpPr>
          <p:cNvPr id="284" name="rule"/>
          <p:cNvCxnSpPr/>
          <p:nvPr/>
        </p:nvCxnSpPr>
        <p:spPr>
          <a:xfrm xmlns:a="http://schemas.openxmlformats.org/drawingml/2006/main">
            <a:off x="9258300" y="413385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4" name="text">
            <a:extLst xmlns:a="http://schemas.openxmlformats.org/drawingml/2006/main">
              <a:ext uri="{FF2B5EF4-FFF2-40B4-BE49-F238E27FC236}">
                <a16:creationId xmlns:a16="http://schemas.microsoft.com/office/drawing/2014/main" id="{077E770D-7489-4E5F-AD6A-9D26AA33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00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114"/>
                </a:solidFill>
              </a:defRPr>
            </a:pPr>
            <a:r>
              <a:t>关闭</a:t>
            </a:r>
          </a:p>
        </p:txBody>
      </p:sp>
      <p:sp>
        <p:nvSpPr>
          <p:cNvPr id="65" name="panel">
            <a:extLst xmlns:a="http://schemas.openxmlformats.org/drawingml/2006/main">
              <a:ext uri="{FF2B5EF4-FFF2-40B4-BE49-F238E27FC236}">
                <a16:creationId xmlns:a16="http://schemas.microsoft.com/office/drawing/2014/main" id="{B0F88A81-617B-4F95-8C61-A4225F4F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095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6" name="text">
            <a:extLst xmlns:a="http://schemas.openxmlformats.org/drawingml/2006/main">
              <a:ext uri="{FF2B5EF4-FFF2-40B4-BE49-F238E27FC236}">
                <a16:creationId xmlns:a16="http://schemas.microsoft.com/office/drawing/2014/main" id="{5C14C26E-C82C-4CA9-AA52-54220757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2440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114"/>
                </a:solidFill>
              </a:defRPr>
            </a:pPr>
            <a:r>
              <a:t>cyclic/io/iperf/net/LTP</a:t>
            </a:r>
          </a:p>
        </p:txBody>
      </p:sp>
      <p:cxnSp>
        <p:nvCxnSpPr>
          <p:cNvPr id="288" name="rule"/>
          <p:cNvCxnSpPr/>
          <p:nvPr/>
        </p:nvCxnSpPr>
        <p:spPr>
          <a:xfrm xmlns:a="http://schemas.openxmlformats.org/drawingml/2006/main">
            <a:off x="2971800" y="46482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8" name="text">
            <a:extLst xmlns:a="http://schemas.openxmlformats.org/drawingml/2006/main">
              <a:ext uri="{FF2B5EF4-FFF2-40B4-BE49-F238E27FC236}">
                <a16:creationId xmlns:a16="http://schemas.microsoft.com/office/drawing/2014/main" id="{C4CAFDCB-9B9D-4DF0-9E6A-A99F7F15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7244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114"/>
                </a:solidFill>
              </a:defRPr>
            </a:pPr>
            <a:r>
              <a:t>关闭</a:t>
            </a:r>
          </a:p>
        </p:txBody>
      </p:sp>
      <p:cxnSp>
        <p:nvCxnSpPr>
          <p:cNvPr id="290" name="rule"/>
          <p:cNvCxnSpPr/>
          <p:nvPr/>
        </p:nvCxnSpPr>
        <p:spPr>
          <a:xfrm xmlns:a="http://schemas.openxmlformats.org/drawingml/2006/main">
            <a:off x="5067300" y="46482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0" name="text">
            <a:extLst xmlns:a="http://schemas.openxmlformats.org/drawingml/2006/main">
              <a:ext uri="{FF2B5EF4-FFF2-40B4-BE49-F238E27FC236}">
                <a16:creationId xmlns:a16="http://schemas.microsoft.com/office/drawing/2014/main" id="{B1DEF513-7E59-43EB-855F-C14A3EDC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7244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114"/>
                </a:solidFill>
              </a:defRPr>
            </a:pPr>
            <a:r>
              <a:t>关闭</a:t>
            </a:r>
          </a:p>
        </p:txBody>
      </p:sp>
      <p:cxnSp>
        <p:nvCxnSpPr>
          <p:cNvPr id="292" name="rule"/>
          <p:cNvCxnSpPr/>
          <p:nvPr/>
        </p:nvCxnSpPr>
        <p:spPr>
          <a:xfrm xmlns:a="http://schemas.openxmlformats.org/drawingml/2006/main">
            <a:off x="7162800" y="46482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2" name="text">
            <a:extLst xmlns:a="http://schemas.openxmlformats.org/drawingml/2006/main">
              <a:ext uri="{FF2B5EF4-FFF2-40B4-BE49-F238E27FC236}">
                <a16:creationId xmlns:a16="http://schemas.microsoft.com/office/drawing/2014/main" id="{EA81801C-C2DE-445F-9374-3F3E9448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244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114"/>
                </a:solidFill>
              </a:defRPr>
            </a:pPr>
            <a:r>
              <a:t>关闭</a:t>
            </a:r>
          </a:p>
        </p:txBody>
      </p:sp>
      <p:cxnSp>
        <p:nvCxnSpPr>
          <p:cNvPr id="294" name="rule"/>
          <p:cNvCxnSpPr/>
          <p:nvPr/>
        </p:nvCxnSpPr>
        <p:spPr>
          <a:xfrm xmlns:a="http://schemas.openxmlformats.org/drawingml/2006/main">
            <a:off x="9258300" y="46482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4" name="text">
            <a:extLst xmlns:a="http://schemas.openxmlformats.org/drawingml/2006/main">
              <a:ext uri="{FF2B5EF4-FFF2-40B4-BE49-F238E27FC236}">
                <a16:creationId xmlns:a16="http://schemas.microsoft.com/office/drawing/2014/main" id="{098DC40E-9A42-48EF-83F9-607194B8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7244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114"/>
                </a:solidFill>
              </a:defRPr>
            </a:pPr>
            <a:r>
              <a:t>关闭</a:t>
            </a:r>
          </a:p>
        </p:txBody>
      </p:sp>
      <p:sp>
        <p:nvSpPr>
          <p:cNvPr id="75" name="text">
            <a:extLst xmlns:a="http://schemas.openxmlformats.org/drawingml/2006/main">
              <a:ext uri="{FF2B5EF4-FFF2-40B4-BE49-F238E27FC236}">
                <a16:creationId xmlns:a16="http://schemas.microsoft.com/office/drawing/2014/main" id="{B514DDD3-120E-441B-B556-4E811F9B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0953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B66"/>
                </a:solidFill>
              </a:defRPr>
            </a:pPr>
            <a:r>
              <a:t>源码开关：libcbench extra / cyclictest / iperf / netperf / LTP 全为 false；lmbench 仅 RV glibc 为 true。</a:t>
            </a:r>
          </a:p>
        </p:txBody>
      </p:sp>
    </p:spTree>
    <p:extLst>
      <p:ext uri="{BB962C8B-B14F-4D97-AF65-F5344CB8AC3E}">
        <p14:creationId xmlns:p14="http://schemas.microsoft.com/office/powerpoint/2010/main" val="632534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DE52C76-952A-4567-92DD-3506B227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342158C-C544-4635-8CAD-27C601DD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114"/>
                </a:solidFill>
              </a:defRPr>
            </a:pPr>
            <a:r>
              <a:t>本轮验证：通过项明确，失败项同样保留</a:t>
            </a:r>
          </a:p>
        </p:txBody>
      </p:sp>
      <p:cxnSp>
        <p:nvCxnSpPr>
          <p:cNvPr id="38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ED5FB34-F45C-4D4D-AA6F-E47938CB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B66"/>
                </a:solidFill>
              </a:defRPr>
            </a:pPr>
            <a:r>
              <a:t>17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467C7794-E0F8-456C-8FC3-70525C85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D84CD17-FE54-4A75-A8C6-EF08054B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t>PASS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C9A3E46-6591-4AE5-8FE6-AF4EA8FA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47825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</a:defRPr>
            </a:pPr>
            <a:r>
              <a:t>myos-mm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F89E227-2A7E-4873-8B22-BAC8F111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47825"/>
            <a:ext cx="64293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55B66"/>
                </a:solidFill>
              </a:defRPr>
            </a:pPr>
            <a:r>
              <a:t>45 passed / 0 failed；覆盖地址、VMA、ASID、fault、buddy、vmalloc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376EFCC1-392D-43FC-85CA-D729D8C3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BE34ADA-47B4-4664-887D-0908CDA2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t>PASS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CCA66EC-ADA2-40B3-A5B3-0D775829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333625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</a:defRPr>
            </a:pPr>
            <a:r>
              <a:t>提交总审计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01C84B6-4BCC-4B2F-A19C-08C42EEF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33625"/>
            <a:ext cx="64293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55B66"/>
                </a:solidFill>
              </a:defRPr>
            </a:pPr>
            <a:r>
              <a:t>11 PASS / 2 WARN / 0 FAIL；双内核产物可识别</a:t>
            </a:r>
          </a:p>
        </p:txBody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B9ACD6ED-92DD-41A6-9D5C-E11D7EEB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2ED39E0-34C8-4A36-B535-D8C63EB3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6705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t>PASS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DF0B10E-5DDA-4097-9156-57E69658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19425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</a:defRPr>
            </a:pPr>
            <a:r>
              <a:t>newtest P0/P3/P5/P6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8D3C160-7064-41D2-B279-D455BB26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19425"/>
            <a:ext cx="64293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55B66"/>
                </a:solidFill>
              </a:defRPr>
            </a:pPr>
            <a:r>
              <a:t>ABI、scheduler、clone/futex/TLS、network 静态检查通过</a:t>
            </a:r>
          </a:p>
        </p:txBody>
      </p: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9FB156F8-8838-4311-AEF3-597FD1EF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2227490-7973-4524-9F8D-2BD5E3B9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t>FAIL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DA19265-BE32-4ED0-8E0D-907B1D27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05225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</a:defRPr>
            </a:pPr>
            <a:r>
              <a:t>newtest P2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E21BAB8-0BE8-4E19-8029-F3F30681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05225"/>
            <a:ext cx="64293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55B66"/>
                </a:solidFill>
              </a:defRPr>
            </a:pPr>
            <a:r>
              <a:t>rtc.rs 未满足 RTC_RD_TIME ioctl 常量检查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3DE4A553-AE02-44F8-A957-A3151F6A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FB8C407-05CF-4F4A-B80C-0D841F27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t>FAIL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EC9A804-A85D-4687-A700-C603EB06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391025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</a:defRPr>
            </a:pPr>
            <a:r>
              <a:t>newtest P4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74D8538-1784-4191-8FF8-7677110E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391025"/>
            <a:ext cx="64293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55B66"/>
                </a:solidFill>
              </a:defRPr>
            </a:pPr>
            <a:r>
              <a:t>LA loader 路径与 /lib64 → /lib 审计契约未满足</a:t>
            </a:r>
          </a:p>
        </p:txBody>
      </p:sp>
      <p:sp>
        <p:nvSpPr>
          <p:cNvPr id="25" name="panel">
            <a:extLst xmlns:a="http://schemas.openxmlformats.org/drawingml/2006/main">
              <a:ext uri="{FF2B5EF4-FFF2-40B4-BE49-F238E27FC236}">
                <a16:creationId xmlns:a16="http://schemas.microsoft.com/office/drawing/2014/main" id="{9FDC852C-3229-4460-A5A0-CCC4C5A7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0F085153-91AD-41DD-8028-EAC1ACB8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2445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t>WARN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83C2CA8-61A8-449B-89EF-C557B6F9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76825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</a:defRPr>
            </a:pPr>
            <a:r>
              <a:t>baseline guard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A58C2F9C-1241-4E27-A9C2-39E1B340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076825"/>
            <a:ext cx="64293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55B66"/>
                </a:solidFill>
              </a:defRPr>
            </a:pPr>
            <a:r>
              <a:t>显示 240 PASS，但 check() 未使用 ok，结论不可信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06A6F21E-46E1-40B8-82A6-85FDCB32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6"/>
                </a:solidFill>
              </a:defRPr>
            </a:pPr>
            <a:r>
              <a:t>本页是 2026-06-28 本轮命令结果，不是历史日志摘要。</a:t>
            </a:r>
          </a:p>
        </p:txBody>
      </p:sp>
    </p:spTree>
    <p:extLst>
      <p:ext uri="{BB962C8B-B14F-4D97-AF65-F5344CB8AC3E}">
        <p14:creationId xmlns:p14="http://schemas.microsoft.com/office/powerpoint/2010/main" val="15318809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03CF2FFC-7378-4C33-840B-00912CC6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FCBEB01-BB44-4290-BF44-302EDDE0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114"/>
                </a:solidFill>
              </a:defRPr>
            </a:pPr>
            <a:r>
              <a:t>当前进度：四类状态必须分开标记</a:t>
            </a:r>
          </a:p>
        </p:txBody>
      </p:sp>
      <p:cxnSp>
        <p:nvCxnSpPr>
          <p:cNvPr id="26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B4A839A-605E-41CE-A62E-74537F5A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B66"/>
                </a:solidFill>
              </a:defRPr>
            </a:pPr>
            <a:r>
              <a:t>18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ED4BAEDD-CCD4-4CA4-8B08-91348785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2571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9377E90-82FC-4AF6-9C75-0EDEAD1B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2114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E7A4D"/>
                </a:solidFill>
              </a:defRPr>
            </a:pPr>
            <a:r>
              <a:t>稳定基线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ADBC561-76BC-45BD-922B-1F1E2A2A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2114550" cy="308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• 双架构构建
• 高半启动 / FDT
• 内存单测
• basic 四组合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E8B8EF4A-25C2-422F-8284-6734F47B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81150"/>
            <a:ext cx="2571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0CDE502-B1C7-414B-9827-E00351D2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71650"/>
            <a:ext cx="2114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114"/>
                </a:solidFill>
              </a:defRPr>
            </a:pPr>
            <a:r>
              <a:t>已实现待回归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810C5C1-1EFC-42E2-BEA6-2F8E1F7A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09800"/>
            <a:ext cx="2114550" cy="308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• SMP / 调度
• signal
• 动态 ELF
• procfs / sysfs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4D0C038F-AAEF-43CF-ACE5-5D68B94A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81150"/>
            <a:ext cx="2571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054C0B5-45D0-4B94-942A-B0E5DC5D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71650"/>
            <a:ext cx="2114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114"/>
                </a:solidFill>
              </a:defRPr>
            </a:pPr>
            <a:r>
              <a:t>部分闭环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3F499DB-E871-4B3E-B6EE-30A62111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09800"/>
            <a:ext cx="2114550" cy="308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• BusyBox LA
• libcbench
• ext4 只读
• socket / VirtIO-Net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7FAF1B0C-6D0B-4E03-9B19-3F1F81CF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81150"/>
            <a:ext cx="2571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72F18F2-A756-4D38-8801-E17B16EB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71650"/>
            <a:ext cx="2114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6B35"/>
                </a:solidFill>
              </a:defRPr>
            </a:pPr>
            <a:r>
              <a:t>未形成得分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ADED422-DA73-48EE-AA31-4369BF62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09800"/>
            <a:ext cx="2114550" cy="308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• lmbench
• cyclictest
• iozone
• iperf/netperf/LTP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C3D2B7C-7C15-4BEB-9FB5-83B45AAD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4835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114"/>
                </a:solidFill>
              </a:defRPr>
            </a:pPr>
            <a:r>
              <a:t>不要把“代码存在”直接涂成绿色；状态颜色由当前证据决定。</a:t>
            </a:r>
          </a:p>
        </p:txBody>
      </p:sp>
    </p:spTree>
    <p:extLst>
      <p:ext uri="{BB962C8B-B14F-4D97-AF65-F5344CB8AC3E}">
        <p14:creationId xmlns:p14="http://schemas.microsoft.com/office/powerpoint/2010/main" val="78489505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FE745043-CF0D-4D14-B290-C8F97BF5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F9CF0F9-89E6-4D16-A776-83BDDFC6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114"/>
                </a:solidFill>
              </a:defRPr>
            </a:pPr>
            <a:r>
              <a:t>文件职责 I：kernel 集成层</a:t>
            </a:r>
          </a:p>
        </p:txBody>
      </p:sp>
      <p:cxnSp>
        <p:nvCxnSpPr>
          <p:cNvPr id="23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536E1BE-5929-4FDB-84B3-C5AB6EBF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B66"/>
                </a:solidFill>
              </a:defRPr>
            </a:pPr>
            <a:r>
              <a:t>19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B723A08D-47B6-4D8B-979D-48B6DC01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4671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73C9DE7-D2A8-48EE-BE74-D523E412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</a:defRPr>
            </a:pPr>
            <a:r>
              <a:t>启动 / 内存 / 并发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11E3960-D90F-417F-81CA-A0FF771E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3009900" cy="3486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114"/>
                </a:solidFill>
              </a:defRPr>
            </a:pPr>
            <a:r>
              <a:t>main · linker · memory · page_alloc
heap · runtime_page_table · vm · fault
context · irq · irq_lock · lockdep
smp · ipi · call_function · tlb
trap · time · timer · workqueue
task/* · tracked_spin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0DB64AC0-56CD-4E14-94DF-2AFDCBC8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24000"/>
            <a:ext cx="34671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F377B76-F1AF-43D7-95EA-3860350F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145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</a:defRPr>
            </a:pPr>
            <a:r>
              <a:t>进程 / ABI / 用户态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89425BE-CA7B-400A-A66C-1A67975C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3009900" cy="3486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114"/>
                </a:solidFill>
              </a:defRPr>
            </a:pPr>
            <a:r>
              <a:t>process · signal · syscall · user
user_mm · elf · exec · initramfs
user/riscv64.S · user/loongarch64.S
pipe · tty · devpts
console · panic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DDD20268-6E01-4284-9B28-5B886081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24000"/>
            <a:ext cx="34671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5FD5696-D469-43A0-B1C7-98E9D61B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145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6B35"/>
                </a:solidFill>
              </a:defRPr>
            </a:pPr>
            <a:r>
              <a:t>文件系统 / 驱动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079961F-2833-44D7-966E-1F1D0ECC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52650"/>
            <a:ext cx="3009900" cy="3486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114"/>
                </a:solidFill>
              </a:defRPr>
            </a:pPr>
            <a:r>
              <a:t>fs/mod · procfs · sysfs
block · ext4 · device · virtio
rng · rtc
net/mod · net/socket
net/virtio_net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EA13751-DCE8-4B62-BB1C-920BBDF1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0668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6"/>
                </a:solidFill>
              </a:defRPr>
            </a:pPr>
            <a:r>
              <a:t>详细逐文件说明已写入 README.md；user.rs 当前 8352 行，是后续拆分重点。</a:t>
            </a:r>
          </a:p>
        </p:txBody>
      </p:sp>
    </p:spTree>
    <p:extLst>
      <p:ext uri="{BB962C8B-B14F-4D97-AF65-F5344CB8AC3E}">
        <p14:creationId xmlns:p14="http://schemas.microsoft.com/office/powerpoint/2010/main" val="20460163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092EF839-16A8-41A5-8845-35393D3B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970B0F2-61F0-42DC-AE40-4CA01E10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114"/>
                </a:solidFill>
              </a:defRPr>
            </a:pPr>
            <a:r>
              <a:t>文件职责 II：架构层与通用基础 crate</a:t>
            </a:r>
          </a:p>
        </p:txBody>
      </p:sp>
      <p:cxnSp>
        <p:nvCxnSpPr>
          <p:cNvPr id="22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EEFEDE0-7543-4782-82FB-F0A9F0FA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B66"/>
                </a:solidFill>
              </a:defRPr>
            </a:pPr>
            <a:r>
              <a:t>20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27CC0BE7-3B99-48B9-A4EF-23C73B57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4671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479EAB6-D2F5-4258-AFA1-3D4AD322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</a:defRPr>
            </a:pPr>
            <a:r>
              <a:t>arch/riscv64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EFEA447-8A21-4CE6-916C-98E03476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3009900" cy="3486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114"/>
                </a:solidFill>
              </a:defRPr>
            </a:pPr>
            <a:r>
              <a:t>asm/entry · secondary
boot · cpu · sbi · early_console
interrupt · time · smp
trap/entry · frame · mod
task/context · switch
memory/layout · phys_access
paging/*：boot/entry/geometry/map
activate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3E085EC2-B8FE-4488-9CFB-8E93F72A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24000"/>
            <a:ext cx="34671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59C667F-C629-41D7-B6A5-1099A532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145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</a:defRPr>
            </a:pPr>
            <a:r>
              <a:t>arch/loongarch64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2B788F2-F9F4-4E4A-9EBB-D04C400B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3009900" cy="3486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114"/>
                </a:solidFill>
              </a:defRPr>
            </a:pPr>
            <a:r>
              <a:t>asm/entry · secondary
boot · cpu · early_console
interrupt · time · smp
trap/* · task/*
memory/dmw · layout · phys_access
paging/* · refill.S
platform/qemu_virt/*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80BA8A33-5866-4E34-B159-64565625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24000"/>
            <a:ext cx="34671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63FF972-42AD-46DD-A658-4FF3AB47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145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6B35"/>
                </a:solidFill>
              </a:defRPr>
            </a:pPr>
            <a:r>
              <a:t>mm + support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FC63534-BB52-4002-9C09-22CDD5B4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52650"/>
            <a:ext cx="3009900" cy="3486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114"/>
                </a:solidFill>
              </a:defRPr>
            </a:pPr>
            <a:r>
              <a:t>mm：address/range/frame/map
buddy/* · slab/* · heap/*
paging/* · vma · address_space
user_space · asid · tlb · vmalloc
boot · fdt · runtime · sync · vfs</a:t>
            </a:r>
          </a:p>
        </p:txBody>
      </p:sp>
    </p:spTree>
    <p:extLst>
      <p:ext uri="{BB962C8B-B14F-4D97-AF65-F5344CB8AC3E}">
        <p14:creationId xmlns:p14="http://schemas.microsoft.com/office/powerpoint/2010/main" val="20560894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3FF9F0F-EACB-4C92-A3B6-CADC01D7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5C4E6BB-9671-4F6C-B03A-CE2A374E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114"/>
                </a:solidFill>
              </a:defRPr>
            </a:pPr>
            <a:r>
              <a:t>文件职责 III：构建、审计、测试与文档</a:t>
            </a:r>
          </a:p>
        </p:txBody>
      </p:sp>
      <p:cxnSp>
        <p:nvCxnSpPr>
          <p:cNvPr id="23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C49ED28-42B8-448E-B80A-B5D564D0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B66"/>
                </a:solidFill>
              </a:defRPr>
            </a:pPr>
            <a:r>
              <a:t>21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0EE9571F-D8C9-4ADD-8BCB-3C90FE09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4671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1137962-CAD8-44AA-BD32-7509A84A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114"/>
                </a:solidFill>
              </a:defRPr>
            </a:pPr>
            <a:r>
              <a:t>构建入口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36A2790-8E1C-4CAA-891F-C0D5181E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3009900" cy="289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• Makefile：比赛 wrapper
• Makefile.project：开发/QEMU
• oscomp-build.sh：双内核
• cargo-dot/config：离线源
• rust-toolchain：固定 nightly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B6D193C7-A6E1-43E0-93ED-35E84105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81150"/>
            <a:ext cx="34671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50C9C92-E80E-4B37-8D26-5FA6F2BE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7165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114"/>
                </a:solidFill>
              </a:defRPr>
            </a:pPr>
            <a:r>
              <a:t>审计与回归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964DFE1-DD75-4013-9B78-A2CCAA80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3009900" cy="289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• oscomp-audit / baseline guard
• newtest P0–P6
• m5–m16 milestone audit
• RISC-V 启动/页分配专项
• smoke / stress / preflight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6DEFB15C-6F6D-4D00-BB6C-820C4DE4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81150"/>
            <a:ext cx="34671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CFFBBBE-89B9-42AC-8457-F818163F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7165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6B35"/>
                </a:solidFill>
              </a:defRPr>
            </a:pPr>
            <a:r>
              <a:t>工程文档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ED5C1F0-BF79-4917-9900-B236ADF5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09800"/>
            <a:ext cx="3009900" cy="289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• boot/context/locking
• CPU/IPI/TLB/scheduler
• M5–M16 完成记录
• group matrix
• submit checklist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A4C3182-616B-4CF3-8CFD-BA60A4C7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0763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B66"/>
                </a:solidFill>
              </a:defRPr>
            </a:pPr>
            <a:r>
              <a:t>工作树存在未跟踪 .bak、.oscomp_patch_backup 与 vendor 目录；本轮不批量清理。</a:t>
            </a:r>
          </a:p>
        </p:txBody>
      </p:sp>
    </p:spTree>
    <p:extLst>
      <p:ext uri="{BB962C8B-B14F-4D97-AF65-F5344CB8AC3E}">
        <p14:creationId xmlns:p14="http://schemas.microsoft.com/office/powerpoint/2010/main" val="18542192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264FAA52-76A4-4B4C-A840-8DCEDB51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D44D5A1-1FB7-4E30-B6F4-D81C630D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114"/>
                </a:solidFill>
              </a:defRPr>
            </a:pPr>
            <a:r>
              <a:t>风险登记：先修“会让 PASS 失真”的问题</a:t>
            </a:r>
          </a:p>
        </p:txBody>
      </p:sp>
      <p:cxnSp>
        <p:nvCxnSpPr>
          <p:cNvPr id="31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223F66F-83F4-4537-A13F-54B57925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B66"/>
                </a:solidFill>
              </a:defRPr>
            </a:pPr>
            <a:r>
              <a:t>22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0B7E2DD8-EF89-44DD-B73D-1367D808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5410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C53C4FB-CE4D-42B6-B4C3-FC01A0DA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B42318"/>
                </a:solidFill>
              </a:defRPr>
            </a:pPr>
            <a:r>
              <a:t>P0 · baseline guard 忽略 ok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2CC486A-CFCE-4EF1-A4F5-F576DFE2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240 PASS / 0 FAIL 不可信；必须先修 check() 与退出码自测。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EAC210F8-2BC6-49EA-89CD-551E4274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5410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7F89A14-EAAA-475F-9442-1D12B058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</a:defRPr>
            </a:pPr>
            <a:r>
              <a:t>P0 · LA busybox known-bad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E2A3A72-7BE2-4214-893F-3252F652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后台 sleep/kill 与 glibc outer shell 有历史 SIGSEGV 证据。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780FD1D5-5654-4357-AFB4-0E4BA777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5410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9210C51-0F68-449F-BB15-40D234BB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</a:defRPr>
            </a:pPr>
            <a:r>
              <a:t>P0 · 当前 HEAD 日志缺口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64F7906-DD94-4428-88F7-6CBF2077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附件得分、源码与当前 contest 日志尚未逐项对齐。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2D7B4C22-7586-46C7-B44E-B4943C21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62100"/>
            <a:ext cx="5581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2A120E8-19C1-4CCB-9497-3C1639DB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52600"/>
            <a:ext cx="5124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</a:defRPr>
            </a:pPr>
            <a:r>
              <a:t>P1 · P2/P4 审计失败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EF6D5B6-6283-4069-A2C5-3F359CAE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5124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RTC ioctl 与 LA loader / lib64 契约需要统一。</a:t>
            </a:r>
          </a:p>
        </p:txBody>
      </p: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9278A524-D6E2-438A-AF07-D2F3191B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95600"/>
            <a:ext cx="5581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139C0F4-DF63-4398-A3DE-373E1AA6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86100"/>
            <a:ext cx="5124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</a:defRPr>
            </a:pPr>
            <a:r>
              <a:t>P1 · 评分空白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9AE5CD3-CECA-4124-96CF-A96418AA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24250"/>
            <a:ext cx="5124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lmbench、iozone、iperf、netperf、LTP 等七组仍为 0。</a:t>
            </a:r>
          </a:p>
        </p:txBody>
      </p:sp>
      <p:sp>
        <p:nvSpPr>
          <p:cNvPr id="20" name="panel">
            <a:extLst xmlns:a="http://schemas.openxmlformats.org/drawingml/2006/main">
              <a:ext uri="{FF2B5EF4-FFF2-40B4-BE49-F238E27FC236}">
                <a16:creationId xmlns:a16="http://schemas.microsoft.com/office/drawing/2014/main" id="{5728A0E5-2D11-41A7-8540-9A04374B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29100"/>
            <a:ext cx="5581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CF34FB3-52A4-4DF3-9A25-CED26E15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19600"/>
            <a:ext cx="5124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</a:defRPr>
            </a:pPr>
            <a:r>
              <a:t>P2 · 工程复杂度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738AF72-E7E4-451C-84AC-85B544F6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57750"/>
            <a:ext cx="5124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user.rs 过大、备份文件多、warning 与审计契约债务累积。</a:t>
            </a:r>
          </a:p>
        </p:txBody>
      </p:sp>
    </p:spTree>
    <p:extLst>
      <p:ext uri="{BB962C8B-B14F-4D97-AF65-F5344CB8AC3E}">
        <p14:creationId xmlns:p14="http://schemas.microsoft.com/office/powerpoint/2010/main" val="66311048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628E223A-6CC4-4612-8336-5EEEA662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0C7F106-D12C-46F6-ACE7-B07119B6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114"/>
                </a:solidFill>
              </a:defRPr>
            </a:pPr>
            <a:r>
              <a:t>实施路线：先复现，再稳定，最后扩分</a:t>
            </a:r>
          </a:p>
        </p:txBody>
      </p:sp>
      <p:cxnSp>
        <p:nvCxnSpPr>
          <p:cNvPr id="33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DCF781D-58AF-459B-8264-9D7E6DFE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B66"/>
                </a:solidFill>
              </a:defRPr>
            </a:pPr>
            <a:r>
              <a:t>23</a:t>
            </a:r>
          </a:p>
        </p:txBody>
      </p:sp>
      <p:cxnSp>
        <p:nvCxnSpPr>
          <p:cNvPr id="35" name="rule"/>
          <p:cNvCxnSpPr/>
          <p:nvPr/>
        </p:nvCxnSpPr>
        <p:spPr>
          <a:xfrm xmlns:a="http://schemas.openxmlformats.org/drawingml/2006/main">
            <a:off x="800100" y="5429250"/>
            <a:ext cx="10572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114"/>
            </a:solidFill>
            <a:prstDash val="solid"/>
          </a:ln>
        </p:spPr>
      </p:cxn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E38D8145-3630-4BD9-BF5C-60DE92F7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2B916099-8673-471C-979B-99D89049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72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1C8CC700-CACD-4326-B399-87106380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72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D039EBE5-B13D-4C9F-AC33-F5C021A0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2575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E1601BE-F100-4E1B-9223-1E89A62E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2800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6B35"/>
                </a:solidFill>
              </a:defRPr>
            </a:pPr>
            <a:r>
              <a:t>A–C · P0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12FFEE5-6740-48A3-8264-A12CA438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2800350" cy="251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• 修 baseline guard
• 冻结当前测试范围
• 复现 741.9279
• 稳定 LA busybox
• 双架构完整日志</a:t>
            </a:r>
          </a:p>
        </p:txBody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5C8E5FB5-FE3D-4240-A61A-BF9D7882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81150"/>
            <a:ext cx="32575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141D014-6538-4A2A-85DD-9D513AB0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71650"/>
            <a:ext cx="2800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114"/>
                </a:solidFill>
              </a:defRPr>
            </a:pPr>
            <a:r>
              <a:t>D–F · P1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94A6E31-5AEF-4105-859A-C6CAE32E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09800"/>
            <a:ext cx="2800350" cy="251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• 修 RTC / loader 契约
• 提高 libcbench
• 闭环 RV glibc lmbench
• 每次只改一个变量
• 保留回滚点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49469DD0-4E5B-4421-BA2E-AB032F61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81150"/>
            <a:ext cx="4191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D1558D9-8DC4-449D-944D-7D741508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71650"/>
            <a:ext cx="3733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114"/>
                </a:solidFill>
              </a:defRPr>
            </a:pPr>
            <a:r>
              <a:t>G–I · P2/P3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0C685F0-92E9-4A2E-BE64-9684ABD3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09800"/>
            <a:ext cx="3733800" cy="251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</a:defRPr>
            </a:pPr>
            <a:r>
              <a:t>• ext4 写入与 iozone
• VirtIO-Net 数据面
• iperf → netperf
• cyclictest / libctest
• LTP allowlist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CC84F79-8998-4FA7-A36F-7CB4E451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114"/>
                </a:solidFill>
              </a:defRPr>
            </a:pPr>
            <a:r>
              <a:t>可信基线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853F5AC-91F0-40E3-B285-94CD3648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76900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114"/>
                </a:solidFill>
              </a:defRPr>
            </a:pPr>
            <a:r>
              <a:t>兼容与性能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A1DCFC5-C4EA-402F-9067-AB0DC5E4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676900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114"/>
                </a:solidFill>
              </a:defRPr>
            </a:pPr>
            <a:r>
              <a:t>扩展得分</a:t>
            </a:r>
          </a:p>
        </p:txBody>
      </p:sp>
    </p:spTree>
    <p:extLst>
      <p:ext uri="{BB962C8B-B14F-4D97-AF65-F5344CB8AC3E}">
        <p14:creationId xmlns:p14="http://schemas.microsoft.com/office/powerpoint/2010/main" val="97116313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074AF544-A36A-4F2B-8D20-1EDEFFD9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6D68AD0-1603-4A01-8CC9-0F52DD33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114"/>
                </a:solidFill>
              </a:defRPr>
            </a:pPr>
            <a:r>
              <a:t>完成定义：让源码、日志与得分成为同一条证据链</a:t>
            </a:r>
          </a:p>
        </p:txBody>
      </p:sp>
      <p:cxnSp>
        <p:nvCxnSpPr>
          <p:cNvPr id="25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6C9B4A5-A5AB-45A8-85C0-55CCCD30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B66"/>
                </a:solidFill>
              </a:defRPr>
            </a:pPr>
            <a:r>
              <a:t>24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BF0023DB-B0F5-4BA1-829B-F5157ED0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FC1B49B-7C34-4959-A852-1184597D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</a:defRPr>
            </a:pPr>
            <a:r>
              <a:t>CURRENT CODE  =  CURRENT LOGS  =  PLATFORM SCORE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0E99345B-A74D-4A5F-863E-4708991D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34671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D07798B-8B18-44D1-AFBA-ECD0420C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52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114"/>
                </a:solidFill>
              </a:defRPr>
            </a:pPr>
            <a:r>
              <a:t>可信门禁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996BA1B-EDA9-4FBE-8BF6-E1A49693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3009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114"/>
                </a:solidFill>
              </a:defRPr>
            </a:pPr>
            <a:r>
              <a:t>guard 能真实失败
P2/P4 契约闭环
git diff --check 通过</a:t>
            </a:r>
          </a:p>
        </p:txBody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79608C97-5967-4902-9DAE-4BECA1B5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14700"/>
            <a:ext cx="34671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B6C9DDC-229E-4CE0-AC25-78B62614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052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114"/>
                </a:solidFill>
              </a:defRPr>
            </a:pPr>
            <a:r>
              <a:t>动态证据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CB88070-46B4-4BB2-9AFD-E15FE3D4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43350"/>
            <a:ext cx="3009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114"/>
                </a:solidFill>
              </a:defRPr>
            </a:pPr>
            <a:r>
              <a:t>RV/LA 完整 contest
panic/signal/timeout = 0
score 可逐项复现</a:t>
            </a:r>
          </a:p>
        </p:txBody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50953A7F-5DB6-4A31-A556-B8C6D853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14700"/>
            <a:ext cx="34671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C6F3803-B0A9-49D5-BB87-16DC1D63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052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6B35"/>
                </a:solidFill>
              </a:defRPr>
            </a:pPr>
            <a:r>
              <a:t>下一目标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21FBBCB-60AB-43B9-8411-4C44796A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43350"/>
            <a:ext cx="3009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114"/>
                </a:solidFill>
              </a:defRPr>
            </a:pPr>
            <a:r>
              <a:t>LA busybox 追平 RV
libcbench 稳定增分
lmbench/存储/网络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4A26052-CC78-4BDA-8D97-5D1EDFE5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14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</a:defRPr>
            </a:pPr>
            <a:r>
              <a:t>当前最值得做的不是“再开一组”，而是把已有 741.9279 变成可复现、可审计、可持续的基线。</a:t>
            </a:r>
          </a:p>
        </p:txBody>
      </p:sp>
    </p:spTree>
    <p:extLst>
      <p:ext uri="{BB962C8B-B14F-4D97-AF65-F5344CB8AC3E}">
        <p14:creationId xmlns:p14="http://schemas.microsoft.com/office/powerpoint/2010/main" val="191677420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074AF544-A36A-4F2B-8D20-1EDEFFD9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B66"/>
                </a:solidFill>
              </a:defRPr>
            </a:pPr>
            <a:r>
              <a:t>SudoOS-Plus · 正式提交材料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6D68AD0-1603-4A01-8CC9-0F52DD33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114"/>
                </a:solidFill>
              </a:defRPr>
            </a:pPr>
            <a:r>
              <a:t>生成式人工智能使用声明</a:t>
            </a:r>
          </a:p>
        </p:txBody>
      </p:sp>
      <p:cxnSp>
        <p:nvCxnSpPr>
          <p:cNvPr id="25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6C9B4A5-A5AB-45A8-85C0-55CCCD30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B66"/>
                </a:solidFill>
              </a:defRPr>
            </a:pPr>
            <a:r>
              <a:t>25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BF0023DB-B0F5-4BA1-829B-F5157ED0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FC1B49B-7C34-4959-A852-1184597D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</a:defRPr>
            </a:pPr>
            <a:r>
              <a:t>AI ASSISTS  ·  HUMANS REVIEW  ·  TEAM RESPONSIBLE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0E99345B-A74D-4A5F-863E-4708991D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34671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D07798B-8B18-44D1-AFBA-ECD0420C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52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114"/>
                </a:solidFill>
              </a:defRPr>
            </a:pPr>
            <a:r>
              <a:t>使用范围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996BA1B-EDA9-4FBE-8BF6-E1A49693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3009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114"/>
                </a:solidFill>
              </a:defRPr>
            </a:pPr>
            <a:r>
              <a:t>本项目在代码分析、方案整理、测试与调试辅助、文档撰写和演示文稿排版过程中使用了 Anthropic Claude 与 OpenAI Codex。</a:t>
            </a:r>
          </a:p>
        </p:txBody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79608C97-5967-4902-9DAE-4BECA1B5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14700"/>
            <a:ext cx="34671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B6C9DDC-229E-4CE0-AC25-78B62614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052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114"/>
                </a:solidFill>
              </a:defRPr>
            </a:pPr>
            <a:r>
              <a:t>审查与验证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CB88070-46B4-4BB2-9AFD-E15FE3D4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43350"/>
            <a:ext cx="3009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114"/>
                </a:solidFill>
              </a:defRPr>
            </a:pPr>
            <a:r>
              <a:t>生成式人工智能的输出仅作为辅助建议；所有纳入仓库的代码、脚本、测试结果和文档均由团队成员审查、修改并验证。</a:t>
            </a:r>
          </a:p>
        </p:txBody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50953A7F-5DB6-4A31-A556-B8C6D853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14700"/>
            <a:ext cx="34671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C6F3803-B0A9-49D5-BB87-16DC1D63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052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6B35"/>
                </a:solidFill>
              </a:defRPr>
            </a:pPr>
            <a:r>
              <a:t>责任与署名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21FBBCB-60AB-43B9-8411-4C44796A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43350"/>
            <a:ext cx="3009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114"/>
                </a:solidFill>
              </a:defRPr>
            </a:pPr>
            <a:r>
              <a:t>团队对最终成果的正确性、原创性、许可证合规性和提交内容承担全部责任。生成式人工智能不作为项目作者或共同作者。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4A26052-CC78-4BDA-8D97-5D1EDFE5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14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</a:defRPr>
            </a:pPr>
            <a:r>
              <a:t>第三方代码及其许可证另见附录 B。本声明与 README、设计方案 PDF 和 AI-使用声明.md 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191677420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074AF544-A36A-4F2B-8D20-1EDEFFD9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B66"/>
                </a:solidFill>
              </a:defRPr>
            </a:pPr>
            <a:r>
              <a:t>SudoOS-Plus · 正式提交材料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6D68AD0-1603-4A01-8CC9-0F52DD33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114"/>
                </a:solidFill>
              </a:defRPr>
            </a:pPr>
            <a:r>
              <a:t>附录 B：第三方代码与依赖声明</a:t>
            </a:r>
          </a:p>
        </p:txBody>
      </p:sp>
      <p:cxnSp>
        <p:nvCxnSpPr>
          <p:cNvPr id="25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6C9B4A5-A5AB-45A8-85C0-55CCCD30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B66"/>
                </a:solidFill>
              </a:defRPr>
            </a:pPr>
            <a:r>
              <a:t>26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BF0023DB-B0F5-4BA1-829B-F5157ED0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FC1B49B-7C34-4959-A852-1184597D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</a:defRPr>
            </a:pPr>
            <a:r>
              <a:t>SOURCE  ·  VERSION  ·  LICENSE  ·  MODIFICATIONS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0E99345B-A74D-4A5F-863E-4708991D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34671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D07798B-8B18-44D1-AFBA-ECD0420C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52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114"/>
                </a:solidFill>
              </a:defRPr>
            </a:pPr>
            <a:r>
              <a:t>运行时依赖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996BA1B-EDA9-4FBE-8BF6-E1A49693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3009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114"/>
                </a:solidFill>
              </a:defRPr>
            </a:pPr>
            <a:r>
              <a:t>fdt 0.2.0-alpha2 / MPL-2.0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114"/>
                </a:solidFill>
              </a:defRPr>
            </a:pPr>
            <a:r>
              <a:t>virtio-drivers 0.13.0 / MIT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114"/>
                </a:solidFill>
              </a:defRPr>
            </a:pPr>
            <a:r>
              <a:t>smoltcp 0.11.0 / 0BSD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114"/>
                </a:solidFill>
              </a:defRPr>
            </a:pPr>
            <a:r>
              <a:t>vte 0.15.0 / MIT 或 Apache-2.0</a:t>
            </a:r>
          </a:p>
        </p:txBody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79608C97-5967-4902-9DAE-4BECA1B5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14700"/>
            <a:ext cx="34671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B6C9DDC-229E-4CE0-AC25-78B62614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052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114"/>
                </a:solidFill>
              </a:defRPr>
            </a:pPr>
            <a:r>
              <a:t>构建与文件系统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CB88070-46B4-4BB2-9AFD-E15FE3D4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43350"/>
            <a:ext cx="3009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114"/>
                </a:solidFill>
              </a:defRPr>
            </a:pPr>
            <a:r>
              <a:t>lwext4 快照 / GPL-2.0、BSD-3-Clause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114"/>
                </a:solidFill>
              </a:defRPr>
            </a:pPr>
            <a:r>
              <a:t>musl-cross-make 快照 / MIT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114"/>
                </a:solidFill>
              </a:defRPr>
            </a:pPr>
            <a:r>
              <a:t>rust-src nightly-2025-01-18 / MIT 或 Apache-2.0</a:t>
            </a:r>
          </a:p>
        </p:txBody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50953A7F-5DB6-4A31-A556-B8C6D853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14700"/>
            <a:ext cx="34671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C6F3803-B0A9-49D5-BB87-16DC1D63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052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6B35"/>
                </a:solidFill>
              </a:defRPr>
            </a:pPr>
            <a:r>
              <a:t>合规要求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21FBBCB-60AB-43B9-8411-4C44796A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43350"/>
            <a:ext cx="3009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114"/>
                </a:solidFill>
              </a:defRPr>
            </a:pPr>
            <a:r>
              <a:t>保留版权、许可证与 checksum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114"/>
                </a:solidFill>
              </a:defRPr>
            </a:pPr>
            <a:r>
              <a:t>记录来源、版本及本地修改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114"/>
                </a:solidFill>
              </a:defRPr>
            </a:pPr>
            <a:r>
              <a:t>不把第三方代码计为团队原创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114"/>
                </a:solidFill>
              </a:defRPr>
            </a:pPr>
            <a:r>
              <a:t>GPL 组件按其条款履行义务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4A26052-CC78-4BDA-8D97-5D1EDFE5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14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</a:defRPr>
            </a:pPr>
            <a:r>
              <a:t>完整来源、版本、许可证和修改说明见 README / 设计方案 PDF 的附录 B；目录内许可证优先。</a:t>
            </a:r>
          </a:p>
        </p:txBody>
      </p:sp>
    </p:spTree>
    <p:extLst>
      <p:ext uri="{BB962C8B-B14F-4D97-AF65-F5344CB8AC3E}">
        <p14:creationId xmlns:p14="http://schemas.microsoft.com/office/powerpoint/2010/main" val="19167742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2026-06-30T15:47:10.4500000Z</dcterms:created>
  <dcterms:modified xsi:type="dcterms:W3CDTF">2026-06-30T15:47:10.4500000Z</dcterms:modified>
</coreProperties>
</file>