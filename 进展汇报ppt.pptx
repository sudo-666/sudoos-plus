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be13a7dbe4f20" /><Relationship Type="http://schemas.openxmlformats.org/officeDocument/2006/relationships/extended-properties" Target="/docProps/app.xml" Id="Rd7123c879d7645ac" /><Relationship Type="http://schemas.openxmlformats.org/officeDocument/2006/relationships/officeDocument" Target="/ppt/presentation.xml" Id="R81e6f4553ae0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26136b19364ea5"/>
  </p:sldMasterIdLst>
  <p:notesMasterIdLst>
    <p:notesMasterId xmlns:r="http://schemas.openxmlformats.org/officeDocument/2006/relationships" r:id="Rd8ac308847014d33"/>
  </p:notesMasterIdLst>
  <p:sldIdLst>
    <p:sldId xmlns:r="http://schemas.openxmlformats.org/officeDocument/2006/relationships" id="256" r:id="R3eca474a223b4fdd"/>
    <p:sldId xmlns:r="http://schemas.openxmlformats.org/officeDocument/2006/relationships" id="257" r:id="R76ab58349db644e6"/>
    <p:sldId xmlns:r="http://schemas.openxmlformats.org/officeDocument/2006/relationships" id="258" r:id="Rf25a8da59a8044d3"/>
    <p:sldId xmlns:r="http://schemas.openxmlformats.org/officeDocument/2006/relationships" id="259" r:id="Red56a16129704d9e"/>
    <p:sldId xmlns:r="http://schemas.openxmlformats.org/officeDocument/2006/relationships" id="260" r:id="R8ea58e9c71b045a0"/>
    <p:sldId xmlns:r="http://schemas.openxmlformats.org/officeDocument/2006/relationships" id="261" r:id="Race748aedb084ad5"/>
    <p:sldId xmlns:r="http://schemas.openxmlformats.org/officeDocument/2006/relationships" id="262" r:id="Re75d160c990b4f32"/>
    <p:sldId xmlns:r="http://schemas.openxmlformats.org/officeDocument/2006/relationships" id="263" r:id="R53bef36eb01247c0"/>
    <p:sldId xmlns:r="http://schemas.openxmlformats.org/officeDocument/2006/relationships" id="264" r:id="R96d8c9310fd4452e"/>
    <p:sldId xmlns:r="http://schemas.openxmlformats.org/officeDocument/2006/relationships" id="265" r:id="R70d2cff271e04a3c"/>
    <p:sldId xmlns:r="http://schemas.openxmlformats.org/officeDocument/2006/relationships" id="266" r:id="Rc219e883a08941c8"/>
    <p:sldId xmlns:r="http://schemas.openxmlformats.org/officeDocument/2006/relationships" id="267" r:id="R9771cb675ff5435e"/>
    <p:sldId xmlns:r="http://schemas.openxmlformats.org/officeDocument/2006/relationships" id="268" r:id="R9db79003bb5c4611"/>
    <p:sldId xmlns:r="http://schemas.openxmlformats.org/officeDocument/2006/relationships" id="269" r:id="R499dc556b5c34eed"/>
    <p:sldId xmlns:r="http://schemas.openxmlformats.org/officeDocument/2006/relationships" id="270" r:id="Re5c2396930a34474"/>
    <p:sldId xmlns:r="http://schemas.openxmlformats.org/officeDocument/2006/relationships" id="271" r:id="Re8616f4481e244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d246c034824b48" /><Relationship Type="http://schemas.openxmlformats.org/officeDocument/2006/relationships/slideMaster" Target="/ppt/slideMasters/slideMaster1.xml" Id="R1526136b19364ea5" /><Relationship Type="http://schemas.openxmlformats.org/officeDocument/2006/relationships/notesMaster" Target="/ppt/notesMasters/notesMaster1.xml" Id="Rd8ac308847014d33" /><Relationship Type="http://schemas.openxmlformats.org/officeDocument/2006/relationships/presProps" Target="/ppt/presProps.xml" Id="Rdb062ae2aef34074" /><Relationship Type="http://schemas.openxmlformats.org/officeDocument/2006/relationships/tableStyles" Target="/ppt/tableStyles.xml" Id="Rc190354e3a55458e" /><Relationship Type="http://schemas.openxmlformats.org/officeDocument/2006/relationships/slide" Target="/ppt/slides/slide1.xml" Id="R3eca474a223b4fdd" /><Relationship Type="http://schemas.openxmlformats.org/officeDocument/2006/relationships/slide" Target="/ppt/slides/slide2.xml" Id="R76ab58349db644e6" /><Relationship Type="http://schemas.openxmlformats.org/officeDocument/2006/relationships/slide" Target="/ppt/slides/slide3.xml" Id="Rf25a8da59a8044d3" /><Relationship Type="http://schemas.openxmlformats.org/officeDocument/2006/relationships/slide" Target="/ppt/slides/slide4.xml" Id="Red56a16129704d9e" /><Relationship Type="http://schemas.openxmlformats.org/officeDocument/2006/relationships/slide" Target="/ppt/slides/slide5.xml" Id="R8ea58e9c71b045a0" /><Relationship Type="http://schemas.openxmlformats.org/officeDocument/2006/relationships/slide" Target="/ppt/slides/slide6.xml" Id="Race748aedb084ad5" /><Relationship Type="http://schemas.openxmlformats.org/officeDocument/2006/relationships/slide" Target="/ppt/slides/slide7.xml" Id="Re75d160c990b4f32" /><Relationship Type="http://schemas.openxmlformats.org/officeDocument/2006/relationships/slide" Target="/ppt/slides/slide8.xml" Id="R53bef36eb01247c0" /><Relationship Type="http://schemas.openxmlformats.org/officeDocument/2006/relationships/slide" Target="/ppt/slides/slide9.xml" Id="R96d8c9310fd4452e" /><Relationship Type="http://schemas.openxmlformats.org/officeDocument/2006/relationships/slide" Target="/ppt/slides/slide10.xml" Id="R70d2cff271e04a3c" /><Relationship Type="http://schemas.openxmlformats.org/officeDocument/2006/relationships/slide" Target="/ppt/slides/slide11.xml" Id="Rc219e883a08941c8" /><Relationship Type="http://schemas.openxmlformats.org/officeDocument/2006/relationships/slide" Target="/ppt/slides/slide12.xml" Id="R9771cb675ff5435e" /><Relationship Type="http://schemas.openxmlformats.org/officeDocument/2006/relationships/slide" Target="/ppt/slides/slide13.xml" Id="R9db79003bb5c4611" /><Relationship Type="http://schemas.openxmlformats.org/officeDocument/2006/relationships/slide" Target="/ppt/slides/slide14.xml" Id="R499dc556b5c34eed" /><Relationship Type="http://schemas.openxmlformats.org/officeDocument/2006/relationships/slide" Target="/ppt/slides/slide15.xml" Id="Re5c2396930a34474" /><Relationship Type="http://schemas.openxmlformats.org/officeDocument/2006/relationships/slide" Target="/ppt/slides/slide16.xml" Id="Re8616f4481e2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671d7ce824f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d956fe64c4dfa" /><Relationship Type="http://schemas.openxmlformats.org/officeDocument/2006/relationships/notesMaster" Target="/ppt/notesMasters/notesMaster1.xml" Id="R2daaf5f7b3944f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11d07a393d4ad5" /><Relationship Type="http://schemas.openxmlformats.org/officeDocument/2006/relationships/notesMaster" Target="/ppt/notesMasters/notesMaster1.xml" Id="R09d467f492dd44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b8a17938d44ac2" /><Relationship Type="http://schemas.openxmlformats.org/officeDocument/2006/relationships/notesMaster" Target="/ppt/notesMasters/notesMaster1.xml" Id="R21d784bc1bb943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dd172dd0c4afd" /><Relationship Type="http://schemas.openxmlformats.org/officeDocument/2006/relationships/notesMaster" Target="/ppt/notesMasters/notesMaster1.xml" Id="Rd671e13831a7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506618fbdd4c66" /><Relationship Type="http://schemas.openxmlformats.org/officeDocument/2006/relationships/notesMaster" Target="/ppt/notesMasters/notesMaster1.xml" Id="Rc63e2b73d20f49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10492b9e5d44ef" /><Relationship Type="http://schemas.openxmlformats.org/officeDocument/2006/relationships/notesMaster" Target="/ppt/notesMasters/notesMaster1.xml" Id="R46843bbe9824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ab0244fef34466" /><Relationship Type="http://schemas.openxmlformats.org/officeDocument/2006/relationships/notesMaster" Target="/ppt/notesMasters/notesMaster1.xml" Id="R8ade9a65ff16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e5188957ef44c8" /><Relationship Type="http://schemas.openxmlformats.org/officeDocument/2006/relationships/notesMaster" Target="/ppt/notesMasters/notesMaster1.xml" Id="Reb108a98910c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ce17b27d3740a0" /><Relationship Type="http://schemas.openxmlformats.org/officeDocument/2006/relationships/notesMaster" Target="/ppt/notesMasters/notesMaster1.xml" Id="Re88c59b258c147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360c5e905d42c3" /><Relationship Type="http://schemas.openxmlformats.org/officeDocument/2006/relationships/notesMaster" Target="/ppt/notesMasters/notesMaster1.xml" Id="R1497dc8b59e54f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c33e2cc5a3492c" /><Relationship Type="http://schemas.openxmlformats.org/officeDocument/2006/relationships/notesMaster" Target="/ppt/notesMasters/notesMaster1.xml" Id="R324d2669a56f4b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444044cb6a4a59" /><Relationship Type="http://schemas.openxmlformats.org/officeDocument/2006/relationships/notesMaster" Target="/ppt/notesMasters/notesMaster1.xml" Id="R7f91bbe02cec49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0ca8c86de640de" /><Relationship Type="http://schemas.openxmlformats.org/officeDocument/2006/relationships/notesMaster" Target="/ppt/notesMasters/notesMaster1.xml" Id="R7df6dcc827f94a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4efb58faa1419c" /><Relationship Type="http://schemas.openxmlformats.org/officeDocument/2006/relationships/notesMaster" Target="/ppt/notesMasters/notesMaster1.xml" Id="R0c7e5e5c57054d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523de403074655" /><Relationship Type="http://schemas.openxmlformats.org/officeDocument/2006/relationships/notesMaster" Target="/ppt/notesMasters/notesMaster1.xml" Id="R06cb6de25e0c47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e5ce4631e647a2" /><Relationship Type="http://schemas.openxmlformats.org/officeDocument/2006/relationships/notesMaster" Target="/ppt/notesMasters/notesMaster1.xml" Id="R16feee0fa8ba4a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项目仓库 commit 5f82c46888e417717314b1ed4d9296072cef3170</a:t>
            </a:r>
          </a:p>
          <a:p xmlns:a="http://schemas.openxmlformats.org/drawingml/2006/main">
            <a:r>
              <a:t>- readme.md（本次设计方案评审稿）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artifacts/final-2026/logs/cagent-rv-v3-final-rv-20260812.log</a:t>
            </a:r>
          </a:p>
          <a:p xmlns:a="http://schemas.openxmlformats.org/drawingml/2006/main">
            <a:r>
              <a:t>- artifacts/final-2026/logs/cagent-la-v3-final-la-20260812.log</a:t>
            </a:r>
          </a:p>
          <a:p xmlns:a="http://schemas.openxmlformats.org/drawingml/2006/main">
            <a:r>
              <a:t>- artifacts/final-2026/logs/buildstorm-rv-v3-elf-rv-writeback2-20260811.log</a:t>
            </a:r>
          </a:p>
          <a:p xmlns:a="http://schemas.openxmlformats.org/drawingml/2006/main">
            <a:r>
              <a:t>- artifacts/final-2026/logs/buildstorm-la-v3-elf-la-writeback-20260812.log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Cargo.toml workspace members</a:t>
            </a:r>
          </a:p>
          <a:p xmlns:a="http://schemas.openxmlformats.org/drawingml/2006/main">
            <a:r>
              <a:t>- kernel/src/main.rs</a:t>
            </a:r>
          </a:p>
          <a:p xmlns:a="http://schemas.openxmlformats.org/drawingml/2006/main">
            <a:r>
              <a:t>- arch/riscv64/src</a:t>
            </a:r>
          </a:p>
          <a:p xmlns:a="http://schemas.openxmlformats.org/drawingml/2006/main">
            <a:r>
              <a:t>- arch/loongarch64/src</a:t>
            </a:r>
          </a:p>
          <a:p xmlns:a="http://schemas.openxmlformats.org/drawingml/2006/main">
            <a:r>
              <a:t>- readme.md 第 3-4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kernel/src/main.rs::kernel_main</a:t>
            </a:r>
          </a:p>
          <a:p xmlns:a="http://schemas.openxmlformats.org/drawingml/2006/main">
            <a:r>
              <a:t>- boot/src/info.rs</a:t>
            </a:r>
          </a:p>
          <a:p xmlns:a="http://schemas.openxmlformats.org/drawingml/2006/main">
            <a:r>
              <a:t>- firmware/fdt</a:t>
            </a:r>
          </a:p>
          <a:p xmlns:a="http://schemas.openxmlformats.org/drawingml/2006/main">
            <a:r>
              <a:t>- readme.md 第 4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kernel/src/user_mm.rs</a:t>
            </a:r>
          </a:p>
          <a:p xmlns:a="http://schemas.openxmlformats.org/drawingml/2006/main">
            <a:r>
              <a:t>- kernel/src/user.rs（BUILDSTORM_SHARED_MMAP_WRITEBACK_V1）</a:t>
            </a:r>
          </a:p>
          <a:p xmlns:a="http://schemas.openxmlformats.org/drawingml/2006/main">
            <a:r>
              <a:t>- mm/src</a:t>
            </a:r>
          </a:p>
          <a:p xmlns:a="http://schemas.openxmlformats.org/drawingml/2006/main">
            <a:r>
              <a:t>- readme.md 第 5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kernel/src/process.rs</a:t>
            </a:r>
          </a:p>
          <a:p xmlns:a="http://schemas.openxmlformats.org/drawingml/2006/main">
            <a:r>
              <a:t>- kernel/src/task/mod.rs</a:t>
            </a:r>
          </a:p>
          <a:p xmlns:a="http://schemas.openxmlformats.org/drawingml/2006/main">
            <a:r>
              <a:t>- kernel/src/task/stack.rs</a:t>
            </a:r>
          </a:p>
          <a:p xmlns:a="http://schemas.openxmlformats.org/drawingml/2006/main">
            <a:r>
              <a:t>- kernel/src/user.rs::sys_wait4 / futex</a:t>
            </a:r>
          </a:p>
          <a:p xmlns:a="http://schemas.openxmlformats.org/drawingml/2006/main">
            <a:r>
              <a:t>- readme.md 第 6-7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kernel/src/syscall.rs</a:t>
            </a:r>
          </a:p>
          <a:p xmlns:a="http://schemas.openxmlformats.org/drawingml/2006/main">
            <a:r>
              <a:t>- kernel/src/user.rs</a:t>
            </a:r>
          </a:p>
          <a:p xmlns:a="http://schemas.openxmlformats.org/drawingml/2006/main">
            <a:r>
              <a:t>- kernel/src/exec.rs</a:t>
            </a:r>
          </a:p>
          <a:p xmlns:a="http://schemas.openxmlformats.org/drawingml/2006/main">
            <a:r>
              <a:t>- kernel/src/elf.rs</a:t>
            </a:r>
          </a:p>
          <a:p xmlns:a="http://schemas.openxmlformats.org/drawingml/2006/main">
            <a:r>
              <a:t>- readme.md 第 8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kernel/src/main.rs::ensure_sdcard_dir_materialized</a:t>
            </a:r>
          </a:p>
          <a:p xmlns:a="http://schemas.openxmlformats.org/drawingml/2006/main">
            <a:r>
              <a:t>- kernel/src/user.rs::prepare_buildstorm_xtask_bootstrap</a:t>
            </a:r>
          </a:p>
          <a:p xmlns:a="http://schemas.openxmlformats.org/drawingml/2006/main">
            <a:r>
              <a:t>- kernel/src/fs</a:t>
            </a:r>
          </a:p>
          <a:p xmlns:a="http://schemas.openxmlformats.org/drawingml/2006/main">
            <a:r>
              <a:t>- kernel/src/ext4.rs</a:t>
            </a:r>
          </a:p>
          <a:p xmlns:a="http://schemas.openxmlformats.org/drawingml/2006/main">
            <a:r>
              <a:t>- readme.md 第 9、12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artifacts/final-2026/logs/cagent-rv-v3-final-rv-20260812.log</a:t>
            </a:r>
          </a:p>
          <a:p xmlns:a="http://schemas.openxmlformats.org/drawingml/2006/main">
            <a:r>
              <a:t>- artifacts/final-2026/logs/cagent-la-v3-final-la-20260812.log</a:t>
            </a:r>
          </a:p>
          <a:p xmlns:a="http://schemas.openxmlformats.org/drawingml/2006/main">
            <a:r>
              <a:t>- https://github.com/oscomp/testsuits-for-oskernel/tree/final-2026（访问 2026-08-12）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https://github.com/oscomp/testsuits-for-oskernel/blob/final-2026/scripts/buildstorm_testcode.sh（访问 2026-08-12）</a:t>
            </a:r>
          </a:p>
          <a:p xmlns:a="http://schemas.openxmlformats.org/drawingml/2006/main">
            <a:r>
              <a:t>- kernel/src/user.rs::verify_final_buildstorm_thread</a:t>
            </a:r>
          </a:p>
          <a:p xmlns:a="http://schemas.openxmlformats.org/drawingml/2006/main">
            <a:r>
              <a:t>- readme.md 第 12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artifacts/final-2026（各阶段构建日志与 review diff）</a:t>
            </a:r>
          </a:p>
          <a:p xmlns:a="http://schemas.openxmlformats.org/drawingml/2006/main">
            <a:r>
              <a:t>- kernel/src/user.rs</a:t>
            </a:r>
          </a:p>
          <a:p xmlns:a="http://schemas.openxmlformats.org/drawingml/2006/main">
            <a:r>
              <a:t>- kernel/src/user_mm.rs</a:t>
            </a:r>
          </a:p>
          <a:p xmlns:a="http://schemas.openxmlformats.org/drawingml/2006/main">
            <a:r>
              <a:t>- readme.md 第 13 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kernel/src/user.rs（register_shared_file_mapping / flush_shared_file_mappings）</a:t>
            </a:r>
          </a:p>
          <a:p xmlns:a="http://schemas.openxmlformats.org/drawingml/2006/main">
            <a:r>
              <a:t>- artifacts/final-2026/logs/buildstorm-rv-v3-elf-rv-writeback2-20260811.log</a:t>
            </a:r>
          </a:p>
          <a:p xmlns:a="http://schemas.openxmlformats.org/drawingml/2006/main">
            <a:r>
              <a:t>- artifacts/final-2026/logs/buildstorm-la-v3-elf-la-writeback-20260812.log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artifacts/final-2026/logs/buildstorm-rv-v3-elf-rv-writeback2-20260811.log</a:t>
            </a:r>
          </a:p>
          <a:p xmlns:a="http://schemas.openxmlformats.org/drawingml/2006/main">
            <a:r>
              <a:t>- artifacts/final-2026/logs/buildstorm-la-v3-elf-la-writeback-20260812.log</a:t>
            </a:r>
          </a:p>
          <a:p xmlns:a="http://schemas.openxmlformats.org/drawingml/2006/main">
            <a:r>
              <a:t>- https://github.com/oscomp/testsuits-for-oskernel/blob/final-2026/judge/judge_buildstorm-glibc.py（访问 2026-08-12）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Makefile</a:t>
            </a:r>
          </a:p>
          <a:p xmlns:a="http://schemas.openxmlformats.org/drawingml/2006/main">
            <a:r>
              <a:t>- scripts/oscomp-build.sh</a:t>
            </a:r>
          </a:p>
          <a:p xmlns:a="http://schemas.openxmlformats.org/drawingml/2006/main">
            <a:r>
              <a:t>- scripts/qemu_log_wait.py</a:t>
            </a:r>
          </a:p>
          <a:p xmlns:a="http://schemas.openxmlformats.org/drawingml/2006/main">
            <a:r>
              <a:t>- scripts/verify-final-script-sha256.sh</a:t>
            </a:r>
          </a:p>
          <a:p xmlns:a="http://schemas.openxmlformats.org/drawingml/2006/main">
            <a:r>
              <a:t>- scripts/regress-final-beta1.sh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第 17 节</a:t>
            </a:r>
          </a:p>
          <a:p xmlns:a="http://schemas.openxmlformats.org/drawingml/2006/main">
            <a:r>
              <a:t>- kernel/src/user.rs</a:t>
            </a:r>
          </a:p>
          <a:p xmlns:a="http://schemas.openxmlformats.org/drawingml/2006/main">
            <a:r>
              <a:t>- 当前双架构回归日志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第 20 节</a:t>
            </a:r>
          </a:p>
          <a:p xmlns:a="http://schemas.openxmlformats.org/drawingml/2006/main">
            <a:r>
              <a:t>- 项目仓库 commit 5f82c46888e417717314b1ed4d9296072cef3170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8c70864cb4e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0b1291bde4e85" /><Relationship Type="http://schemas.openxmlformats.org/officeDocument/2006/relationships/slideLayout" Target="/ppt/slideLayouts/slideLayout1.xml" Id="R3bf5b077e3b548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5b077e3b548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292972df741de" /><Relationship Type="http://schemas.openxmlformats.org/officeDocument/2006/relationships/notesSlide" Target="/ppt/notesSlides/notesSlide1.xml" Id="R04a26170299a49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4c0cb59a94dd4" /><Relationship Type="http://schemas.openxmlformats.org/officeDocument/2006/relationships/notesSlide" Target="/ppt/notesSlides/notesSlide2.xml" Id="R4565859d717547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428cc8d2a4327" /><Relationship Type="http://schemas.openxmlformats.org/officeDocument/2006/relationships/notesSlide" Target="/ppt/notesSlides/notesSlide3.xml" Id="R36f422a78742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2fa1dbef40b3" /><Relationship Type="http://schemas.openxmlformats.org/officeDocument/2006/relationships/notesSlide" Target="/ppt/notesSlides/notesSlide4.xml" Id="R7371ac77b9f849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c4ebc07174704" /><Relationship Type="http://schemas.openxmlformats.org/officeDocument/2006/relationships/notesSlide" Target="/ppt/notesSlides/notesSlide5.xml" Id="R457c27921d93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cb8d194b24166" /><Relationship Type="http://schemas.openxmlformats.org/officeDocument/2006/relationships/notesSlide" Target="/ppt/notesSlides/notesSlide6.xml" Id="R950b15bbbd924a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7b052251462f" /><Relationship Type="http://schemas.openxmlformats.org/officeDocument/2006/relationships/notesSlide" Target="/ppt/notesSlides/notesSlide7.xml" Id="R0f13bc5e4dc9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7857894b94b5f" /><Relationship Type="http://schemas.openxmlformats.org/officeDocument/2006/relationships/notesSlide" Target="/ppt/notesSlides/notesSlide8.xml" Id="R6d457e003f8441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1076ecf4c4b55" /><Relationship Type="http://schemas.openxmlformats.org/officeDocument/2006/relationships/notesSlide" Target="/ppt/notesSlides/notesSlide9.xml" Id="R15a1101ae61046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9892f806d4f47" /><Relationship Type="http://schemas.openxmlformats.org/officeDocument/2006/relationships/notesSlide" Target="/ppt/notesSlides/notesSlide10.xml" Id="R80636c7416f24e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f09f7f2b44aba" /><Relationship Type="http://schemas.openxmlformats.org/officeDocument/2006/relationships/notesSlide" Target="/ppt/notesSlides/notesSlide11.xml" Id="R04d389969c174a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90b1bc337465c" /><Relationship Type="http://schemas.openxmlformats.org/officeDocument/2006/relationships/notesSlide" Target="/ppt/notesSlides/notesSlide12.xml" Id="R6cbc6ddf563b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bc0c9eef4b08" /><Relationship Type="http://schemas.openxmlformats.org/officeDocument/2006/relationships/notesSlide" Target="/ppt/notesSlides/notesSlide13.xml" Id="R2a37692d7516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357f78d3d438e" /><Relationship Type="http://schemas.openxmlformats.org/officeDocument/2006/relationships/notesSlide" Target="/ppt/notesSlides/notesSlide14.xml" Id="Rb63ca3294ea442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1fa8f683148c9" /><Relationship Type="http://schemas.openxmlformats.org/officeDocument/2006/relationships/notesSlide" Target="/ppt/notesSlides/notesSlide15.xml" Id="R3f286ce0ca124c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ed34ba8c54b44" /><Relationship Type="http://schemas.openxmlformats.org/officeDocument/2006/relationships/notesSlide" Target="/ppt/notesSlides/notesSlide16.xml" Id="R2ef3e060ffef42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3E3F69A-CB23-4BF4-84B2-06D3A76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38EC255-2B1D-40A0-91B6-B06BA0B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0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8D1"/>
                </a:solidFill>
              </a:defRPr>
            </a:pPr>
            <a:r>
              <a:rPr sz="1350" b="1">
                <a:solidFill>
                  <a:srgbClr val="A9D8D1"/>
                </a:solidFill>
              </a:rPr>
              <a:t>OSCOMP 2026 决赛进展汇报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B8C4595-91B5-49F2-9003-96D2C7D6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SudoOS-Plus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0A8976-8FCB-4454-B1AE-9A7BFB6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7EC"/>
                </a:solidFill>
              </a:defRPr>
            </a:pPr>
            <a:r>
              <a:rPr sz="2250" b="0">
                <a:solidFill>
                  <a:srgbClr val="DDE7EC"/>
                </a:solidFill>
              </a:rPr>
              <a:t>双架构 Rust 操作系统：从用户态兼容到复杂软件构建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48D42D64-7F09-4C57-990E-069F056F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C3B8"/>
            </a:solidFill>
            <a:prstDash val="solid"/>
          </a:ln>
        </p:spPr>
      </p:sp>
      <p:sp>
        <p:nvSpPr>
          <p:cNvPr id="6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6BEE6E6B-C5A9-4160-B698-D0819C52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E7EC"/>
                </a:solidFill>
              </a:defRPr>
            </a:pPr>
            <a:r>
              <a:rPr sz="1575" b="0">
                <a:solidFill>
                  <a:srgbClr val="DDE7EC"/>
                </a:solidFill>
              </a:rPr>
              <a:t>RISC-V 64  /  LoongArch 64</a:t>
            </a:r>
          </a:p>
          <a:p xmlns:a="http://schemas.openxmlformats.org/drawingml/2006/main">
            <a:pPr algn="l">
              <a:defRPr sz="1575" b="0">
                <a:solidFill>
                  <a:srgbClr val="DDE7EC"/>
                </a:solidFill>
              </a:defRPr>
            </a:pPr>
            <a:r>
              <a:rPr sz="1575" b="0">
                <a:solidFill>
                  <a:srgbClr val="DDE7EC"/>
                </a:solidFill>
              </a:rPr>
              <a:t>CAgent 10/10  /  BuildStorm 双架构完成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52BAC7-7B40-48B7-98F2-DE16B01D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</a:defRPr>
            </a:pPr>
            <a:r>
              <a:rPr sz="1050" b="0">
                <a:solidFill>
                  <a:srgbClr val="AFC0CA"/>
                </a:solidFill>
              </a:rPr>
              <a:t>代码基线  5f82c46888e417717314b1ed4d9296072cef3170</a:t>
            </a:r>
          </a:p>
          <a:p xmlns:a="http://schemas.openxmlformats.org/drawingml/2006/main">
            <a:pPr algn="l">
              <a:defRPr sz="1050" b="0">
                <a:solidFill>
                  <a:srgbClr val="AFC0CA"/>
                </a:solidFill>
              </a:defRPr>
            </a:pPr>
            <a:r>
              <a:rPr sz="1050" b="0">
                <a:solidFill>
                  <a:srgbClr val="AFC0CA"/>
                </a:solidFill>
              </a:rPr>
              <a:t>评审稿  2026-08-12</a:t>
            </a:r>
          </a:p>
        </p:txBody>
      </p:sp>
      <p:sp>
        <p:nvSpPr>
          <p:cNvPr id="8" name="cover-dot">
            <a:extLst xmlns:a="http://schemas.openxmlformats.org/drawingml/2006/main">
              <a:ext uri="{FF2B5EF4-FFF2-40B4-BE49-F238E27FC236}">
                <a16:creationId xmlns:a16="http://schemas.microsoft.com/office/drawing/2014/main" id="{3FEE8D2B-1D70-4AD2-AF00-453A68A1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3B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4670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2">
            <a:extLst xmlns:a="http://schemas.openxmlformats.org/drawingml/2006/main">
              <a:ext uri="{FF2B5EF4-FFF2-40B4-BE49-F238E27FC236}">
                <a16:creationId xmlns:a16="http://schemas.microsoft.com/office/drawing/2014/main" id="{EF1AAC10-EF08-4F8A-9C2F-024DA347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结论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2A7BC6A-5AFA-44B8-BB6D-8447E0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当前版本已经完成双架构复杂负载闭环</a:t>
            </a:r>
          </a:p>
        </p:txBody>
      </p:sp>
      <p:sp>
        <p:nvSpPr>
          <p:cNvPr id="3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0148D528-D42B-48AC-8FB7-7DC69BCB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2CF8B31F-4E63-46A3-830F-87F322B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2CA1519-D8F9-46B4-918B-1322D7CE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02</a:t>
            </a:r>
          </a:p>
        </p:txBody>
      </p:sp>
      <p:sp>
        <p:nvSpPr>
          <p:cNvPr id="6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7B15F2CF-1647-4E0F-93A5-A141BBB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B34"/>
                </a:solidFill>
              </a:defRPr>
            </a:pPr>
            <a:r>
              <a:rPr sz="1725" b="0">
                <a:solidFill>
                  <a:srgbClr val="1D2B34"/>
                </a:solidFill>
              </a:rPr>
              <a:t>项目的核心进展不是增加测试桩，而是让真实 glibc 用户态、Cargo、rustc 和链接器在内核上持续运行并产生可验证结果。</a:t>
            </a:r>
          </a:p>
        </p:txBody>
      </p:sp>
      <p:sp>
        <p:nvSpPr>
          <p:cNvPr id="7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B4DB615E-BBFF-4A3E-96CF-52A505A7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8" name="left-number">
            <a:extLst xmlns:a="http://schemas.openxmlformats.org/drawingml/2006/main">
              <a:ext uri="{FF2B5EF4-FFF2-40B4-BE49-F238E27FC236}">
                <a16:creationId xmlns:a16="http://schemas.microsoft.com/office/drawing/2014/main" id="{D90EF0CA-C024-4E2D-BC95-00EB7C9C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B7A78"/>
                </a:solidFill>
              </a:defRPr>
            </a:pPr>
            <a:r>
              <a:rPr sz="3900" b="1">
                <a:solidFill>
                  <a:srgbClr val="2B7A78"/>
                </a:solidFill>
              </a:rPr>
              <a:t>10 / 10</a:t>
            </a:r>
          </a:p>
        </p:txBody>
      </p:sp>
      <p:sp>
        <p:nvSpPr>
          <p:cNvPr id="9" name="left-title">
            <a:extLst xmlns:a="http://schemas.openxmlformats.org/drawingml/2006/main">
              <a:ext uri="{FF2B5EF4-FFF2-40B4-BE49-F238E27FC236}">
                <a16:creationId xmlns:a16="http://schemas.microsoft.com/office/drawing/2014/main" id="{729DF319-C2C3-448C-86ED-29574E13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CAgent 两个架构全部通过</a:t>
            </a:r>
          </a:p>
        </p:txBody>
      </p:sp>
      <p:sp>
        <p:nvSpPr>
          <p:cNvPr id="10" name="left-body">
            <a:extLst xmlns:a="http://schemas.openxmlformats.org/drawingml/2006/main">
              <a:ext uri="{FF2B5EF4-FFF2-40B4-BE49-F238E27FC236}">
                <a16:creationId xmlns:a16="http://schemas.microsoft.com/office/drawing/2014/main" id="{F6824E78-F383-4846-9589-547D9490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C"/>
                </a:solidFill>
              </a:defRPr>
            </a:pPr>
            <a:r>
              <a:rPr sz="1425" b="0">
                <a:solidFill>
                  <a:srgbClr val="61717C"/>
                </a:solidFill>
              </a:rPr>
              <a:t>shell、动态链接、时间、系统信息、文件创建/读写/遍历和网络状态均形成闭环。</a:t>
            </a:r>
          </a:p>
        </p:txBody>
      </p:sp>
      <p:sp>
        <p:nvSpPr>
          <p:cNvPr id="11" name="right-number">
            <a:extLst xmlns:a="http://schemas.openxmlformats.org/drawingml/2006/main">
              <a:ext uri="{FF2B5EF4-FFF2-40B4-BE49-F238E27FC236}">
                <a16:creationId xmlns:a16="http://schemas.microsoft.com/office/drawing/2014/main" id="{D729BEFC-A932-4650-8131-06FC631D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B7A78"/>
                </a:solidFill>
              </a:defRPr>
            </a:pPr>
            <a:r>
              <a:rPr sz="3900" b="1">
                <a:solidFill>
                  <a:srgbClr val="2B7A78"/>
                </a:solidFill>
              </a:rPr>
              <a:t>2 / 2</a:t>
            </a:r>
          </a:p>
        </p:txBody>
      </p:sp>
      <p:sp>
        <p:nvSpPr>
          <p:cNvPr id="12" name="right-title">
            <a:extLst xmlns:a="http://schemas.openxmlformats.org/drawingml/2006/main">
              <a:ext uri="{FF2B5EF4-FFF2-40B4-BE49-F238E27FC236}">
                <a16:creationId xmlns:a16="http://schemas.microsoft.com/office/drawing/2014/main" id="{B3240A7C-41B1-461C-900F-01818F8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BuildStorm 两个架构均生成有效 ELF</a:t>
            </a:r>
          </a:p>
        </p:txBody>
      </p:sp>
      <p:sp>
        <p:nvSpPr>
          <p:cNvPr id="13" name="right-body">
            <a:extLst xmlns:a="http://schemas.openxmlformats.org/drawingml/2006/main">
              <a:ext uri="{FF2B5EF4-FFF2-40B4-BE49-F238E27FC236}">
                <a16:creationId xmlns:a16="http://schemas.microsoft.com/office/drawing/2014/main" id="{8A58EFFB-BB05-4A50-990A-AADE287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7C"/>
                </a:solidFill>
              </a:defRPr>
            </a:pPr>
            <a:r>
              <a:rPr sz="1425" b="0">
                <a:solidFill>
                  <a:srgbClr val="61717C"/>
                </a:solidFill>
              </a:rPr>
              <a:t>官方脚本输出 ok=true；产物大于 1.6 MiB，内核侧与用户侧均读取到 7f454c46。</a:t>
            </a:r>
          </a:p>
        </p:txBody>
      </p:sp>
      <p:sp>
        <p:nvSpPr>
          <p:cNvPr id="14" name="outcome-caveat">
            <a:extLst xmlns:a="http://schemas.openxmlformats.org/drawingml/2006/main">
              <a:ext uri="{FF2B5EF4-FFF2-40B4-BE49-F238E27FC236}">
                <a16:creationId xmlns:a16="http://schemas.microsoft.com/office/drawing/2014/main" id="{5FD3F2D6-C7FB-465A-BE48-F7B78DA4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7537"/>
                </a:solidFill>
              </a:defRPr>
            </a:pPr>
            <a:r>
              <a:rPr sz="1275" b="1">
                <a:solidFill>
                  <a:srgbClr val="C87537"/>
                </a:solidFill>
              </a:rPr>
              <a:t>平台时间分仍由官网镜像、评测机和基线重新计算。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1834611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3">
            <a:extLst xmlns:a="http://schemas.openxmlformats.org/drawingml/2006/main">
              <a:ext uri="{FF2B5EF4-FFF2-40B4-BE49-F238E27FC236}">
                <a16:creationId xmlns:a16="http://schemas.microsoft.com/office/drawing/2014/main" id="{A0744C2E-DD7B-4C11-9E3D-314D7988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总体架构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1E0BBE0-F761-45EF-99B8-463C9627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双架构共享同一套内核策略</a:t>
            </a:r>
          </a:p>
        </p:txBody>
      </p:sp>
      <p:sp>
        <p:nvSpPr>
          <p:cNvPr id="3" name="header-line-3">
            <a:extLst xmlns:a="http://schemas.openxmlformats.org/drawingml/2006/main">
              <a:ext uri="{FF2B5EF4-FFF2-40B4-BE49-F238E27FC236}">
                <a16:creationId xmlns:a16="http://schemas.microsoft.com/office/drawing/2014/main" id="{71BCD427-E32D-4E5C-94CF-4AA13D6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150A6791-C835-417F-B73C-DBE9D26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BB8114B-675D-4D9C-9240-7B9DB614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03</a:t>
            </a:r>
          </a:p>
        </p:txBody>
      </p:sp>
      <p:sp>
        <p:nvSpPr>
          <p:cNvPr id="6" name="arch-l1">
            <a:extLst xmlns:a="http://schemas.openxmlformats.org/drawingml/2006/main">
              <a:ext uri="{FF2B5EF4-FFF2-40B4-BE49-F238E27FC236}">
                <a16:creationId xmlns:a16="http://schemas.microsoft.com/office/drawing/2014/main" id="{F2F2FA5A-8CE3-4462-807A-0D5E4722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431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7" name="arch-l2">
            <a:extLst xmlns:a="http://schemas.openxmlformats.org/drawingml/2006/main">
              <a:ext uri="{FF2B5EF4-FFF2-40B4-BE49-F238E27FC236}">
                <a16:creationId xmlns:a16="http://schemas.microsoft.com/office/drawing/2014/main" id="{912F710E-8A0F-4D1C-8081-E5E3D59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8" name="arch-l3">
            <a:extLst xmlns:a="http://schemas.openxmlformats.org/drawingml/2006/main">
              <a:ext uri="{FF2B5EF4-FFF2-40B4-BE49-F238E27FC236}">
                <a16:creationId xmlns:a16="http://schemas.microsoft.com/office/drawing/2014/main" id="{0023FF10-0C3C-4746-8456-D430BCC2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337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9" name="arch-l4">
            <a:extLst xmlns:a="http://schemas.openxmlformats.org/drawingml/2006/main">
              <a:ext uri="{FF2B5EF4-FFF2-40B4-BE49-F238E27FC236}">
                <a16:creationId xmlns:a16="http://schemas.microsoft.com/office/drawing/2014/main" id="{5AFE6EE5-0D41-4A4C-855F-2FF4F9E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10" name="arch-l5">
            <a:extLst xmlns:a="http://schemas.openxmlformats.org/drawingml/2006/main">
              <a:ext uri="{FF2B5EF4-FFF2-40B4-BE49-F238E27FC236}">
                <a16:creationId xmlns:a16="http://schemas.microsoft.com/office/drawing/2014/main" id="{03595E4C-08BE-4B2F-B445-94FE851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11" name="rv-node">
            <a:extLst xmlns:a="http://schemas.openxmlformats.org/drawingml/2006/main">
              <a:ext uri="{FF2B5EF4-FFF2-40B4-BE49-F238E27FC236}">
                <a16:creationId xmlns:a16="http://schemas.microsoft.com/office/drawing/2014/main" id="{B4483964-F877-4F6E-A9BE-4A9D720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arch/riscv64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Sv39 · SBI · trap · SMP</a:t>
            </a:r>
          </a:p>
        </p:txBody>
      </p:sp>
      <p:sp>
        <p:nvSpPr>
          <p:cNvPr id="12" name="la-node">
            <a:extLst xmlns:a="http://schemas.openxmlformats.org/drawingml/2006/main">
              <a:ext uri="{FF2B5EF4-FFF2-40B4-BE49-F238E27FC236}">
                <a16:creationId xmlns:a16="http://schemas.microsoft.com/office/drawing/2014/main" id="{518E05B9-CB59-487C-ADE7-BCF3EF51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arch/loongarch64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DMW · 页表 · trap · SMP</a:t>
            </a:r>
          </a:p>
        </p:txBody>
      </p:sp>
      <p:sp>
        <p:nvSpPr>
          <p:cNvPr id="13" name="boot-node">
            <a:extLst xmlns:a="http://schemas.openxmlformats.org/drawingml/2006/main">
              <a:ext uri="{FF2B5EF4-FFF2-40B4-BE49-F238E27FC236}">
                <a16:creationId xmlns:a16="http://schemas.microsoft.com/office/drawing/2014/main" id="{EF0C93D1-68BA-4AC9-A8A4-BBD21D7E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2428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9525">
            <a:solidFill>
              <a:srgbClr val="2B7A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BootInfo + FDT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统一硬件资源与启动参数</a:t>
            </a:r>
          </a:p>
        </p:txBody>
      </p:sp>
      <p:sp>
        <p:nvSpPr>
          <p:cNvPr id="14" name="kernel-node">
            <a:extLst xmlns:a="http://schemas.openxmlformats.org/drawingml/2006/main">
              <a:ext uri="{FF2B5EF4-FFF2-40B4-BE49-F238E27FC236}">
                <a16:creationId xmlns:a16="http://schemas.microsoft.com/office/drawing/2014/main" id="{A7ACDFE5-9657-43F0-9DD3-8F480813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67100"/>
            <a:ext cx="3952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公共 kernel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MM · task · process · syscall · VFS</a:t>
            </a:r>
          </a:p>
        </p:txBody>
      </p:sp>
      <p:sp>
        <p:nvSpPr>
          <p:cNvPr id="15" name="foundation-node">
            <a:extLst xmlns:a="http://schemas.openxmlformats.org/drawingml/2006/main">
              <a:ext uri="{FF2B5EF4-FFF2-40B4-BE49-F238E27FC236}">
                <a16:creationId xmlns:a16="http://schemas.microsoft.com/office/drawing/2014/main" id="{491211E4-7F02-4500-9812-C9D5990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67250"/>
            <a:ext cx="5762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mm / sync / runtime / vfs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通用地址空间、锁、控制台和文件抽象</a:t>
            </a:r>
          </a:p>
        </p:txBody>
      </p:sp>
      <p:sp>
        <p:nvSpPr>
          <p:cNvPr id="16" name="arch-message">
            <a:extLst xmlns:a="http://schemas.openxmlformats.org/drawingml/2006/main">
              <a:ext uri="{FF2B5EF4-FFF2-40B4-BE49-F238E27FC236}">
                <a16:creationId xmlns:a16="http://schemas.microsoft.com/office/drawing/2014/main" id="{71A53AA2-74C2-4A66-8E48-E2E700D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7C"/>
                </a:solidFill>
              </a:defRPr>
            </a:pPr>
            <a:r>
              <a:rPr sz="1500" b="0">
                <a:solidFill>
                  <a:srgbClr val="61717C"/>
                </a:solidFill>
              </a:rPr>
              <a:t>硬件机制留在 arch；资源所有权、并发语义和用户态兼容保持共享。</a:t>
            </a:r>
          </a:p>
        </p:txBody>
      </p:sp>
    </p:spTree>
    <p:extLst>
      <p:ext uri="{BB962C8B-B14F-4D97-AF65-F5344CB8AC3E}">
        <p14:creationId xmlns:p14="http://schemas.microsoft.com/office/powerpoint/2010/main" val="811712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4">
            <a:extLst xmlns:a="http://schemas.openxmlformats.org/drawingml/2006/main">
              <a:ext uri="{FF2B5EF4-FFF2-40B4-BE49-F238E27FC236}">
                <a16:creationId xmlns:a16="http://schemas.microsoft.com/office/drawing/2014/main" id="{BAC6CD01-4A58-4A92-80B7-E9A798E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启动与初始化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48007C8-ED4A-46F6-8172-A45C8CB7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公共初始化次序保证每个子系统在依赖就绪后启用</a:t>
            </a:r>
          </a:p>
        </p:txBody>
      </p:sp>
      <p:sp>
        <p:nvSpPr>
          <p:cNvPr id="3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749F8DB1-4BFE-4F7B-8EF2-F025E12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84708BAF-CDF5-48D7-842A-A8130C19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4C09455-B0C8-474A-B3C5-63153424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04</a:t>
            </a:r>
          </a:p>
        </p:txBody>
      </p:sp>
      <p:sp>
        <p:nvSpPr>
          <p:cNvPr id="6" name="boot-num-0">
            <a:extLst xmlns:a="http://schemas.openxmlformats.org/drawingml/2006/main">
              <a:ext uri="{FF2B5EF4-FFF2-40B4-BE49-F238E27FC236}">
                <a16:creationId xmlns:a16="http://schemas.microsoft.com/office/drawing/2014/main" id="{C495513C-2DB8-459A-82C1-3A7C1EC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01</a:t>
            </a:r>
          </a:p>
        </p:txBody>
      </p:sp>
      <p:sp>
        <p:nvSpPr>
          <p:cNvPr id="7" name="boot-rule-0">
            <a:extLst xmlns:a="http://schemas.openxmlformats.org/drawingml/2006/main">
              <a:ext uri="{FF2B5EF4-FFF2-40B4-BE49-F238E27FC236}">
                <a16:creationId xmlns:a16="http://schemas.microsoft.com/office/drawing/2014/main" id="{5AF762C1-4C62-4358-BA25-1605F87A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7A78"/>
            </a:solidFill>
            <a:prstDash val="solid"/>
          </a:ln>
        </p:spPr>
      </p:sp>
      <p:sp>
        <p:nvSpPr>
          <p:cNvPr id="8" name="boot-head-0">
            <a:extLst xmlns:a="http://schemas.openxmlformats.org/drawingml/2006/main">
              <a:ext uri="{FF2B5EF4-FFF2-40B4-BE49-F238E27FC236}">
                <a16:creationId xmlns:a16="http://schemas.microsoft.com/office/drawing/2014/main" id="{F85E42DA-6E31-4D37-A93E-C998E03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38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FDT 与内存布局</a:t>
            </a:r>
          </a:p>
        </p:txBody>
      </p:sp>
      <p:sp>
        <p:nvSpPr>
          <p:cNvPr id="9" name="boot-body-0">
            <a:extLst xmlns:a="http://schemas.openxmlformats.org/drawingml/2006/main">
              <a:ext uri="{FF2B5EF4-FFF2-40B4-BE49-F238E27FC236}">
                <a16:creationId xmlns:a16="http://schemas.microsoft.com/office/drawing/2014/main" id="{7E8E7EE4-7E41-4BA6-BA55-6224FE5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478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枚举 RAM、CPU、VirtIO、PCI、initrd</a:t>
            </a:r>
          </a:p>
        </p:txBody>
      </p:sp>
      <p:sp>
        <p:nvSpPr>
          <p:cNvPr id="10" name="boot-num-1">
            <a:extLst xmlns:a="http://schemas.openxmlformats.org/drawingml/2006/main">
              <a:ext uri="{FF2B5EF4-FFF2-40B4-BE49-F238E27FC236}">
                <a16:creationId xmlns:a16="http://schemas.microsoft.com/office/drawing/2014/main" id="{4B0A7C7F-2E67-4183-9125-A3DF2B13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02</a:t>
            </a:r>
          </a:p>
        </p:txBody>
      </p:sp>
      <p:sp>
        <p:nvSpPr>
          <p:cNvPr id="11" name="boot-rule-1">
            <a:extLst xmlns:a="http://schemas.openxmlformats.org/drawingml/2006/main">
              <a:ext uri="{FF2B5EF4-FFF2-40B4-BE49-F238E27FC236}">
                <a16:creationId xmlns:a16="http://schemas.microsoft.com/office/drawing/2014/main" id="{731DA59C-7584-4608-9017-2A661F5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7A78"/>
            </a:solidFill>
            <a:prstDash val="solid"/>
          </a:ln>
        </p:spPr>
      </p:sp>
      <p:sp>
        <p:nvSpPr>
          <p:cNvPr id="12" name="boot-head-1">
            <a:extLst xmlns:a="http://schemas.openxmlformats.org/drawingml/2006/main">
              <a:ext uri="{FF2B5EF4-FFF2-40B4-BE49-F238E27FC236}">
                <a16:creationId xmlns:a16="http://schemas.microsoft.com/office/drawing/2014/main" id="{80BE1118-F9BE-4F84-B548-5D3F8D9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页表与分配器</a:t>
            </a:r>
          </a:p>
        </p:txBody>
      </p:sp>
      <p:sp>
        <p:nvSpPr>
          <p:cNvPr id="13" name="boot-body-1">
            <a:extLst xmlns:a="http://schemas.openxmlformats.org/drawingml/2006/main">
              <a:ext uri="{FF2B5EF4-FFF2-40B4-BE49-F238E27FC236}">
                <a16:creationId xmlns:a16="http://schemas.microsoft.com/office/drawing/2014/main" id="{506E6785-DB40-469C-8C74-1A73A59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860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final root → buddy → slab / vmalloc</a:t>
            </a:r>
          </a:p>
        </p:txBody>
      </p:sp>
      <p:sp>
        <p:nvSpPr>
          <p:cNvPr id="14" name="boot-num-2">
            <a:extLst xmlns:a="http://schemas.openxmlformats.org/drawingml/2006/main">
              <a:ext uri="{FF2B5EF4-FFF2-40B4-BE49-F238E27FC236}">
                <a16:creationId xmlns:a16="http://schemas.microsoft.com/office/drawing/2014/main" id="{E387C040-205A-4A00-AA3C-15D1EAE1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03</a:t>
            </a:r>
          </a:p>
        </p:txBody>
      </p:sp>
      <p:sp>
        <p:nvSpPr>
          <p:cNvPr id="15" name="boot-rule-2">
            <a:extLst xmlns:a="http://schemas.openxmlformats.org/drawingml/2006/main">
              <a:ext uri="{FF2B5EF4-FFF2-40B4-BE49-F238E27FC236}">
                <a16:creationId xmlns:a16="http://schemas.microsoft.com/office/drawing/2014/main" id="{8AA39390-DB37-4C98-8B70-1507F55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7A78"/>
            </a:solidFill>
            <a:prstDash val="solid"/>
          </a:ln>
        </p:spPr>
      </p:sp>
      <p:sp>
        <p:nvSpPr>
          <p:cNvPr id="16" name="boot-head-2">
            <a:extLst xmlns:a="http://schemas.openxmlformats.org/drawingml/2006/main">
              <a:ext uri="{FF2B5EF4-FFF2-40B4-BE49-F238E27FC236}">
                <a16:creationId xmlns:a16="http://schemas.microsoft.com/office/drawing/2014/main" id="{9CF26D1F-FC2D-4829-9A5A-0D21157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14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中断与并发</a:t>
            </a:r>
          </a:p>
        </p:txBody>
      </p:sp>
      <p:sp>
        <p:nvSpPr>
          <p:cNvPr id="17" name="boot-body-2">
            <a:extLst xmlns:a="http://schemas.openxmlformats.org/drawingml/2006/main">
              <a:ext uri="{FF2B5EF4-FFF2-40B4-BE49-F238E27FC236}">
                <a16:creationId xmlns:a16="http://schemas.microsoft.com/office/drawing/2014/main" id="{DF9618E1-D48E-4CC7-B61B-091A5D3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242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trap → IRQ → timer → scheduler → SMP / IPI</a:t>
            </a:r>
          </a:p>
        </p:txBody>
      </p:sp>
      <p:sp>
        <p:nvSpPr>
          <p:cNvPr id="18" name="boot-num-3">
            <a:extLst xmlns:a="http://schemas.openxmlformats.org/drawingml/2006/main">
              <a:ext uri="{FF2B5EF4-FFF2-40B4-BE49-F238E27FC236}">
                <a16:creationId xmlns:a16="http://schemas.microsoft.com/office/drawing/2014/main" id="{5EAD95C0-C81F-4452-8762-8ABCB70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04</a:t>
            </a:r>
          </a:p>
        </p:txBody>
      </p:sp>
      <p:sp>
        <p:nvSpPr>
          <p:cNvPr id="19" name="boot-rule-3">
            <a:extLst xmlns:a="http://schemas.openxmlformats.org/drawingml/2006/main">
              <a:ext uri="{FF2B5EF4-FFF2-40B4-BE49-F238E27FC236}">
                <a16:creationId xmlns:a16="http://schemas.microsoft.com/office/drawing/2014/main" id="{8DB62BC5-A515-4AA4-B5F3-876589B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7A78"/>
            </a:solidFill>
            <a:prstDash val="solid"/>
          </a:ln>
        </p:spPr>
      </p:sp>
      <p:sp>
        <p:nvSpPr>
          <p:cNvPr id="20" name="boot-head-3">
            <a:extLst xmlns:a="http://schemas.openxmlformats.org/drawingml/2006/main">
              <a:ext uri="{FF2B5EF4-FFF2-40B4-BE49-F238E27FC236}">
                <a16:creationId xmlns:a16="http://schemas.microsoft.com/office/drawing/2014/main" id="{65CFB0DA-4E5B-47A6-864D-F19F6B58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设备与文件系统</a:t>
            </a:r>
          </a:p>
        </p:txBody>
      </p:sp>
      <p:sp>
        <p:nvSpPr>
          <p:cNvPr id="21" name="boot-body-3">
            <a:extLst xmlns:a="http://schemas.openxmlformats.org/drawingml/2006/main">
              <a:ext uri="{FF2B5EF4-FFF2-40B4-BE49-F238E27FC236}">
                <a16:creationId xmlns:a16="http://schemas.microsoft.com/office/drawing/2014/main" id="{8F3EEFB2-D953-417F-958B-FA5CA46C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624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VirtIO → block → VFS → ext4 / procfs / sysfs</a:t>
            </a:r>
          </a:p>
        </p:txBody>
      </p:sp>
      <p:sp>
        <p:nvSpPr>
          <p:cNvPr id="22" name="boot-num-4">
            <a:extLst xmlns:a="http://schemas.openxmlformats.org/drawingml/2006/main">
              <a:ext uri="{FF2B5EF4-FFF2-40B4-BE49-F238E27FC236}">
                <a16:creationId xmlns:a16="http://schemas.microsoft.com/office/drawing/2014/main" id="{836E0369-2BFD-40E8-9D89-C68CDC53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05</a:t>
            </a:r>
          </a:p>
        </p:txBody>
      </p:sp>
      <p:sp>
        <p:nvSpPr>
          <p:cNvPr id="23" name="boot-rule-4">
            <a:extLst xmlns:a="http://schemas.openxmlformats.org/drawingml/2006/main">
              <a:ext uri="{FF2B5EF4-FFF2-40B4-BE49-F238E27FC236}">
                <a16:creationId xmlns:a16="http://schemas.microsoft.com/office/drawing/2014/main" id="{169B8211-0DBD-45E2-BDF5-225CECC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7A78"/>
            </a:solidFill>
            <a:prstDash val="solid"/>
          </a:ln>
        </p:spPr>
      </p:sp>
      <p:sp>
        <p:nvSpPr>
          <p:cNvPr id="24" name="boot-head-4">
            <a:extLst xmlns:a="http://schemas.openxmlformats.org/drawingml/2006/main">
              <a:ext uri="{FF2B5EF4-FFF2-40B4-BE49-F238E27FC236}">
                <a16:creationId xmlns:a16="http://schemas.microsoft.com/office/drawing/2014/main" id="{45705340-926F-475F-BFEF-5300109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用户态与评测</a:t>
            </a:r>
          </a:p>
        </p:txBody>
      </p:sp>
      <p:sp>
        <p:nvSpPr>
          <p:cNvPr id="25" name="boot-body-4">
            <a:extLst xmlns:a="http://schemas.openxmlformats.org/drawingml/2006/main">
              <a:ext uri="{FF2B5EF4-FFF2-40B4-BE49-F238E27FC236}">
                <a16:creationId xmlns:a16="http://schemas.microsoft.com/office/drawing/2014/main" id="{CCDAD56A-5211-48DA-A2F7-A83DC52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ELF / syscall → CAgent 或 BuildStorm → 关机</a:t>
            </a:r>
          </a:p>
        </p:txBody>
      </p:sp>
    </p:spTree>
    <p:extLst>
      <p:ext uri="{BB962C8B-B14F-4D97-AF65-F5344CB8AC3E}">
        <p14:creationId xmlns:p14="http://schemas.microsoft.com/office/powerpoint/2010/main" val="692900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5">
            <a:extLst xmlns:a="http://schemas.openxmlformats.org/drawingml/2006/main">
              <a:ext uri="{FF2B5EF4-FFF2-40B4-BE49-F238E27FC236}">
                <a16:creationId xmlns:a16="http://schemas.microsoft.com/office/drawing/2014/main" id="{54568F6A-1E4B-420A-B69E-984C579F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内存管理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3FAF534-2EA7-4743-9C91-6C89719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复杂构建把内存正确性从局部功能变成全链路契约</a:t>
            </a:r>
          </a:p>
        </p:txBody>
      </p:sp>
      <p:sp>
        <p:nvSpPr>
          <p:cNvPr id="3" name="header-line-5">
            <a:extLst xmlns:a="http://schemas.openxmlformats.org/drawingml/2006/main">
              <a:ext uri="{FF2B5EF4-FFF2-40B4-BE49-F238E27FC236}">
                <a16:creationId xmlns:a16="http://schemas.microsoft.com/office/drawing/2014/main" id="{7DF33E72-8922-4B8E-9426-5AFB1DA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AE43A3E5-432E-4077-A379-22C8B95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A8E08BA7-F128-4C0B-B6CA-D093D5E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05</a:t>
            </a:r>
          </a:p>
        </p:txBody>
      </p:sp>
      <p:sp>
        <p:nvSpPr>
          <p:cNvPr id="6" name="mem-left-title">
            <a:extLst xmlns:a="http://schemas.openxmlformats.org/drawingml/2006/main">
              <a:ext uri="{FF2B5EF4-FFF2-40B4-BE49-F238E27FC236}">
                <a16:creationId xmlns:a16="http://schemas.microsoft.com/office/drawing/2014/main" id="{1FE4C8BA-66EA-4570-B8BD-69D40E0E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长期压力</a:t>
            </a:r>
          </a:p>
        </p:txBody>
      </p:sp>
      <p:sp>
        <p:nvSpPr>
          <p:cNvPr id="7" name="mem-left">
            <a:extLst xmlns:a="http://schemas.openxmlformats.org/drawingml/2006/main">
              <a:ext uri="{FF2B5EF4-FFF2-40B4-BE49-F238E27FC236}">
                <a16:creationId xmlns:a16="http://schemas.microsoft.com/office/drawing/2014/main" id="{E53C4C33-F982-4164-A203-58045E68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数万次 mmap / munmap / mprotect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大量共享对象与 allocator arena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动态链接器使用 MAP_FIXED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链接器通过 MAP_SHARED 写输出文件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八核同时装载同一用户地址空间</a:t>
            </a:r>
          </a:p>
        </p:txBody>
      </p:sp>
      <p:sp>
        <p:nvSpPr>
          <p:cNvPr id="8" name="mem-divider">
            <a:extLst xmlns:a="http://schemas.openxmlformats.org/drawingml/2006/main">
              <a:ext uri="{FF2B5EF4-FFF2-40B4-BE49-F238E27FC236}">
                <a16:creationId xmlns:a16="http://schemas.microsoft.com/office/drawing/2014/main" id="{9A83397B-D676-4D19-BEBC-3A9F6D95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0" cy="3762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9" name="mem-right-title">
            <a:extLst xmlns:a="http://schemas.openxmlformats.org/drawingml/2006/main">
              <a:ext uri="{FF2B5EF4-FFF2-40B4-BE49-F238E27FC236}">
                <a16:creationId xmlns:a16="http://schemas.microsoft.com/office/drawing/2014/main" id="{EAC62065-568C-4758-9926-CAB27DDF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实现约束</a:t>
            </a:r>
          </a:p>
        </p:txBody>
      </p:sp>
      <p:sp>
        <p:nvSpPr>
          <p:cNvPr id="10" name="mem-right">
            <a:extLst xmlns:a="http://schemas.openxmlformats.org/drawingml/2006/main">
              <a:ext uri="{FF2B5EF4-FFF2-40B4-BE49-F238E27FC236}">
                <a16:creationId xmlns:a16="http://schemas.microsoft.com/office/drawing/2014/main" id="{09D74006-CFAE-4794-A487-D487CCC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VMA 容量扩展到 65,536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MAP_FIXED 先验证、后原子替换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页表退休等待跨核 TLB 完成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PROT_NONE 与 MADV_DONTNEED 保持语义</a:t>
            </a:r>
          </a:p>
          <a:p xmlns:a="http://schemas.openxmlformats.org/drawingml/2006/main">
            <a:pPr algn="l">
              <a:defRPr sz="1500" b="0">
                <a:solidFill>
                  <a:srgbClr val="1D2B34"/>
                </a:solidFill>
              </a:defRPr>
            </a:pPr>
            <a:r>
              <a:rPr sz="1500" b="0">
                <a:solidFill>
                  <a:srgbClr val="1D2B34"/>
                </a:solidFill>
              </a:rPr>
              <a:t>• 共享文件映射在 munmap 前写回</a:t>
            </a:r>
          </a:p>
        </p:txBody>
      </p:sp>
      <p:sp>
        <p:nvSpPr>
          <p:cNvPr id="11" name="mem-callout">
            <a:extLst xmlns:a="http://schemas.openxmlformats.org/drawingml/2006/main">
              <a:ext uri="{FF2B5EF4-FFF2-40B4-BE49-F238E27FC236}">
                <a16:creationId xmlns:a16="http://schemas.microsoft.com/office/drawing/2014/main" id="{263733DE-1697-4DA7-8214-AF666DD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63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m-callout-text">
            <a:extLst xmlns:a="http://schemas.openxmlformats.org/drawingml/2006/main">
              <a:ext uri="{FF2B5EF4-FFF2-40B4-BE49-F238E27FC236}">
                <a16:creationId xmlns:a16="http://schemas.microsoft.com/office/drawing/2014/main" id="{23A899F3-D2DC-48C0-81A5-BC77A33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关键判断：文件长度正确并不代表内容正确。最终修复补齐了 MM 与 VFS 之间的共享映射写回边界。</a:t>
            </a:r>
          </a:p>
        </p:txBody>
      </p:sp>
    </p:spTree>
    <p:extLst>
      <p:ext uri="{BB962C8B-B14F-4D97-AF65-F5344CB8AC3E}">
        <p14:creationId xmlns:p14="http://schemas.microsoft.com/office/powerpoint/2010/main" val="2045868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6">
            <a:extLst xmlns:a="http://schemas.openxmlformats.org/drawingml/2006/main">
              <a:ext uri="{FF2B5EF4-FFF2-40B4-BE49-F238E27FC236}">
                <a16:creationId xmlns:a16="http://schemas.microsoft.com/office/drawing/2014/main" id="{751EE1F8-061B-4B5F-8438-8682E7F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SMP 与进程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9C5E9A4-EC21-49AA-B47B-5663C20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线程退出、等待唤醒与栈回收必须保持严格次序</a:t>
            </a:r>
          </a:p>
        </p:txBody>
      </p:sp>
      <p:sp>
        <p:nvSpPr>
          <p:cNvPr id="3" name="header-line-6">
            <a:extLst xmlns:a="http://schemas.openxmlformats.org/drawingml/2006/main">
              <a:ext uri="{FF2B5EF4-FFF2-40B4-BE49-F238E27FC236}">
                <a16:creationId xmlns:a16="http://schemas.microsoft.com/office/drawing/2014/main" id="{41C6B505-53B0-4DF4-BB28-A3676C2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65A6DAC7-3FE1-4045-8088-6AEC8EAC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DA9A1F99-667F-49E9-8DCC-6FD0E48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06</a:t>
            </a:r>
          </a:p>
        </p:txBody>
      </p:sp>
      <p:sp>
        <p:nvSpPr>
          <p:cNvPr id="6" name="exit-line">
            <a:extLst xmlns:a="http://schemas.openxmlformats.org/drawingml/2006/main">
              <a:ext uri="{FF2B5EF4-FFF2-40B4-BE49-F238E27FC236}">
                <a16:creationId xmlns:a16="http://schemas.microsoft.com/office/drawing/2014/main" id="{438B16F7-A059-4EB1-9C6E-686EB08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24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D8"/>
            </a:solidFill>
            <a:prstDash val="solid"/>
          </a:ln>
        </p:spPr>
      </p:sp>
      <p:sp>
        <p:nvSpPr>
          <p:cNvPr id="7" name="exit-dot-0">
            <a:extLst xmlns:a="http://schemas.openxmlformats.org/drawingml/2006/main">
              <a:ext uri="{FF2B5EF4-FFF2-40B4-BE49-F238E27FC236}">
                <a16:creationId xmlns:a16="http://schemas.microsoft.com/office/drawing/2014/main" id="{66B9C8C2-330F-4203-B733-7609212C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it-title-0">
            <a:extLst xmlns:a="http://schemas.openxmlformats.org/drawingml/2006/main">
              <a:ext uri="{FF2B5EF4-FFF2-40B4-BE49-F238E27FC236}">
                <a16:creationId xmlns:a16="http://schemas.microsoft.com/office/drawing/2014/main" id="{6D178323-80CF-4069-97C0-73319B34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发布退出</a:t>
            </a:r>
          </a:p>
        </p:txBody>
      </p:sp>
      <p:sp>
        <p:nvSpPr>
          <p:cNvPr id="9" name="exit-sub-0">
            <a:extLst xmlns:a="http://schemas.openxmlformats.org/drawingml/2006/main">
              <a:ext uri="{FF2B5EF4-FFF2-40B4-BE49-F238E27FC236}">
                <a16:creationId xmlns:a16="http://schemas.microsoft.com/office/drawing/2014/main" id="{F3BEDF6B-18BC-4BC8-9CB2-29C9C9C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group-exit</a:t>
            </a:r>
          </a:p>
        </p:txBody>
      </p:sp>
      <p:sp>
        <p:nvSpPr>
          <p:cNvPr id="10" name="exit-dot-1">
            <a:extLst xmlns:a="http://schemas.openxmlformats.org/drawingml/2006/main">
              <a:ext uri="{FF2B5EF4-FFF2-40B4-BE49-F238E27FC236}">
                <a16:creationId xmlns:a16="http://schemas.microsoft.com/office/drawing/2014/main" id="{10DDEA8B-B02D-46FB-9093-BD0E5F9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it-title-1">
            <a:extLst xmlns:a="http://schemas.openxmlformats.org/drawingml/2006/main">
              <a:ext uri="{FF2B5EF4-FFF2-40B4-BE49-F238E27FC236}">
                <a16:creationId xmlns:a16="http://schemas.microsoft.com/office/drawing/2014/main" id="{58E0C440-B49F-4EDA-AB8D-487E7B7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242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关闭文件</a:t>
            </a:r>
          </a:p>
        </p:txBody>
      </p:sp>
      <p:sp>
        <p:nvSpPr>
          <p:cNvPr id="12" name="exit-sub-1">
            <a:extLst xmlns:a="http://schemas.openxmlformats.org/drawingml/2006/main">
              <a:ext uri="{FF2B5EF4-FFF2-40B4-BE49-F238E27FC236}">
                <a16:creationId xmlns:a16="http://schemas.microsoft.com/office/drawing/2014/main" id="{052EDDD1-968A-4E71-8161-242C66B7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243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process_exit</a:t>
            </a:r>
          </a:p>
        </p:txBody>
      </p:sp>
      <p:sp>
        <p:nvSpPr>
          <p:cNvPr id="13" name="exit-dot-2">
            <a:extLst xmlns:a="http://schemas.openxmlformats.org/drawingml/2006/main">
              <a:ext uri="{FF2B5EF4-FFF2-40B4-BE49-F238E27FC236}">
                <a16:creationId xmlns:a16="http://schemas.microsoft.com/office/drawing/2014/main" id="{6C6DE5C5-47F3-4071-B340-CB00E880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it-title-2">
            <a:extLst xmlns:a="http://schemas.openxmlformats.org/drawingml/2006/main">
              <a:ext uri="{FF2B5EF4-FFF2-40B4-BE49-F238E27FC236}">
                <a16:creationId xmlns:a16="http://schemas.microsoft.com/office/drawing/2014/main" id="{F7A63748-C491-4B6C-B413-F4A7C59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242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同步清理</a:t>
            </a:r>
          </a:p>
        </p:txBody>
      </p:sp>
      <p:sp>
        <p:nvSpPr>
          <p:cNvPr id="15" name="exit-sub-2">
            <a:extLst xmlns:a="http://schemas.openxmlformats.org/drawingml/2006/main">
              <a:ext uri="{FF2B5EF4-FFF2-40B4-BE49-F238E27FC236}">
                <a16:creationId xmlns:a16="http://schemas.microsoft.com/office/drawing/2014/main" id="{A982022E-6C41-4609-8626-2A8AB11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3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robust / ctid</a:t>
            </a:r>
          </a:p>
        </p:txBody>
      </p:sp>
      <p:sp>
        <p:nvSpPr>
          <p:cNvPr id="16" name="exit-dot-3">
            <a:extLst xmlns:a="http://schemas.openxmlformats.org/drawingml/2006/main">
              <a:ext uri="{FF2B5EF4-FFF2-40B4-BE49-F238E27FC236}">
                <a16:creationId xmlns:a16="http://schemas.microsoft.com/office/drawing/2014/main" id="{ED45D71D-50F3-4E0A-A221-E147B1E4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813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it-title-3">
            <a:extLst xmlns:a="http://schemas.openxmlformats.org/drawingml/2006/main">
              <a:ext uri="{FF2B5EF4-FFF2-40B4-BE49-F238E27FC236}">
                <a16:creationId xmlns:a16="http://schemas.microsoft.com/office/drawing/2014/main" id="{3F0C7566-99D8-44A5-8095-688E5CC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242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形成 zombie</a:t>
            </a:r>
          </a:p>
        </p:txBody>
      </p:sp>
      <p:sp>
        <p:nvSpPr>
          <p:cNvPr id="18" name="exit-sub-3">
            <a:extLst xmlns:a="http://schemas.openxmlformats.org/drawingml/2006/main">
              <a:ext uri="{FF2B5EF4-FFF2-40B4-BE49-F238E27FC236}">
                <a16:creationId xmlns:a16="http://schemas.microsoft.com/office/drawing/2014/main" id="{240961E8-D58B-461F-92CF-A5106D8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SIGCHLD / wait4</a:t>
            </a:r>
          </a:p>
        </p:txBody>
      </p:sp>
      <p:sp>
        <p:nvSpPr>
          <p:cNvPr id="19" name="exit-dot-4">
            <a:extLst xmlns:a="http://schemas.openxmlformats.org/drawingml/2006/main">
              <a:ext uri="{FF2B5EF4-FFF2-40B4-BE49-F238E27FC236}">
                <a16:creationId xmlns:a16="http://schemas.microsoft.com/office/drawing/2014/main" id="{9CF5E7DD-B587-45A9-A597-20C6F5B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813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it-title-4">
            <a:extLst xmlns:a="http://schemas.openxmlformats.org/drawingml/2006/main">
              <a:ext uri="{FF2B5EF4-FFF2-40B4-BE49-F238E27FC236}">
                <a16:creationId xmlns:a16="http://schemas.microsoft.com/office/drawing/2014/main" id="{DCD70FC1-5E86-4482-AD30-F1DE471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安全回收</a:t>
            </a:r>
          </a:p>
        </p:txBody>
      </p:sp>
      <p:sp>
        <p:nvSpPr>
          <p:cNvPr id="21" name="exit-sub-4">
            <a:extLst xmlns:a="http://schemas.openxmlformats.org/drawingml/2006/main">
              <a:ext uri="{FF2B5EF4-FFF2-40B4-BE49-F238E27FC236}">
                <a16:creationId xmlns:a16="http://schemas.microsoft.com/office/drawing/2014/main" id="{C78A4AE0-832D-4098-8B0D-273A0DEC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243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reaper / stack</a:t>
            </a:r>
          </a:p>
        </p:txBody>
      </p:sp>
      <p:sp>
        <p:nvSpPr>
          <p:cNvPr id="22" name="exit-lead">
            <a:extLst xmlns:a="http://schemas.openxmlformats.org/drawingml/2006/main">
              <a:ext uri="{FF2B5EF4-FFF2-40B4-BE49-F238E27FC236}">
                <a16:creationId xmlns:a16="http://schemas.microsoft.com/office/drawing/2014/main" id="{F604559B-9C33-4DEF-B279-178AFFD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2B34"/>
                </a:solidFill>
              </a:defRPr>
            </a:pPr>
            <a:r>
              <a:rPr sz="1650" b="0">
                <a:solidFill>
                  <a:srgbClr val="1D2B34"/>
                </a:solidFill>
              </a:rPr>
              <a:t>Cargo 的父子进程树会持续触发 clone、futex、signal 和 wait；任一发布顺序错误都可能表现为“编译完成但外层永远不返回”。</a:t>
            </a:r>
          </a:p>
        </p:txBody>
      </p:sp>
      <p:sp>
        <p:nvSpPr>
          <p:cNvPr id="23" name="exit-foot">
            <a:extLst xmlns:a="http://schemas.openxmlformats.org/drawingml/2006/main">
              <a:ext uri="{FF2B5EF4-FFF2-40B4-BE49-F238E27FC236}">
                <a16:creationId xmlns:a16="http://schemas.microsoft.com/office/drawing/2014/main" id="{A8122D6C-7CA2-4C05-8CDF-2A73FC8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17C"/>
                </a:solidFill>
              </a:defRPr>
            </a:pPr>
            <a:r>
              <a:rPr sz="1500" b="0">
                <a:solidFill>
                  <a:srgbClr val="61717C"/>
                </a:solidFill>
              </a:rPr>
              <a:t>用户 MM、当前 CPU、硬件页表根与 active CPU mask 同步更新；退出任务的内核栈只由其他安全上下文释放。</a:t>
            </a:r>
          </a:p>
        </p:txBody>
      </p:sp>
    </p:spTree>
    <p:extLst>
      <p:ext uri="{BB962C8B-B14F-4D97-AF65-F5344CB8AC3E}">
        <p14:creationId xmlns:p14="http://schemas.microsoft.com/office/powerpoint/2010/main" val="215449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7">
            <a:extLst xmlns:a="http://schemas.openxmlformats.org/drawingml/2006/main">
              <a:ext uri="{FF2B5EF4-FFF2-40B4-BE49-F238E27FC236}">
                <a16:creationId xmlns:a16="http://schemas.microsoft.com/office/drawing/2014/main" id="{C69572A4-E856-43B9-AD06-EB48DAD7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用户态兼容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927709E-C2FB-457C-B23D-6B0A347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统一 asm-generic ABI 支撑 glibc、BusyBox 与 Rust 工具链</a:t>
            </a:r>
          </a:p>
        </p:txBody>
      </p:sp>
      <p:sp>
        <p:nvSpPr>
          <p:cNvPr id="3" name="header-line-7">
            <a:extLst xmlns:a="http://schemas.openxmlformats.org/drawingml/2006/main">
              <a:ext uri="{FF2B5EF4-FFF2-40B4-BE49-F238E27FC236}">
                <a16:creationId xmlns:a16="http://schemas.microsoft.com/office/drawing/2014/main" id="{F01D114B-8BB5-4FFF-8DA9-13BC1A67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321998A-5BA5-4677-9DDD-1021FD89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9FBEC528-5A28-4CCF-B461-4C45FB96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07</a:t>
            </a:r>
          </a:p>
        </p:txBody>
      </p:sp>
      <p:sp>
        <p:nvSpPr>
          <p:cNvPr id="6" name="abi-kind-0">
            <a:extLst xmlns:a="http://schemas.openxmlformats.org/drawingml/2006/main">
              <a:ext uri="{FF2B5EF4-FFF2-40B4-BE49-F238E27FC236}">
                <a16:creationId xmlns:a16="http://schemas.microsoft.com/office/drawing/2014/main" id="{B4880601-3DD6-4D5F-AFBE-7822AC31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文件 / VFS</a:t>
            </a:r>
          </a:p>
        </p:txBody>
      </p:sp>
      <p:sp>
        <p:nvSpPr>
          <p:cNvPr id="7" name="abi-api-0">
            <a:extLst xmlns:a="http://schemas.openxmlformats.org/drawingml/2006/main">
              <a:ext uri="{FF2B5EF4-FFF2-40B4-BE49-F238E27FC236}">
                <a16:creationId xmlns:a16="http://schemas.microsoft.com/office/drawing/2014/main" id="{05A634AA-6772-427B-AB17-63D5AEB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19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openat · read/write · statx · getdents64 · renameat2</a:t>
            </a:r>
          </a:p>
        </p:txBody>
      </p:sp>
      <p:sp>
        <p:nvSpPr>
          <p:cNvPr id="8" name="abi-line-0">
            <a:extLst xmlns:a="http://schemas.openxmlformats.org/drawingml/2006/main">
              <a:ext uri="{FF2B5EF4-FFF2-40B4-BE49-F238E27FC236}">
                <a16:creationId xmlns:a16="http://schemas.microsoft.com/office/drawing/2014/main" id="{E4000656-0D73-4AEC-80A3-3A5F293A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9" name="abi-kind-1">
            <a:extLst xmlns:a="http://schemas.openxmlformats.org/drawingml/2006/main">
              <a:ext uri="{FF2B5EF4-FFF2-40B4-BE49-F238E27FC236}">
                <a16:creationId xmlns:a16="http://schemas.microsoft.com/office/drawing/2014/main" id="{9DAAF03D-4259-4298-94B0-10A9E872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内存</a:t>
            </a:r>
          </a:p>
        </p:txBody>
      </p:sp>
      <p:sp>
        <p:nvSpPr>
          <p:cNvPr id="10" name="abi-api-1">
            <a:extLst xmlns:a="http://schemas.openxmlformats.org/drawingml/2006/main">
              <a:ext uri="{FF2B5EF4-FFF2-40B4-BE49-F238E27FC236}">
                <a16:creationId xmlns:a16="http://schemas.microsoft.com/office/drawing/2014/main" id="{AEFA4B33-1D3B-4979-A440-B4D5716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brk · mmap · munmap · mremap · mprotect · madvise</a:t>
            </a:r>
          </a:p>
        </p:txBody>
      </p:sp>
      <p:sp>
        <p:nvSpPr>
          <p:cNvPr id="11" name="abi-line-1">
            <a:extLst xmlns:a="http://schemas.openxmlformats.org/drawingml/2006/main">
              <a:ext uri="{FF2B5EF4-FFF2-40B4-BE49-F238E27FC236}">
                <a16:creationId xmlns:a16="http://schemas.microsoft.com/office/drawing/2014/main" id="{B47D1DA4-8832-4AFB-9190-1ECCD393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2" name="abi-kind-2">
            <a:extLst xmlns:a="http://schemas.openxmlformats.org/drawingml/2006/main">
              <a:ext uri="{FF2B5EF4-FFF2-40B4-BE49-F238E27FC236}">
                <a16:creationId xmlns:a16="http://schemas.microsoft.com/office/drawing/2014/main" id="{AB7C1F28-DEE3-4865-8B0B-B2E13FB6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进程线程</a:t>
            </a:r>
          </a:p>
        </p:txBody>
      </p:sp>
      <p:sp>
        <p:nvSpPr>
          <p:cNvPr id="13" name="abi-api-2">
            <a:extLst xmlns:a="http://schemas.openxmlformats.org/drawingml/2006/main">
              <a:ext uri="{FF2B5EF4-FFF2-40B4-BE49-F238E27FC236}">
                <a16:creationId xmlns:a16="http://schemas.microsoft.com/office/drawing/2014/main" id="{A46FE0AE-2D84-4AB2-84EB-E405A015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527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clone/clone3 · execve · wait4 · futex · robust list</a:t>
            </a:r>
          </a:p>
        </p:txBody>
      </p:sp>
      <p:sp>
        <p:nvSpPr>
          <p:cNvPr id="14" name="abi-line-2">
            <a:extLst xmlns:a="http://schemas.openxmlformats.org/drawingml/2006/main">
              <a:ext uri="{FF2B5EF4-FFF2-40B4-BE49-F238E27FC236}">
                <a16:creationId xmlns:a16="http://schemas.microsoft.com/office/drawing/2014/main" id="{3B52EB79-2D2E-4BB3-AFC0-01B95A30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5" name="abi-kind-3">
            <a:extLst xmlns:a="http://schemas.openxmlformats.org/drawingml/2006/main">
              <a:ext uri="{FF2B5EF4-FFF2-40B4-BE49-F238E27FC236}">
                <a16:creationId xmlns:a16="http://schemas.microsoft.com/office/drawing/2014/main" id="{DD2A22B2-E624-480F-898C-5CD751E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信号与时间</a:t>
            </a:r>
          </a:p>
        </p:txBody>
      </p:sp>
      <p:sp>
        <p:nvSpPr>
          <p:cNvPr id="16" name="abi-api-3">
            <a:extLst xmlns:a="http://schemas.openxmlformats.org/drawingml/2006/main">
              <a:ext uri="{FF2B5EF4-FFF2-40B4-BE49-F238E27FC236}">
                <a16:creationId xmlns:a16="http://schemas.microsoft.com/office/drawing/2014/main" id="{9442F212-ADDE-4B9D-B629-D61EB809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19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rt_sig* · tgkill · clock_gettime · nanosleep · setitimer</a:t>
            </a:r>
          </a:p>
        </p:txBody>
      </p:sp>
      <p:sp>
        <p:nvSpPr>
          <p:cNvPr id="17" name="abi-line-3">
            <a:extLst xmlns:a="http://schemas.openxmlformats.org/drawingml/2006/main">
              <a:ext uri="{FF2B5EF4-FFF2-40B4-BE49-F238E27FC236}">
                <a16:creationId xmlns:a16="http://schemas.microsoft.com/office/drawing/2014/main" id="{5C4DC4F2-71C9-4673-82C0-68F4DB6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8" name="abi-kind-4">
            <a:extLst xmlns:a="http://schemas.openxmlformats.org/drawingml/2006/main">
              <a:ext uri="{FF2B5EF4-FFF2-40B4-BE49-F238E27FC236}">
                <a16:creationId xmlns:a16="http://schemas.microsoft.com/office/drawing/2014/main" id="{54B22869-C39C-4686-98D2-C90C175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并发与 I/O</a:t>
            </a:r>
          </a:p>
        </p:txBody>
      </p:sp>
      <p:sp>
        <p:nvSpPr>
          <p:cNvPr id="19" name="abi-api-4">
            <a:extLst xmlns:a="http://schemas.openxmlformats.org/drawingml/2006/main">
              <a:ext uri="{FF2B5EF4-FFF2-40B4-BE49-F238E27FC236}">
                <a16:creationId xmlns:a16="http://schemas.microsoft.com/office/drawing/2014/main" id="{8DFA3E43-725A-4D0A-945D-A8B1D58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eventfd · epoll · ppoll · pipe2 · socketpair</a:t>
            </a:r>
          </a:p>
        </p:txBody>
      </p:sp>
      <p:sp>
        <p:nvSpPr>
          <p:cNvPr id="20" name="abi-line-4">
            <a:extLst xmlns:a="http://schemas.openxmlformats.org/drawingml/2006/main">
              <a:ext uri="{FF2B5EF4-FFF2-40B4-BE49-F238E27FC236}">
                <a16:creationId xmlns:a16="http://schemas.microsoft.com/office/drawing/2014/main" id="{59EECFDF-3424-4933-9606-A481624B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21" name="abi-kind-5">
            <a:extLst xmlns:a="http://schemas.openxmlformats.org/drawingml/2006/main">
              <a:ext uri="{FF2B5EF4-FFF2-40B4-BE49-F238E27FC236}">
                <a16:creationId xmlns:a16="http://schemas.microsoft.com/office/drawing/2014/main" id="{8F1B03EF-2C68-42A9-9A6A-AE21A6C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7A78"/>
                </a:solidFill>
              </a:defRPr>
            </a:pPr>
            <a:r>
              <a:rPr sz="1500" b="1">
                <a:solidFill>
                  <a:srgbClr val="2B7A78"/>
                </a:solidFill>
              </a:rPr>
              <a:t>网络</a:t>
            </a:r>
          </a:p>
        </p:txBody>
      </p:sp>
      <p:sp>
        <p:nvSpPr>
          <p:cNvPr id="22" name="abi-api-5">
            <a:extLst xmlns:a="http://schemas.openxmlformats.org/drawingml/2006/main">
              <a:ext uri="{FF2B5EF4-FFF2-40B4-BE49-F238E27FC236}">
                <a16:creationId xmlns:a16="http://schemas.microsoft.com/office/drawing/2014/main" id="{AF043EF3-4DBD-4A64-8EDD-E4609B6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53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socket · bind/listen/accept · connect · sendmsg/recvmsg</a:t>
            </a:r>
          </a:p>
        </p:txBody>
      </p:sp>
      <p:sp>
        <p:nvSpPr>
          <p:cNvPr id="23" name="abi-line-5">
            <a:extLst xmlns:a="http://schemas.openxmlformats.org/drawingml/2006/main">
              <a:ext uri="{FF2B5EF4-FFF2-40B4-BE49-F238E27FC236}">
                <a16:creationId xmlns:a16="http://schemas.microsoft.com/office/drawing/2014/main" id="{FD825D01-2096-489E-AF7D-2A1E0E4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24" name="abi-note">
            <a:extLst xmlns:a="http://schemas.openxmlformats.org/drawingml/2006/main">
              <a:ext uri="{FF2B5EF4-FFF2-40B4-BE49-F238E27FC236}">
                <a16:creationId xmlns:a16="http://schemas.microsoft.com/office/drawing/2014/main" id="{7B5B437A-10B8-4C79-BF17-5EC054B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系统调用编号与寄存器约定集中在 syscall.rs，架构层只负责 decode、PC 前移和返回值写回。</a:t>
            </a:r>
          </a:p>
        </p:txBody>
      </p:sp>
    </p:spTree>
    <p:extLst>
      <p:ext uri="{BB962C8B-B14F-4D97-AF65-F5344CB8AC3E}">
        <p14:creationId xmlns:p14="http://schemas.microsoft.com/office/powerpoint/2010/main" val="210693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8">
            <a:extLst xmlns:a="http://schemas.openxmlformats.org/drawingml/2006/main">
              <a:ext uri="{FF2B5EF4-FFF2-40B4-BE49-F238E27FC236}">
                <a16:creationId xmlns:a16="http://schemas.microsoft.com/office/drawing/2014/main" id="{DAD11283-E992-45CF-83CB-90CEA59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VFS 与 BuildStorm I/O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1BFBF92-F28B-4371-9103-5E7A366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ext4 提供完整镜像，tmpfs 承担编译热点，精确产物再回到正式路径</a:t>
            </a:r>
          </a:p>
        </p:txBody>
      </p:sp>
      <p:sp>
        <p:nvSpPr>
          <p:cNvPr id="3" name="header-line-8">
            <a:extLst xmlns:a="http://schemas.openxmlformats.org/drawingml/2006/main">
              <a:ext uri="{FF2B5EF4-FFF2-40B4-BE49-F238E27FC236}">
                <a16:creationId xmlns:a16="http://schemas.microsoft.com/office/drawing/2014/main" id="{1604434E-B9D1-4CFD-9B48-B76C34C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03EB604-D6A5-48E0-9866-FA20B88D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9B429C3A-F563-437D-A376-CC3CFE4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08</a:t>
            </a:r>
          </a:p>
        </p:txBody>
      </p:sp>
      <p:sp>
        <p:nvSpPr>
          <p:cNvPr id="6" name="io-a1">
            <a:extLst xmlns:a="http://schemas.openxmlformats.org/drawingml/2006/main">
              <a:ext uri="{FF2B5EF4-FFF2-40B4-BE49-F238E27FC236}">
                <a16:creationId xmlns:a16="http://schemas.microsoft.com/office/drawing/2014/main" id="{9207AE8B-1D22-4060-A392-E6B30113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7A78"/>
            </a:solidFill>
            <a:prstDash val="solid"/>
          </a:ln>
        </p:spPr>
      </p:sp>
      <p:sp>
        <p:nvSpPr>
          <p:cNvPr id="7" name="io-a2">
            <a:extLst xmlns:a="http://schemas.openxmlformats.org/drawingml/2006/main">
              <a:ext uri="{FF2B5EF4-FFF2-40B4-BE49-F238E27FC236}">
                <a16:creationId xmlns:a16="http://schemas.microsoft.com/office/drawing/2014/main" id="{945B4EA7-97EA-4E0A-8099-66B3401E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432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7A78"/>
            </a:solidFill>
            <a:prstDash val="solid"/>
          </a:ln>
        </p:spPr>
      </p:sp>
      <p:sp>
        <p:nvSpPr>
          <p:cNvPr id="8" name="io-a3">
            <a:extLst xmlns:a="http://schemas.openxmlformats.org/drawingml/2006/main">
              <a:ext uri="{FF2B5EF4-FFF2-40B4-BE49-F238E27FC236}">
                <a16:creationId xmlns:a16="http://schemas.microsoft.com/office/drawing/2014/main" id="{AC321916-3A57-48AC-913E-198D3B1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7A78"/>
            </a:solidFill>
            <a:prstDash val="solid"/>
          </a:ln>
        </p:spPr>
      </p:sp>
      <p:sp>
        <p:nvSpPr>
          <p:cNvPr id="9" name="io-node-0">
            <a:extLst xmlns:a="http://schemas.openxmlformats.org/drawingml/2006/main">
              <a:ext uri="{FF2B5EF4-FFF2-40B4-BE49-F238E27FC236}">
                <a16:creationId xmlns:a16="http://schemas.microsoft.com/office/drawing/2014/main" id="{3CFE5B31-5665-45CC-AC16-0CDDA63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官方 ext4 镜像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Debian / glibc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Rust / TGOSKits</a:t>
            </a:r>
          </a:p>
        </p:txBody>
      </p:sp>
      <p:sp>
        <p:nvSpPr>
          <p:cNvPr id="10" name="io-node-1">
            <a:extLst xmlns:a="http://schemas.openxmlformats.org/drawingml/2006/main">
              <a:ext uri="{FF2B5EF4-FFF2-40B4-BE49-F238E27FC236}">
                <a16:creationId xmlns:a16="http://schemas.microsoft.com/office/drawing/2014/main" id="{00E2D3BE-24EA-4CDD-9592-9EC1FDF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按需物化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exec / open / stat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只加载需要的路径</a:t>
            </a:r>
          </a:p>
        </p:txBody>
      </p:sp>
      <p:sp>
        <p:nvSpPr>
          <p:cNvPr id="11" name="io-node-2">
            <a:extLst xmlns:a="http://schemas.openxmlformats.org/drawingml/2006/main">
              <a:ext uri="{FF2B5EF4-FFF2-40B4-BE49-F238E27FC236}">
                <a16:creationId xmlns:a16="http://schemas.microsoft.com/office/drawing/2014/main" id="{53ABC7DF-CB5B-44BE-B833-77C8351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9525">
            <a:solidFill>
              <a:srgbClr val="2B7A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tmpfs target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数百 crate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高频小文件与链接</a:t>
            </a:r>
          </a:p>
        </p:txBody>
      </p:sp>
      <p:sp>
        <p:nvSpPr>
          <p:cNvPr id="12" name="io-node-3">
            <a:extLst xmlns:a="http://schemas.openxmlformats.org/drawingml/2006/main">
              <a:ext uri="{FF2B5EF4-FFF2-40B4-BE49-F238E27FC236}">
                <a16:creationId xmlns:a16="http://schemas.microsoft.com/office/drawing/2014/main" id="{C85E6FA6-88F9-4678-B4EC-1430313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28875"/>
            <a:ext cx="2047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正式产物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精确路径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有效 ELF</a:t>
            </a:r>
          </a:p>
        </p:txBody>
      </p:sp>
      <p:sp>
        <p:nvSpPr>
          <p:cNvPr id="13" name="io-caption">
            <a:extLst xmlns:a="http://schemas.openxmlformats.org/drawingml/2006/main">
              <a:ext uri="{FF2B5EF4-FFF2-40B4-BE49-F238E27FC236}">
                <a16:creationId xmlns:a16="http://schemas.microsoft.com/office/drawing/2014/main" id="{5003B1A1-D781-4065-8DCC-4FC14D7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B34"/>
                </a:solidFill>
              </a:defRPr>
            </a:pPr>
            <a:r>
              <a:rPr sz="1650" b="1">
                <a:solidFill>
                  <a:srgbClr val="1D2B34"/>
                </a:solidFill>
              </a:rPr>
              <a:t>生产路径不修改官方脚本、不跳过真实编译；只改变临时输出所在介质，并在结束时校验路径、大小和 ELF 内容。</a:t>
            </a:r>
          </a:p>
        </p:txBody>
      </p:sp>
    </p:spTree>
    <p:extLst>
      <p:ext uri="{BB962C8B-B14F-4D97-AF65-F5344CB8AC3E}">
        <p14:creationId xmlns:p14="http://schemas.microsoft.com/office/powerpoint/2010/main" val="352778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9">
            <a:extLst xmlns:a="http://schemas.openxmlformats.org/drawingml/2006/main">
              <a:ext uri="{FF2B5EF4-FFF2-40B4-BE49-F238E27FC236}">
                <a16:creationId xmlns:a16="http://schemas.microsoft.com/office/drawing/2014/main" id="{176A4178-5BB8-4B7D-86D7-08B68689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CAgent 结果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D179FF5-0BDC-4F7D-8159-CC3A7744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CAgent 双架构十项全部通过，且均满足时间奖励阈值</a:t>
            </a:r>
          </a:p>
        </p:txBody>
      </p:sp>
      <p:sp>
        <p:nvSpPr>
          <p:cNvPr id="3" name="header-line-9">
            <a:extLst xmlns:a="http://schemas.openxmlformats.org/drawingml/2006/main">
              <a:ext uri="{FF2B5EF4-FFF2-40B4-BE49-F238E27FC236}">
                <a16:creationId xmlns:a16="http://schemas.microsoft.com/office/drawing/2014/main" id="{C63F2A5F-523E-4F9F-8626-4BC9F644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FA3569D4-CA5F-4C75-979B-5608D5E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4098672A-29CC-4E4F-BEFC-75209AB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09</a:t>
            </a:r>
          </a:p>
        </p:txBody>
      </p:sp>
      <p:sp>
        <p:nvSpPr>
          <p:cNvPr id="6" name="cagent-test-0">
            <a:extLst xmlns:a="http://schemas.openxmlformats.org/drawingml/2006/main">
              <a:ext uri="{FF2B5EF4-FFF2-40B4-BE49-F238E27FC236}">
                <a16:creationId xmlns:a16="http://schemas.microsoft.com/office/drawing/2014/main" id="{FDDB593A-8E83-4246-87A9-692AF38B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factorial</a:t>
            </a:r>
          </a:p>
        </p:txBody>
      </p:sp>
      <p:sp>
        <p:nvSpPr>
          <p:cNvPr id="7" name="cagent-line-0">
            <a:extLst xmlns:a="http://schemas.openxmlformats.org/drawingml/2006/main">
              <a:ext uri="{FF2B5EF4-FFF2-40B4-BE49-F238E27FC236}">
                <a16:creationId xmlns:a16="http://schemas.microsoft.com/office/drawing/2014/main" id="{58269929-A67E-43CE-B17E-7179565B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240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8" name="cagent-pass-0">
            <a:extLst xmlns:a="http://schemas.openxmlformats.org/drawingml/2006/main">
              <a:ext uri="{FF2B5EF4-FFF2-40B4-BE49-F238E27FC236}">
                <a16:creationId xmlns:a16="http://schemas.microsoft.com/office/drawing/2014/main" id="{3CDD987F-0791-48DE-9894-07AF0E0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9" name="cagent-test-1">
            <a:extLst xmlns:a="http://schemas.openxmlformats.org/drawingml/2006/main">
              <a:ext uri="{FF2B5EF4-FFF2-40B4-BE49-F238E27FC236}">
                <a16:creationId xmlns:a16="http://schemas.microsoft.com/office/drawing/2014/main" id="{9ACE12AD-AFFE-470B-9AFC-7A44AC3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date</a:t>
            </a:r>
          </a:p>
        </p:txBody>
      </p:sp>
      <p:sp>
        <p:nvSpPr>
          <p:cNvPr id="10" name="cagent-line-1">
            <a:extLst xmlns:a="http://schemas.openxmlformats.org/drawingml/2006/main">
              <a:ext uri="{FF2B5EF4-FFF2-40B4-BE49-F238E27FC236}">
                <a16:creationId xmlns:a16="http://schemas.microsoft.com/office/drawing/2014/main" id="{93C00DC6-0B28-43C5-9A07-79C8007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11" name="cagent-pass-1">
            <a:extLst xmlns:a="http://schemas.openxmlformats.org/drawingml/2006/main">
              <a:ext uri="{FF2B5EF4-FFF2-40B4-BE49-F238E27FC236}">
                <a16:creationId xmlns:a16="http://schemas.microsoft.com/office/drawing/2014/main" id="{695CA7AA-CCF2-47F2-ACD9-0DB44B7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12" name="cagent-test-2">
            <a:extLst xmlns:a="http://schemas.openxmlformats.org/drawingml/2006/main">
              <a:ext uri="{FF2B5EF4-FFF2-40B4-BE49-F238E27FC236}">
                <a16:creationId xmlns:a16="http://schemas.microsoft.com/office/drawing/2014/main" id="{C0FFC9D0-1CEC-4336-8BB2-93A4766C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network</a:t>
            </a:r>
          </a:p>
        </p:txBody>
      </p:sp>
      <p:sp>
        <p:nvSpPr>
          <p:cNvPr id="13" name="cagent-line-2">
            <a:extLst xmlns:a="http://schemas.openxmlformats.org/drawingml/2006/main">
              <a:ext uri="{FF2B5EF4-FFF2-40B4-BE49-F238E27FC236}">
                <a16:creationId xmlns:a16="http://schemas.microsoft.com/office/drawing/2014/main" id="{896B5E3F-EEBE-4644-8D58-F4337CAB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14" name="cagent-pass-2">
            <a:extLst xmlns:a="http://schemas.openxmlformats.org/drawingml/2006/main">
              <a:ext uri="{FF2B5EF4-FFF2-40B4-BE49-F238E27FC236}">
                <a16:creationId xmlns:a16="http://schemas.microsoft.com/office/drawing/2014/main" id="{B60BAC75-6BEC-49EB-83B8-70FAF977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15" name="cagent-test-3">
            <a:extLst xmlns:a="http://schemas.openxmlformats.org/drawingml/2006/main">
              <a:ext uri="{FF2B5EF4-FFF2-40B4-BE49-F238E27FC236}">
                <a16:creationId xmlns:a16="http://schemas.microsoft.com/office/drawing/2014/main" id="{63379DCF-65AA-4F0C-896E-64F8BDF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cpu</a:t>
            </a:r>
          </a:p>
        </p:txBody>
      </p:sp>
      <p:sp>
        <p:nvSpPr>
          <p:cNvPr id="16" name="cagent-line-3">
            <a:extLst xmlns:a="http://schemas.openxmlformats.org/drawingml/2006/main">
              <a:ext uri="{FF2B5EF4-FFF2-40B4-BE49-F238E27FC236}">
                <a16:creationId xmlns:a16="http://schemas.microsoft.com/office/drawing/2014/main" id="{34853621-20CE-4323-8FBE-68F2D04D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17" name="cagent-pass-3">
            <a:extLst xmlns:a="http://schemas.openxmlformats.org/drawingml/2006/main">
              <a:ext uri="{FF2B5EF4-FFF2-40B4-BE49-F238E27FC236}">
                <a16:creationId xmlns:a16="http://schemas.microsoft.com/office/drawing/2014/main" id="{745C4E11-FAE4-4579-9E47-D5BDDAB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18" name="cagent-test-4">
            <a:extLst xmlns:a="http://schemas.openxmlformats.org/drawingml/2006/main">
              <a:ext uri="{FF2B5EF4-FFF2-40B4-BE49-F238E27FC236}">
                <a16:creationId xmlns:a16="http://schemas.microsoft.com/office/drawing/2014/main" id="{3168A0B6-E6B0-4AB6-B379-5C69A04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9" name="cagent-line-4">
            <a:extLst xmlns:a="http://schemas.openxmlformats.org/drawingml/2006/main">
              <a:ext uri="{FF2B5EF4-FFF2-40B4-BE49-F238E27FC236}">
                <a16:creationId xmlns:a16="http://schemas.microsoft.com/office/drawing/2014/main" id="{52B2DC92-3425-4320-A017-20A3ED21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20" name="cagent-pass-4">
            <a:extLst xmlns:a="http://schemas.openxmlformats.org/drawingml/2006/main">
              <a:ext uri="{FF2B5EF4-FFF2-40B4-BE49-F238E27FC236}">
                <a16:creationId xmlns:a16="http://schemas.microsoft.com/office/drawing/2014/main" id="{D8FAAC1B-4E5B-46A1-9A96-F108087E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21" name="cagent-test-5">
            <a:extLst xmlns:a="http://schemas.openxmlformats.org/drawingml/2006/main">
              <a:ext uri="{FF2B5EF4-FFF2-40B4-BE49-F238E27FC236}">
                <a16:creationId xmlns:a16="http://schemas.microsoft.com/office/drawing/2014/main" id="{C4A53F41-3627-4F16-8127-B95BC2B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fs-create</a:t>
            </a:r>
          </a:p>
        </p:txBody>
      </p:sp>
      <p:sp>
        <p:nvSpPr>
          <p:cNvPr id="22" name="cagent-line-5">
            <a:extLst xmlns:a="http://schemas.openxmlformats.org/drawingml/2006/main">
              <a:ext uri="{FF2B5EF4-FFF2-40B4-BE49-F238E27FC236}">
                <a16:creationId xmlns:a16="http://schemas.microsoft.com/office/drawing/2014/main" id="{85A26E02-C809-4902-A21B-4A68247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23" name="cagent-pass-5">
            <a:extLst xmlns:a="http://schemas.openxmlformats.org/drawingml/2006/main">
              <a:ext uri="{FF2B5EF4-FFF2-40B4-BE49-F238E27FC236}">
                <a16:creationId xmlns:a16="http://schemas.microsoft.com/office/drawing/2014/main" id="{75E48716-BAC3-49CD-8609-741414E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90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24" name="cagent-test-6">
            <a:extLst xmlns:a="http://schemas.openxmlformats.org/drawingml/2006/main">
              <a:ext uri="{FF2B5EF4-FFF2-40B4-BE49-F238E27FC236}">
                <a16:creationId xmlns:a16="http://schemas.microsoft.com/office/drawing/2014/main" id="{1BDC86FF-562D-47CA-84B0-8CE481D7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fs-readwrite</a:t>
            </a:r>
          </a:p>
        </p:txBody>
      </p:sp>
      <p:sp>
        <p:nvSpPr>
          <p:cNvPr id="25" name="cagent-line-6">
            <a:extLst xmlns:a="http://schemas.openxmlformats.org/drawingml/2006/main">
              <a:ext uri="{FF2B5EF4-FFF2-40B4-BE49-F238E27FC236}">
                <a16:creationId xmlns:a16="http://schemas.microsoft.com/office/drawing/2014/main" id="{E4127949-5380-4DCF-AD5F-AF89424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26" name="cagent-pass-6">
            <a:extLst xmlns:a="http://schemas.openxmlformats.org/drawingml/2006/main">
              <a:ext uri="{FF2B5EF4-FFF2-40B4-BE49-F238E27FC236}">
                <a16:creationId xmlns:a16="http://schemas.microsoft.com/office/drawing/2014/main" id="{0C19FDE1-AB74-439E-BC93-E39E39A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27" name="cagent-test-7">
            <a:extLst xmlns:a="http://schemas.openxmlformats.org/drawingml/2006/main">
              <a:ext uri="{FF2B5EF4-FFF2-40B4-BE49-F238E27FC236}">
                <a16:creationId xmlns:a16="http://schemas.microsoft.com/office/drawing/2014/main" id="{02436711-408D-46B3-8C8D-6D9F01C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62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fs-directory</a:t>
            </a:r>
          </a:p>
        </p:txBody>
      </p:sp>
      <p:sp>
        <p:nvSpPr>
          <p:cNvPr id="28" name="cagent-line-7">
            <a:extLst xmlns:a="http://schemas.openxmlformats.org/drawingml/2006/main">
              <a:ext uri="{FF2B5EF4-FFF2-40B4-BE49-F238E27FC236}">
                <a16:creationId xmlns:a16="http://schemas.microsoft.com/office/drawing/2014/main" id="{BBB697C2-5203-4D32-9524-3EF5DD47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29" name="cagent-pass-7">
            <a:extLst xmlns:a="http://schemas.openxmlformats.org/drawingml/2006/main">
              <a:ext uri="{FF2B5EF4-FFF2-40B4-BE49-F238E27FC236}">
                <a16:creationId xmlns:a16="http://schemas.microsoft.com/office/drawing/2014/main" id="{F6007DDD-0689-4753-8B5A-E49DA58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6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30" name="cagent-test-8">
            <a:extLst xmlns:a="http://schemas.openxmlformats.org/drawingml/2006/main">
              <a:ext uri="{FF2B5EF4-FFF2-40B4-BE49-F238E27FC236}">
                <a16:creationId xmlns:a16="http://schemas.microsoft.com/office/drawing/2014/main" id="{946388CB-D95C-45A8-A994-2E964E2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fs-search</a:t>
            </a:r>
          </a:p>
        </p:txBody>
      </p:sp>
      <p:sp>
        <p:nvSpPr>
          <p:cNvPr id="31" name="cagent-line-8">
            <a:extLst xmlns:a="http://schemas.openxmlformats.org/drawingml/2006/main">
              <a:ext uri="{FF2B5EF4-FFF2-40B4-BE49-F238E27FC236}">
                <a16:creationId xmlns:a16="http://schemas.microsoft.com/office/drawing/2014/main" id="{69FADB56-0F7B-4BD9-945F-61A3871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814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32" name="cagent-pass-8">
            <a:extLst xmlns:a="http://schemas.openxmlformats.org/drawingml/2006/main">
              <a:ext uri="{FF2B5EF4-FFF2-40B4-BE49-F238E27FC236}">
                <a16:creationId xmlns:a16="http://schemas.microsoft.com/office/drawing/2014/main" id="{EF34C940-3BE5-4498-9562-C4E7765B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48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33" name="cagent-test-9">
            <a:extLst xmlns:a="http://schemas.openxmlformats.org/drawingml/2006/main">
              <a:ext uri="{FF2B5EF4-FFF2-40B4-BE49-F238E27FC236}">
                <a16:creationId xmlns:a16="http://schemas.microsoft.com/office/drawing/2014/main" id="{0A1AE27C-EBD5-42A4-9FDA-7775083C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33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fs-usage</a:t>
            </a:r>
          </a:p>
        </p:txBody>
      </p:sp>
      <p:sp>
        <p:nvSpPr>
          <p:cNvPr id="34" name="cagent-line-9">
            <a:extLst xmlns:a="http://schemas.openxmlformats.org/drawingml/2006/main">
              <a:ext uri="{FF2B5EF4-FFF2-40B4-BE49-F238E27FC236}">
                <a16:creationId xmlns:a16="http://schemas.microsoft.com/office/drawing/2014/main" id="{02B91BBC-B651-4793-8338-8C750DD4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672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3D8"/>
            </a:solidFill>
            <a:prstDash val="solid"/>
          </a:ln>
        </p:spPr>
      </p:sp>
      <p:sp>
        <p:nvSpPr>
          <p:cNvPr id="35" name="cagent-pass-9">
            <a:extLst xmlns:a="http://schemas.openxmlformats.org/drawingml/2006/main">
              <a:ext uri="{FF2B5EF4-FFF2-40B4-BE49-F238E27FC236}">
                <a16:creationId xmlns:a16="http://schemas.microsoft.com/office/drawing/2014/main" id="{EE503876-9FC4-4272-A443-83BE72C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33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B7A78"/>
                </a:solidFill>
              </a:defRPr>
            </a:pPr>
            <a:r>
              <a:rPr sz="1200" b="1">
                <a:solidFill>
                  <a:srgbClr val="2B7A78"/>
                </a:solidFill>
              </a:rPr>
              <a:t>RV · LA  PASS</a:t>
            </a:r>
          </a:p>
        </p:txBody>
      </p:sp>
      <p:sp>
        <p:nvSpPr>
          <p:cNvPr id="36" name="cagent-summary">
            <a:extLst xmlns:a="http://schemas.openxmlformats.org/drawingml/2006/main">
              <a:ext uri="{FF2B5EF4-FFF2-40B4-BE49-F238E27FC236}">
                <a16:creationId xmlns:a16="http://schemas.microsoft.com/office/drawing/2014/main" id="{B312BC35-5494-4E04-A5F1-AA459FF0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4775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gent-summary-text">
            <a:extLst xmlns:a="http://schemas.openxmlformats.org/drawingml/2006/main">
              <a:ext uri="{FF2B5EF4-FFF2-40B4-BE49-F238E27FC236}">
                <a16:creationId xmlns:a16="http://schemas.microsoft.com/office/drawing/2014/main" id="{17DB0BBE-6060-4811-9453-9EEB1CB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RISC-V：10 pass / 0 reject      LoongArch：10 pass / 0 reject      官方脚本 exit=0</a:t>
            </a:r>
          </a:p>
        </p:txBody>
      </p:sp>
    </p:spTree>
    <p:extLst>
      <p:ext uri="{BB962C8B-B14F-4D97-AF65-F5344CB8AC3E}">
        <p14:creationId xmlns:p14="http://schemas.microsoft.com/office/powerpoint/2010/main" val="692697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0">
            <a:extLst xmlns:a="http://schemas.openxmlformats.org/drawingml/2006/main">
              <a:ext uri="{FF2B5EF4-FFF2-40B4-BE49-F238E27FC236}">
                <a16:creationId xmlns:a16="http://schemas.microsoft.com/office/drawing/2014/main" id="{7314F83C-8C57-41B0-B3F6-754CD95F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BuildStorm 负载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992652C-CEBD-4F08-AB2A-FA96E7D1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BuildStorm 是一次完整的工具链、并发与文件一致性联合验收</a:t>
            </a:r>
          </a:p>
        </p:txBody>
      </p:sp>
      <p:sp>
        <p:nvSpPr>
          <p:cNvPr id="3" name="header-line-10">
            <a:extLst xmlns:a="http://schemas.openxmlformats.org/drawingml/2006/main">
              <a:ext uri="{FF2B5EF4-FFF2-40B4-BE49-F238E27FC236}">
                <a16:creationId xmlns:a16="http://schemas.microsoft.com/office/drawing/2014/main" id="{C91C8FAB-A543-41F2-8828-4E30810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BF43FE28-1AAA-4767-A60D-CE79E29C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DFD9BB3C-CA3D-4660-A420-467FCB9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10</a:t>
            </a:r>
          </a:p>
        </p:txBody>
      </p:sp>
      <p:sp>
        <p:nvSpPr>
          <p:cNvPr id="6" name="bs-chain">
            <a:extLst xmlns:a="http://schemas.openxmlformats.org/drawingml/2006/main">
              <a:ext uri="{FF2B5EF4-FFF2-40B4-BE49-F238E27FC236}">
                <a16:creationId xmlns:a16="http://schemas.microsoft.com/office/drawing/2014/main" id="{232CE1D8-A42E-4242-8F0B-BFA80C0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3D8"/>
            </a:solidFill>
            <a:prstDash val="solid"/>
          </a:ln>
        </p:spPr>
      </p:sp>
      <p:sp>
        <p:nvSpPr>
          <p:cNvPr id="7" name="bs-dot-0">
            <a:extLst xmlns:a="http://schemas.openxmlformats.org/drawingml/2006/main">
              <a:ext uri="{FF2B5EF4-FFF2-40B4-BE49-F238E27FC236}">
                <a16:creationId xmlns:a16="http://schemas.microsoft.com/office/drawing/2014/main" id="{377D3D57-0593-4166-9706-ED717F8F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s-stage-0">
            <a:extLst xmlns:a="http://schemas.openxmlformats.org/drawingml/2006/main">
              <a:ext uri="{FF2B5EF4-FFF2-40B4-BE49-F238E27FC236}">
                <a16:creationId xmlns:a16="http://schemas.microsoft.com/office/drawing/2014/main" id="{A2025C38-F695-40E4-BB7C-CEF455D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环境</a:t>
            </a:r>
          </a:p>
        </p:txBody>
      </p:sp>
      <p:sp>
        <p:nvSpPr>
          <p:cNvPr id="9" name="bs-desc-0">
            <a:extLst xmlns:a="http://schemas.openxmlformats.org/drawingml/2006/main">
              <a:ext uri="{FF2B5EF4-FFF2-40B4-BE49-F238E27FC236}">
                <a16:creationId xmlns:a16="http://schemas.microsoft.com/office/drawing/2014/main" id="{80796B4B-021D-45D2-813F-45181010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rustc / cargo</a:t>
            </a:r>
          </a:p>
        </p:txBody>
      </p:sp>
      <p:sp>
        <p:nvSpPr>
          <p:cNvPr id="10" name="bs-dot-1">
            <a:extLst xmlns:a="http://schemas.openxmlformats.org/drawingml/2006/main">
              <a:ext uri="{FF2B5EF4-FFF2-40B4-BE49-F238E27FC236}">
                <a16:creationId xmlns:a16="http://schemas.microsoft.com/office/drawing/2014/main" id="{688F8E0E-3BCA-4222-B18C-F24349E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s-stage-1">
            <a:extLst xmlns:a="http://schemas.openxmlformats.org/drawingml/2006/main">
              <a:ext uri="{FF2B5EF4-FFF2-40B4-BE49-F238E27FC236}">
                <a16:creationId xmlns:a16="http://schemas.microsoft.com/office/drawing/2014/main" id="{7D1AA8B5-E116-49BD-93D9-D223B72C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小构建</a:t>
            </a:r>
          </a:p>
        </p:txBody>
      </p:sp>
      <p:sp>
        <p:nvSpPr>
          <p:cNvPr id="12" name="bs-desc-1">
            <a:extLst xmlns:a="http://schemas.openxmlformats.org/drawingml/2006/main">
              <a:ext uri="{FF2B5EF4-FFF2-40B4-BE49-F238E27FC236}">
                <a16:creationId xmlns:a16="http://schemas.microsoft.com/office/drawing/2014/main" id="{58CF5630-DCE8-440C-8FB5-9C8C8594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cargo new + build + run</a:t>
            </a:r>
          </a:p>
        </p:txBody>
      </p:sp>
      <p:sp>
        <p:nvSpPr>
          <p:cNvPr id="13" name="bs-dot-2">
            <a:extLst xmlns:a="http://schemas.openxmlformats.org/drawingml/2006/main">
              <a:ext uri="{FF2B5EF4-FFF2-40B4-BE49-F238E27FC236}">
                <a16:creationId xmlns:a16="http://schemas.microsoft.com/office/drawing/2014/main" id="{9C5FEA57-A43E-43C4-A094-7CFEBC4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s-stage-2">
            <a:extLst xmlns:a="http://schemas.openxmlformats.org/drawingml/2006/main">
              <a:ext uri="{FF2B5EF4-FFF2-40B4-BE49-F238E27FC236}">
                <a16:creationId xmlns:a16="http://schemas.microsoft.com/office/drawing/2014/main" id="{60979D51-E251-4173-945C-5BF7E73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准备</a:t>
            </a:r>
          </a:p>
        </p:txBody>
      </p:sp>
      <p:sp>
        <p:nvSpPr>
          <p:cNvPr id="15" name="bs-desc-2">
            <a:extLst xmlns:a="http://schemas.openxmlformats.org/drawingml/2006/main">
              <a:ext uri="{FF2B5EF4-FFF2-40B4-BE49-F238E27FC236}">
                <a16:creationId xmlns:a16="http://schemas.microsoft.com/office/drawing/2014/main" id="{93C1AD6B-3875-49CB-B077-33295D1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tg-xtask（不计时）</a:t>
            </a:r>
          </a:p>
        </p:txBody>
      </p:sp>
      <p:sp>
        <p:nvSpPr>
          <p:cNvPr id="16" name="bs-dot-3">
            <a:extLst xmlns:a="http://schemas.openxmlformats.org/drawingml/2006/main">
              <a:ext uri="{FF2B5EF4-FFF2-40B4-BE49-F238E27FC236}">
                <a16:creationId xmlns:a16="http://schemas.microsoft.com/office/drawing/2014/main" id="{69F418F5-2789-43DE-9A77-4661BC62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s-stage-3">
            <a:extLst xmlns:a="http://schemas.openxmlformats.org/drawingml/2006/main">
              <a:ext uri="{FF2B5EF4-FFF2-40B4-BE49-F238E27FC236}">
                <a16:creationId xmlns:a16="http://schemas.microsoft.com/office/drawing/2014/main" id="{B07C55EE-00B2-4AAF-B77A-602F61A1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正式编译</a:t>
            </a:r>
          </a:p>
        </p:txBody>
      </p:sp>
      <p:sp>
        <p:nvSpPr>
          <p:cNvPr id="18" name="bs-desc-3">
            <a:extLst xmlns:a="http://schemas.openxmlformats.org/drawingml/2006/main">
              <a:ext uri="{FF2B5EF4-FFF2-40B4-BE49-F238E27FC236}">
                <a16:creationId xmlns:a16="http://schemas.microsoft.com/office/drawing/2014/main" id="{12707931-259C-49F5-9CE5-CF2A8BB1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数百 crate / 8 核</a:t>
            </a:r>
          </a:p>
        </p:txBody>
      </p:sp>
      <p:sp>
        <p:nvSpPr>
          <p:cNvPr id="19" name="bs-dot-4">
            <a:extLst xmlns:a="http://schemas.openxmlformats.org/drawingml/2006/main">
              <a:ext uri="{FF2B5EF4-FFF2-40B4-BE49-F238E27FC236}">
                <a16:creationId xmlns:a16="http://schemas.microsoft.com/office/drawing/2014/main" id="{FF718AE7-F9F7-43B4-9C21-AB9CBD9A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s-stage-4">
            <a:extLst xmlns:a="http://schemas.openxmlformats.org/drawingml/2006/main">
              <a:ext uri="{FF2B5EF4-FFF2-40B4-BE49-F238E27FC236}">
                <a16:creationId xmlns:a16="http://schemas.microsoft.com/office/drawing/2014/main" id="{6FF710C4-8ACC-4689-B2B2-E03B80B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链接</a:t>
            </a:r>
          </a:p>
        </p:txBody>
      </p:sp>
      <p:sp>
        <p:nvSpPr>
          <p:cNvPr id="21" name="bs-desc-4">
            <a:extLst xmlns:a="http://schemas.openxmlformats.org/drawingml/2006/main">
              <a:ext uri="{FF2B5EF4-FFF2-40B4-BE49-F238E27FC236}">
                <a16:creationId xmlns:a16="http://schemas.microsoft.com/office/drawing/2014/main" id="{8695B8BA-B708-49AE-9C25-8ACDB9F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rust-lld / mmap 输出</a:t>
            </a:r>
          </a:p>
        </p:txBody>
      </p:sp>
      <p:sp>
        <p:nvSpPr>
          <p:cNvPr id="22" name="bs-dot-5">
            <a:extLst xmlns:a="http://schemas.openxmlformats.org/drawingml/2006/main">
              <a:ext uri="{FF2B5EF4-FFF2-40B4-BE49-F238E27FC236}">
                <a16:creationId xmlns:a16="http://schemas.microsoft.com/office/drawing/2014/main" id="{E78B3DA8-DE04-43E6-927B-19F5489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670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s-stage-5">
            <a:extLst xmlns:a="http://schemas.openxmlformats.org/drawingml/2006/main">
              <a:ext uri="{FF2B5EF4-FFF2-40B4-BE49-F238E27FC236}">
                <a16:creationId xmlns:a16="http://schemas.microsoft.com/office/drawing/2014/main" id="{D7627D7F-BF8E-4DCC-A299-925095D6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判定</a:t>
            </a:r>
          </a:p>
        </p:txBody>
      </p:sp>
      <p:sp>
        <p:nvSpPr>
          <p:cNvPr id="24" name="bs-desc-5">
            <a:extLst xmlns:a="http://schemas.openxmlformats.org/drawingml/2006/main">
              <a:ext uri="{FF2B5EF4-FFF2-40B4-BE49-F238E27FC236}">
                <a16:creationId xmlns:a16="http://schemas.microsoft.com/office/drawing/2014/main" id="{427F538F-65EF-410B-985B-D1BC6D2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00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17C"/>
                </a:solidFill>
              </a:defRPr>
            </a:pPr>
            <a:r>
              <a:rPr sz="1200" b="0">
                <a:solidFill>
                  <a:srgbClr val="61717C"/>
                </a:solidFill>
              </a:rPr>
              <a:t>rc + path + bytes + ELF</a:t>
            </a:r>
          </a:p>
        </p:txBody>
      </p:sp>
      <p:sp>
        <p:nvSpPr>
          <p:cNvPr id="25" name="bs-pressure">
            <a:extLst xmlns:a="http://schemas.openxmlformats.org/drawingml/2006/main">
              <a:ext uri="{FF2B5EF4-FFF2-40B4-BE49-F238E27FC236}">
                <a16:creationId xmlns:a16="http://schemas.microsoft.com/office/drawing/2014/main" id="{9F57A363-E7F8-4DCF-B8E5-E7EF019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B34"/>
                </a:solidFill>
              </a:defRPr>
            </a:pPr>
            <a:r>
              <a:rPr sz="1650" b="1">
                <a:solidFill>
                  <a:srgbClr val="1D2B34"/>
                </a:solidFill>
              </a:rPr>
              <a:t>一次运行同时覆盖动态链接、VMA、futex、signal、epoll、进程回收、ext4/tmpfs 和共享 mmap 写回。</a:t>
            </a:r>
          </a:p>
        </p:txBody>
      </p:sp>
    </p:spTree>
    <p:extLst>
      <p:ext uri="{BB962C8B-B14F-4D97-AF65-F5344CB8AC3E}">
        <p14:creationId xmlns:p14="http://schemas.microsoft.com/office/powerpoint/2010/main" val="2061958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11">
            <a:extLst xmlns:a="http://schemas.openxmlformats.org/drawingml/2006/main">
              <a:ext uri="{FF2B5EF4-FFF2-40B4-BE49-F238E27FC236}">
                <a16:creationId xmlns:a16="http://schemas.microsoft.com/office/drawing/2014/main" id="{571D1B89-3E67-4765-B780-544679F6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问题定位过程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5A56A74-630F-46B5-8294-83EF2D83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每一轮都用可观测证据缩小故障边界</a:t>
            </a:r>
          </a:p>
        </p:txBody>
      </p:sp>
      <p:sp>
        <p:nvSpPr>
          <p:cNvPr id="3" name="header-line-11">
            <a:extLst xmlns:a="http://schemas.openxmlformats.org/drawingml/2006/main">
              <a:ext uri="{FF2B5EF4-FFF2-40B4-BE49-F238E27FC236}">
                <a16:creationId xmlns:a16="http://schemas.microsoft.com/office/drawing/2014/main" id="{49B6353A-1234-4EFE-8766-2F70E1F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E90B6D59-3945-4BAB-AE89-C459C98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C99E6354-3A9C-4C90-8CDE-B7BC87E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11</a:t>
            </a:r>
          </a:p>
        </p:txBody>
      </p:sp>
      <p:sp>
        <p:nvSpPr>
          <p:cNvPr id="6" name="dbg-num-0">
            <a:extLst xmlns:a="http://schemas.openxmlformats.org/drawingml/2006/main">
              <a:ext uri="{FF2B5EF4-FFF2-40B4-BE49-F238E27FC236}">
                <a16:creationId xmlns:a16="http://schemas.microsoft.com/office/drawing/2014/main" id="{B05D5CB4-C95C-42B1-B69C-874FE3A5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01</a:t>
            </a:r>
          </a:p>
        </p:txBody>
      </p:sp>
      <p:sp>
        <p:nvSpPr>
          <p:cNvPr id="7" name="dbg-sym-0">
            <a:extLst xmlns:a="http://schemas.openxmlformats.org/drawingml/2006/main">
              <a:ext uri="{FF2B5EF4-FFF2-40B4-BE49-F238E27FC236}">
                <a16:creationId xmlns:a16="http://schemas.microsoft.com/office/drawing/2014/main" id="{57658661-2986-497E-98F0-612DD673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只获得环境分</a:t>
            </a:r>
          </a:p>
        </p:txBody>
      </p:sp>
      <p:sp>
        <p:nvSpPr>
          <p:cNvPr id="8" name="dbg-fix-0">
            <a:extLst xmlns:a="http://schemas.openxmlformats.org/drawingml/2006/main">
              <a:ext uri="{FF2B5EF4-FFF2-40B4-BE49-F238E27FC236}">
                <a16:creationId xmlns:a16="http://schemas.microsoft.com/office/drawing/2014/main" id="{386D675C-B863-42C3-AC4C-E249A7E7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补齐 rootfs、loader、Cargo 缓存与基础 ABI</a:t>
            </a:r>
          </a:p>
        </p:txBody>
      </p:sp>
      <p:sp>
        <p:nvSpPr>
          <p:cNvPr id="9" name="dbg-line-0">
            <a:extLst xmlns:a="http://schemas.openxmlformats.org/drawingml/2006/main">
              <a:ext uri="{FF2B5EF4-FFF2-40B4-BE49-F238E27FC236}">
                <a16:creationId xmlns:a16="http://schemas.microsoft.com/office/drawing/2014/main" id="{FE85117B-D775-40C1-9108-CDAD8A2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0" name="dbg-num-1">
            <a:extLst xmlns:a="http://schemas.openxmlformats.org/drawingml/2006/main">
              <a:ext uri="{FF2B5EF4-FFF2-40B4-BE49-F238E27FC236}">
                <a16:creationId xmlns:a16="http://schemas.microsoft.com/office/drawing/2014/main" id="{4EF68319-FF41-4844-8026-527E212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02</a:t>
            </a:r>
          </a:p>
        </p:txBody>
      </p:sp>
      <p:sp>
        <p:nvSpPr>
          <p:cNvPr id="11" name="dbg-sym-1">
            <a:extLst xmlns:a="http://schemas.openxmlformats.org/drawingml/2006/main">
              <a:ext uri="{FF2B5EF4-FFF2-40B4-BE49-F238E27FC236}">
                <a16:creationId xmlns:a16="http://schemas.microsoft.com/office/drawing/2014/main" id="{C278CEA8-A1BB-49EF-A6C0-006CF497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编译卡住</a:t>
            </a:r>
          </a:p>
        </p:txBody>
      </p:sp>
      <p:sp>
        <p:nvSpPr>
          <p:cNvPr id="12" name="dbg-fix-1">
            <a:extLst xmlns:a="http://schemas.openxmlformats.org/drawingml/2006/main">
              <a:ext uri="{FF2B5EF4-FFF2-40B4-BE49-F238E27FC236}">
                <a16:creationId xmlns:a16="http://schemas.microsoft.com/office/drawing/2014/main" id="{BC5F013D-2CBC-45A1-869F-279C03C2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修正 group-exit、SIGCHLD、wait4、futex 与栈回收</a:t>
            </a:r>
          </a:p>
        </p:txBody>
      </p:sp>
      <p:sp>
        <p:nvSpPr>
          <p:cNvPr id="13" name="dbg-line-1">
            <a:extLst xmlns:a="http://schemas.openxmlformats.org/drawingml/2006/main">
              <a:ext uri="{FF2B5EF4-FFF2-40B4-BE49-F238E27FC236}">
                <a16:creationId xmlns:a16="http://schemas.microsoft.com/office/drawing/2014/main" id="{21A4DD3A-0540-4FD9-8988-D56DB123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4" name="dbg-num-2">
            <a:extLst xmlns:a="http://schemas.openxmlformats.org/drawingml/2006/main">
              <a:ext uri="{FF2B5EF4-FFF2-40B4-BE49-F238E27FC236}">
                <a16:creationId xmlns:a16="http://schemas.microsoft.com/office/drawing/2014/main" id="{8FF95CFF-6C9B-4357-A8E0-9A5496B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03</a:t>
            </a:r>
          </a:p>
        </p:txBody>
      </p:sp>
      <p:sp>
        <p:nvSpPr>
          <p:cNvPr id="15" name="dbg-sym-2">
            <a:extLst xmlns:a="http://schemas.openxmlformats.org/drawingml/2006/main">
              <a:ext uri="{FF2B5EF4-FFF2-40B4-BE49-F238E27FC236}">
                <a16:creationId xmlns:a16="http://schemas.microsoft.com/office/drawing/2014/main" id="{64DADA28-2D11-44FF-B5FD-098DC1CD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90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VMA overlap / SIGSEGV</a:t>
            </a:r>
          </a:p>
        </p:txBody>
      </p:sp>
      <p:sp>
        <p:nvSpPr>
          <p:cNvPr id="16" name="dbg-fix-2">
            <a:extLst xmlns:a="http://schemas.openxmlformats.org/drawingml/2006/main">
              <a:ext uri="{FF2B5EF4-FFF2-40B4-BE49-F238E27FC236}">
                <a16:creationId xmlns:a16="http://schemas.microsoft.com/office/drawing/2014/main" id="{37F54FF7-8211-491A-9596-1E91D08C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扩大 VMA，完成 MAP_FIXED 原子替换</a:t>
            </a:r>
          </a:p>
        </p:txBody>
      </p:sp>
      <p:sp>
        <p:nvSpPr>
          <p:cNvPr id="17" name="dbg-line-2">
            <a:extLst xmlns:a="http://schemas.openxmlformats.org/drawingml/2006/main">
              <a:ext uri="{FF2B5EF4-FFF2-40B4-BE49-F238E27FC236}">
                <a16:creationId xmlns:a16="http://schemas.microsoft.com/office/drawing/2014/main" id="{332B9D50-2809-4C2B-8144-B311C49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8" name="dbg-num-3">
            <a:extLst xmlns:a="http://schemas.openxmlformats.org/drawingml/2006/main">
              <a:ext uri="{FF2B5EF4-FFF2-40B4-BE49-F238E27FC236}">
                <a16:creationId xmlns:a16="http://schemas.microsoft.com/office/drawing/2014/main" id="{C9CEABE6-3B3C-42E5-B818-F464A1DE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04</a:t>
            </a:r>
          </a:p>
        </p:txBody>
      </p:sp>
      <p:sp>
        <p:nvSpPr>
          <p:cNvPr id="19" name="dbg-sym-3">
            <a:extLst xmlns:a="http://schemas.openxmlformats.org/drawingml/2006/main">
              <a:ext uri="{FF2B5EF4-FFF2-40B4-BE49-F238E27FC236}">
                <a16:creationId xmlns:a16="http://schemas.microsoft.com/office/drawing/2014/main" id="{ACD742A6-6074-4570-B979-28BB8714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76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canonicalize 失败</a:t>
            </a:r>
          </a:p>
        </p:txBody>
      </p:sp>
      <p:sp>
        <p:nvSpPr>
          <p:cNvPr id="20" name="dbg-fix-3">
            <a:extLst xmlns:a="http://schemas.openxmlformats.org/drawingml/2006/main">
              <a:ext uri="{FF2B5EF4-FFF2-40B4-BE49-F238E27FC236}">
                <a16:creationId xmlns:a16="http://schemas.microsoft.com/office/drawing/2014/main" id="{5DAFD3E9-F003-4F4A-AC49-756DEB93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766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将 tmpfs 产物精确物化到正式 target 路径</a:t>
            </a:r>
          </a:p>
        </p:txBody>
      </p:sp>
      <p:sp>
        <p:nvSpPr>
          <p:cNvPr id="21" name="dbg-line-3">
            <a:extLst xmlns:a="http://schemas.openxmlformats.org/drawingml/2006/main">
              <a:ext uri="{FF2B5EF4-FFF2-40B4-BE49-F238E27FC236}">
                <a16:creationId xmlns:a16="http://schemas.microsoft.com/office/drawing/2014/main" id="{F4636C89-15CC-4688-8604-805C180E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22" name="dbg-num-4">
            <a:extLst xmlns:a="http://schemas.openxmlformats.org/drawingml/2006/main">
              <a:ext uri="{FF2B5EF4-FFF2-40B4-BE49-F238E27FC236}">
                <a16:creationId xmlns:a16="http://schemas.microsoft.com/office/drawing/2014/main" id="{F269E18A-4E88-413B-BE5C-BBBF430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05</a:t>
            </a:r>
          </a:p>
        </p:txBody>
      </p:sp>
      <p:sp>
        <p:nvSpPr>
          <p:cNvPr id="23" name="dbg-sym-4">
            <a:extLst xmlns:a="http://schemas.openxmlformats.org/drawingml/2006/main">
              <a:ext uri="{FF2B5EF4-FFF2-40B4-BE49-F238E27FC236}">
                <a16:creationId xmlns:a16="http://schemas.microsoft.com/office/drawing/2014/main" id="{20DE09D3-476A-4A82-8638-562A0526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62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Unknown file magic</a:t>
            </a:r>
          </a:p>
        </p:txBody>
      </p:sp>
      <p:sp>
        <p:nvSpPr>
          <p:cNvPr id="24" name="dbg-fix-4">
            <a:extLst xmlns:a="http://schemas.openxmlformats.org/drawingml/2006/main">
              <a:ext uri="{FF2B5EF4-FFF2-40B4-BE49-F238E27FC236}">
                <a16:creationId xmlns:a16="http://schemas.microsoft.com/office/drawing/2014/main" id="{0A386FEC-9940-4949-85ED-E398AADC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624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对比 source、dest 与 parser 实际读取字节</a:t>
            </a:r>
          </a:p>
        </p:txBody>
      </p:sp>
      <p:sp>
        <p:nvSpPr>
          <p:cNvPr id="25" name="dbg-line-4">
            <a:extLst xmlns:a="http://schemas.openxmlformats.org/drawingml/2006/main">
              <a:ext uri="{FF2B5EF4-FFF2-40B4-BE49-F238E27FC236}">
                <a16:creationId xmlns:a16="http://schemas.microsoft.com/office/drawing/2014/main" id="{CC900C20-DA22-4114-B8B0-8773C264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26" name="dbg-num-5">
            <a:extLst xmlns:a="http://schemas.openxmlformats.org/drawingml/2006/main">
              <a:ext uri="{FF2B5EF4-FFF2-40B4-BE49-F238E27FC236}">
                <a16:creationId xmlns:a16="http://schemas.microsoft.com/office/drawing/2014/main" id="{EE8022AD-B915-40B6-A0C0-B8D615A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06</a:t>
            </a:r>
          </a:p>
        </p:txBody>
      </p:sp>
      <p:sp>
        <p:nvSpPr>
          <p:cNvPr id="27" name="dbg-sym-5">
            <a:extLst xmlns:a="http://schemas.openxmlformats.org/drawingml/2006/main">
              <a:ext uri="{FF2B5EF4-FFF2-40B4-BE49-F238E27FC236}">
                <a16:creationId xmlns:a16="http://schemas.microsoft.com/office/drawing/2014/main" id="{A60F4E77-BCEC-44B0-90C7-896915B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48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全零 ELF</a:t>
            </a:r>
          </a:p>
        </p:txBody>
      </p:sp>
      <p:sp>
        <p:nvSpPr>
          <p:cNvPr id="28" name="dbg-fix-5">
            <a:extLst xmlns:a="http://schemas.openxmlformats.org/drawingml/2006/main">
              <a:ext uri="{FF2B5EF4-FFF2-40B4-BE49-F238E27FC236}">
                <a16:creationId xmlns:a16="http://schemas.microsoft.com/office/drawing/2014/main" id="{72A7A7FC-8486-45D1-A045-5137FA8B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实现 MAP_SHARED 文件映射写回</a:t>
            </a:r>
          </a:p>
        </p:txBody>
      </p:sp>
      <p:sp>
        <p:nvSpPr>
          <p:cNvPr id="29" name="dbg-line-5">
            <a:extLst xmlns:a="http://schemas.openxmlformats.org/drawingml/2006/main">
              <a:ext uri="{FF2B5EF4-FFF2-40B4-BE49-F238E27FC236}">
                <a16:creationId xmlns:a16="http://schemas.microsoft.com/office/drawing/2014/main" id="{DCC1DA24-D93F-4B27-AC8D-6AF221E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4948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2">
            <a:extLst xmlns:a="http://schemas.openxmlformats.org/drawingml/2006/main">
              <a:ext uri="{FF2B5EF4-FFF2-40B4-BE49-F238E27FC236}">
                <a16:creationId xmlns:a16="http://schemas.microsoft.com/office/drawing/2014/main" id="{C3993ACD-FDBA-43CB-9E92-BD987A52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关键修复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3AA1A7D-9229-43CF-B09B-ECEC168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最终根因：链接器写进共享映射，但旧实现没有回写文件</a:t>
            </a:r>
          </a:p>
        </p:txBody>
      </p:sp>
      <p:sp>
        <p:nvSpPr>
          <p:cNvPr id="3" name="header-line-12">
            <a:extLst xmlns:a="http://schemas.openxmlformats.org/drawingml/2006/main">
              <a:ext uri="{FF2B5EF4-FFF2-40B4-BE49-F238E27FC236}">
                <a16:creationId xmlns:a16="http://schemas.microsoft.com/office/drawing/2014/main" id="{AC24C811-2557-48EB-967D-6DE95977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6E7E7F77-7680-49AC-9A74-FD10BDCC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CDCAC20D-3538-4D8C-B480-6D3E513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12</a:t>
            </a:r>
          </a:p>
        </p:txBody>
      </p:sp>
      <p:sp>
        <p:nvSpPr>
          <p:cNvPr id="6" name="rc-a1">
            <a:extLst xmlns:a="http://schemas.openxmlformats.org/drawingml/2006/main">
              <a:ext uri="{FF2B5EF4-FFF2-40B4-BE49-F238E27FC236}">
                <a16:creationId xmlns:a16="http://schemas.microsoft.com/office/drawing/2014/main" id="{9494DE8C-EFC4-4505-97E0-44311BB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54B4B"/>
            </a:solidFill>
            <a:prstDash val="solid"/>
          </a:ln>
        </p:spPr>
      </p:sp>
      <p:sp>
        <p:nvSpPr>
          <p:cNvPr id="7" name="rc-a2">
            <a:extLst xmlns:a="http://schemas.openxmlformats.org/drawingml/2006/main">
              <a:ext uri="{FF2B5EF4-FFF2-40B4-BE49-F238E27FC236}">
                <a16:creationId xmlns:a16="http://schemas.microsoft.com/office/drawing/2014/main" id="{CFAF84ED-7126-41E9-8C63-65BDACE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54B4B"/>
            </a:solidFill>
            <a:prstDash val="solid"/>
          </a:ln>
        </p:spPr>
      </p:sp>
      <p:sp>
        <p:nvSpPr>
          <p:cNvPr id="8" name="rc-node-a">
            <a:extLst xmlns:a="http://schemas.openxmlformats.org/drawingml/2006/main">
              <a:ext uri="{FF2B5EF4-FFF2-40B4-BE49-F238E27FC236}">
                <a16:creationId xmlns:a16="http://schemas.microsoft.com/office/drawing/2014/main" id="{6FA285B4-2324-4FEF-B515-D32C3C5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rust-lld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扩展文件长度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MAP_SHARED 写入各段</a:t>
            </a:r>
          </a:p>
        </p:txBody>
      </p:sp>
      <p:sp>
        <p:nvSpPr>
          <p:cNvPr id="9" name="rc-node-b">
            <a:extLst xmlns:a="http://schemas.openxmlformats.org/drawingml/2006/main">
              <a:ext uri="{FF2B5EF4-FFF2-40B4-BE49-F238E27FC236}">
                <a16:creationId xmlns:a16="http://schemas.microsoft.com/office/drawing/2014/main" id="{4CCCB58C-81C3-4192-9760-D557332D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43125"/>
            <a:ext cx="2333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7E4"/>
          </a:solidFill>
          <a:ln xmlns:a="http://schemas.openxmlformats.org/drawingml/2006/main" w="9525">
            <a:solidFill>
              <a:srgbClr val="A54B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4B4B"/>
                </a:solidFill>
              </a:defRPr>
            </a:pPr>
            <a:r>
              <a:rPr sz="1575" b="1">
                <a:solidFill>
                  <a:srgbClr val="A54B4B"/>
                </a:solidFill>
              </a:rPr>
              <a:t>旧内核</a:t>
            </a:r>
          </a:p>
          <a:p xmlns:a="http://schemas.openxmlformats.org/drawingml/2006/main">
            <a:pPr algn="ctr">
              <a:defRPr sz="1575" b="1">
                <a:solidFill>
                  <a:srgbClr val="A54B4B"/>
                </a:solidFill>
              </a:defRPr>
            </a:pPr>
            <a:r>
              <a:rPr sz="1575" b="1">
                <a:solidFill>
                  <a:srgbClr val="A54B4B"/>
                </a:solidFill>
              </a:rPr>
              <a:t>建立匿名后备页</a:t>
            </a:r>
          </a:p>
          <a:p xmlns:a="http://schemas.openxmlformats.org/drawingml/2006/main">
            <a:pPr algn="ctr">
              <a:defRPr sz="1575" b="1">
                <a:solidFill>
                  <a:srgbClr val="A54B4B"/>
                </a:solidFill>
              </a:defRPr>
            </a:pPr>
            <a:r>
              <a:rPr sz="1575" b="1">
                <a:solidFill>
                  <a:srgbClr val="A54B4B"/>
                </a:solidFill>
              </a:rPr>
              <a:t>munmap 时直接丢弃</a:t>
            </a:r>
          </a:p>
        </p:txBody>
      </p:sp>
      <p:sp>
        <p:nvSpPr>
          <p:cNvPr id="10" name="rc-node-c">
            <a:extLst xmlns:a="http://schemas.openxmlformats.org/drawingml/2006/main">
              <a:ext uri="{FF2B5EF4-FFF2-40B4-BE49-F238E27FC236}">
                <a16:creationId xmlns:a16="http://schemas.microsoft.com/office/drawing/2014/main" id="{D8148252-7F64-48B4-AE26-5B799FC4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表面结果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返回码 0、长度正确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内容全零、magic 错误</a:t>
            </a:r>
          </a:p>
        </p:txBody>
      </p:sp>
      <p:sp>
        <p:nvSpPr>
          <p:cNvPr id="11" name="rc-fix">
            <a:extLst xmlns:a="http://schemas.openxmlformats.org/drawingml/2006/main">
              <a:ext uri="{FF2B5EF4-FFF2-40B4-BE49-F238E27FC236}">
                <a16:creationId xmlns:a16="http://schemas.microsoft.com/office/drawing/2014/main" id="{6A71C75B-CBBA-4C97-B909-E8B53468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9525">
            <a:solidFill>
              <a:srgbClr val="2B7A78"/>
            </a:solidFill>
            <a:prstDash val="solid"/>
          </a:ln>
        </p:spPr>
      </p:sp>
      <p:sp>
        <p:nvSpPr>
          <p:cNvPr id="12" name="rc-fix-text">
            <a:extLst xmlns:a="http://schemas.openxmlformats.org/drawingml/2006/main">
              <a:ext uri="{FF2B5EF4-FFF2-40B4-BE49-F238E27FC236}">
                <a16:creationId xmlns:a16="http://schemas.microsoft.com/office/drawing/2014/main" id="{C3416D33-5A7C-47C8-9DA7-E0AE3878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9105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修复：登记共享文件映射 → munmap 前按文件偏移写回 → 再拆页表、执行 TLB 退休。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验证：kernel_magic = user_magic = 7f 45 4c 46。</a:t>
            </a:r>
          </a:p>
        </p:txBody>
      </p:sp>
    </p:spTree>
    <p:extLst>
      <p:ext uri="{BB962C8B-B14F-4D97-AF65-F5344CB8AC3E}">
        <p14:creationId xmlns:p14="http://schemas.microsoft.com/office/powerpoint/2010/main" val="715623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13">
            <a:extLst xmlns:a="http://schemas.openxmlformats.org/drawingml/2006/main">
              <a:ext uri="{FF2B5EF4-FFF2-40B4-BE49-F238E27FC236}">
                <a16:creationId xmlns:a16="http://schemas.microsoft.com/office/drawing/2014/main" id="{9A15DE9D-F11A-41AB-BC4E-89A1BBF5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BuildStorm 结果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D1F5326-6BDD-4A65-8CA2-5DF2736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双架构均完成正式编译并生成有效 ELF</a:t>
            </a:r>
          </a:p>
        </p:txBody>
      </p:sp>
      <p:sp>
        <p:nvSpPr>
          <p:cNvPr id="3" name="header-line-13">
            <a:extLst xmlns:a="http://schemas.openxmlformats.org/drawingml/2006/main">
              <a:ext uri="{FF2B5EF4-FFF2-40B4-BE49-F238E27FC236}">
                <a16:creationId xmlns:a16="http://schemas.microsoft.com/office/drawing/2014/main" id="{C741EF5A-7B22-4929-AD3D-86BD676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9C646004-1069-44A2-BA28-1D01ECA5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DAF78DE6-C581-4CFE-AA2F-DF146E21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13</a:t>
            </a:r>
          </a:p>
        </p:txBody>
      </p:sp>
      <p:sp>
        <p:nvSpPr>
          <p:cNvPr id="6" name="res-head-0">
            <a:extLst xmlns:a="http://schemas.openxmlformats.org/drawingml/2006/main">
              <a:ext uri="{FF2B5EF4-FFF2-40B4-BE49-F238E27FC236}">
                <a16:creationId xmlns:a16="http://schemas.microsoft.com/office/drawing/2014/main" id="{0CB0D1A0-6F9B-46A0-9A7B-CF37B9ED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1717C"/>
                </a:solidFill>
              </a:defRPr>
            </a:pPr>
            <a:r>
              <a:rPr sz="1500" b="1">
                <a:solidFill>
                  <a:srgbClr val="61717C"/>
                </a:solidFill>
              </a:rPr>
              <a:t>指标</a:t>
            </a:r>
          </a:p>
        </p:txBody>
      </p:sp>
      <p:sp>
        <p:nvSpPr>
          <p:cNvPr id="7" name="res-head-1">
            <a:extLst xmlns:a="http://schemas.openxmlformats.org/drawingml/2006/main">
              <a:ext uri="{FF2B5EF4-FFF2-40B4-BE49-F238E27FC236}">
                <a16:creationId xmlns:a16="http://schemas.microsoft.com/office/drawing/2014/main" id="{42E0A9A7-CC3B-4F96-A9F1-1D8F572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66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RISC-V 64</a:t>
            </a:r>
          </a:p>
        </p:txBody>
      </p:sp>
      <p:sp>
        <p:nvSpPr>
          <p:cNvPr id="8" name="res-head-2">
            <a:extLst xmlns:a="http://schemas.openxmlformats.org/drawingml/2006/main">
              <a:ext uri="{FF2B5EF4-FFF2-40B4-BE49-F238E27FC236}">
                <a16:creationId xmlns:a16="http://schemas.microsoft.com/office/drawing/2014/main" id="{5E368723-B22B-4F9D-904F-FA02438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LoongArch 64</a:t>
            </a:r>
          </a:p>
        </p:txBody>
      </p:sp>
      <p:sp>
        <p:nvSpPr>
          <p:cNvPr id="9" name="res-bg-0">
            <a:extLst xmlns:a="http://schemas.openxmlformats.org/drawingml/2006/main">
              <a:ext uri="{FF2B5EF4-FFF2-40B4-BE49-F238E27FC236}">
                <a16:creationId xmlns:a16="http://schemas.microsoft.com/office/drawing/2014/main" id="{5D72A398-C978-4F88-A631-90E83717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s-r0-0">
            <a:extLst xmlns:a="http://schemas.openxmlformats.org/drawingml/2006/main">
              <a:ext uri="{FF2B5EF4-FFF2-40B4-BE49-F238E27FC236}">
                <a16:creationId xmlns:a16="http://schemas.microsoft.com/office/drawing/2014/main" id="{8AEAC769-264E-4A4E-A0AD-40C9A4B7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配置</a:t>
            </a:r>
          </a:p>
        </p:txBody>
      </p:sp>
      <p:sp>
        <p:nvSpPr>
          <p:cNvPr id="11" name="res-r1-0">
            <a:extLst xmlns:a="http://schemas.openxmlformats.org/drawingml/2006/main">
              <a:ext uri="{FF2B5EF4-FFF2-40B4-BE49-F238E27FC236}">
                <a16:creationId xmlns:a16="http://schemas.microsoft.com/office/drawing/2014/main" id="{7D011D0A-1DAF-4688-93D0-BCA0D3D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43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8 vCPU / 8 GiB</a:t>
            </a:r>
          </a:p>
        </p:txBody>
      </p:sp>
      <p:sp>
        <p:nvSpPr>
          <p:cNvPr id="12" name="res-r2-0">
            <a:extLst xmlns:a="http://schemas.openxmlformats.org/drawingml/2006/main">
              <a:ext uri="{FF2B5EF4-FFF2-40B4-BE49-F238E27FC236}">
                <a16:creationId xmlns:a16="http://schemas.microsoft.com/office/drawing/2014/main" id="{2D8EFB00-36F9-44EA-B8BC-397BAB3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8 vCPU / 8 GiB</a:t>
            </a:r>
          </a:p>
        </p:txBody>
      </p:sp>
      <p:sp>
        <p:nvSpPr>
          <p:cNvPr id="13" name="res-r0-1">
            <a:extLst xmlns:a="http://schemas.openxmlformats.org/drawingml/2006/main">
              <a:ext uri="{FF2B5EF4-FFF2-40B4-BE49-F238E27FC236}">
                <a16:creationId xmlns:a16="http://schemas.microsoft.com/office/drawing/2014/main" id="{1228ECF0-5BD6-413C-BD93-018DB70D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toolchain / minibuild</a:t>
            </a:r>
          </a:p>
        </p:txBody>
      </p:sp>
      <p:sp>
        <p:nvSpPr>
          <p:cNvPr id="14" name="res-r1-1">
            <a:extLst xmlns:a="http://schemas.openxmlformats.org/drawingml/2006/main">
              <a:ext uri="{FF2B5EF4-FFF2-40B4-BE49-F238E27FC236}">
                <a16:creationId xmlns:a16="http://schemas.microsoft.com/office/drawing/2014/main" id="{7BED85E5-0A3B-4F08-84E2-B8A7AEA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336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ok / ok</a:t>
            </a:r>
          </a:p>
        </p:txBody>
      </p:sp>
      <p:sp>
        <p:nvSpPr>
          <p:cNvPr id="15" name="res-r2-1">
            <a:extLst xmlns:a="http://schemas.openxmlformats.org/drawingml/2006/main">
              <a:ext uri="{FF2B5EF4-FFF2-40B4-BE49-F238E27FC236}">
                <a16:creationId xmlns:a16="http://schemas.microsoft.com/office/drawing/2014/main" id="{58DB0F47-7E87-45F4-9DAF-3AFE71A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ok / ok</a:t>
            </a:r>
          </a:p>
        </p:txBody>
      </p:sp>
      <p:sp>
        <p:nvSpPr>
          <p:cNvPr id="16" name="res-bg-2">
            <a:extLst xmlns:a="http://schemas.openxmlformats.org/drawingml/2006/main">
              <a:ext uri="{FF2B5EF4-FFF2-40B4-BE49-F238E27FC236}">
                <a16:creationId xmlns:a16="http://schemas.microsoft.com/office/drawing/2014/main" id="{38DDC898-BD7E-4523-83D1-81B7486C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-r0-2">
            <a:extLst xmlns:a="http://schemas.openxmlformats.org/drawingml/2006/main">
              <a:ext uri="{FF2B5EF4-FFF2-40B4-BE49-F238E27FC236}">
                <a16:creationId xmlns:a16="http://schemas.microsoft.com/office/drawing/2014/main" id="{CE398FE8-CC54-440A-AE72-F545930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ELF 大小</a:t>
            </a:r>
          </a:p>
        </p:txBody>
      </p:sp>
      <p:sp>
        <p:nvSpPr>
          <p:cNvPr id="18" name="res-r1-2">
            <a:extLst xmlns:a="http://schemas.openxmlformats.org/drawingml/2006/main">
              <a:ext uri="{FF2B5EF4-FFF2-40B4-BE49-F238E27FC236}">
                <a16:creationId xmlns:a16="http://schemas.microsoft.com/office/drawing/2014/main" id="{4D88943C-2B74-45EE-9CA8-2E91C0AB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242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1,685,224 B</a:t>
            </a:r>
          </a:p>
        </p:txBody>
      </p:sp>
      <p:sp>
        <p:nvSpPr>
          <p:cNvPr id="19" name="res-r2-2">
            <a:extLst xmlns:a="http://schemas.openxmlformats.org/drawingml/2006/main">
              <a:ext uri="{FF2B5EF4-FFF2-40B4-BE49-F238E27FC236}">
                <a16:creationId xmlns:a16="http://schemas.microsoft.com/office/drawing/2014/main" id="{083E8053-BF3A-4EB0-9EA2-646878F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242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1,714,736 B</a:t>
            </a:r>
          </a:p>
        </p:txBody>
      </p:sp>
      <p:sp>
        <p:nvSpPr>
          <p:cNvPr id="20" name="res-r0-3">
            <a:extLst xmlns:a="http://schemas.openxmlformats.org/drawingml/2006/main">
              <a:ext uri="{FF2B5EF4-FFF2-40B4-BE49-F238E27FC236}">
                <a16:creationId xmlns:a16="http://schemas.microsoft.com/office/drawing/2014/main" id="{28000778-A3C9-43B5-A521-E1173B72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ELF magic</a:t>
            </a:r>
          </a:p>
        </p:txBody>
      </p:sp>
      <p:sp>
        <p:nvSpPr>
          <p:cNvPr id="21" name="res-r1-3">
            <a:extLst xmlns:a="http://schemas.openxmlformats.org/drawingml/2006/main">
              <a:ext uri="{FF2B5EF4-FFF2-40B4-BE49-F238E27FC236}">
                <a16:creationId xmlns:a16="http://schemas.microsoft.com/office/drawing/2014/main" id="{24DB89D0-F499-4DB0-8331-CFDD5B4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147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7f454c46</a:t>
            </a:r>
          </a:p>
        </p:txBody>
      </p:sp>
      <p:sp>
        <p:nvSpPr>
          <p:cNvPr id="22" name="res-r2-3">
            <a:extLst xmlns:a="http://schemas.openxmlformats.org/drawingml/2006/main">
              <a:ext uri="{FF2B5EF4-FFF2-40B4-BE49-F238E27FC236}">
                <a16:creationId xmlns:a16="http://schemas.microsoft.com/office/drawing/2014/main" id="{DE712A59-A3C4-4ED7-B411-EA6A1C09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7f454c46</a:t>
            </a:r>
          </a:p>
        </p:txBody>
      </p:sp>
      <p:sp>
        <p:nvSpPr>
          <p:cNvPr id="23" name="res-bg-4">
            <a:extLst xmlns:a="http://schemas.openxmlformats.org/drawingml/2006/main">
              <a:ext uri="{FF2B5EF4-FFF2-40B4-BE49-F238E27FC236}">
                <a16:creationId xmlns:a16="http://schemas.microsoft.com/office/drawing/2014/main" id="{D5DBD1D5-3BB1-4297-A790-E50EFB5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s-r0-4">
            <a:extLst xmlns:a="http://schemas.openxmlformats.org/drawingml/2006/main">
              <a:ext uri="{FF2B5EF4-FFF2-40B4-BE49-F238E27FC236}">
                <a16:creationId xmlns:a16="http://schemas.microsoft.com/office/drawing/2014/main" id="{17CF4DB1-EC10-425E-A6CC-B46FCC0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4"/>
                </a:solidFill>
              </a:defRPr>
            </a:pPr>
            <a:r>
              <a:rPr sz="1350" b="0">
                <a:solidFill>
                  <a:srgbClr val="1D2B34"/>
                </a:solidFill>
              </a:rPr>
              <a:t>正式计时</a:t>
            </a:r>
          </a:p>
        </p:txBody>
      </p:sp>
      <p:sp>
        <p:nvSpPr>
          <p:cNvPr id="25" name="res-r1-4">
            <a:extLst xmlns:a="http://schemas.openxmlformats.org/drawingml/2006/main">
              <a:ext uri="{FF2B5EF4-FFF2-40B4-BE49-F238E27FC236}">
                <a16:creationId xmlns:a16="http://schemas.microsoft.com/office/drawing/2014/main" id="{B26EC9CD-0647-4BFC-8112-24059238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3722.00 s</a:t>
            </a:r>
          </a:p>
        </p:txBody>
      </p:sp>
      <p:sp>
        <p:nvSpPr>
          <p:cNvPr id="26" name="res-r2-4">
            <a:extLst xmlns:a="http://schemas.openxmlformats.org/drawingml/2006/main">
              <a:ext uri="{FF2B5EF4-FFF2-40B4-BE49-F238E27FC236}">
                <a16:creationId xmlns:a16="http://schemas.microsoft.com/office/drawing/2014/main" id="{3B3E5BBE-ADCB-4763-A299-65AEBEA1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05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1890.00 s</a:t>
            </a:r>
          </a:p>
        </p:txBody>
      </p:sp>
      <p:sp>
        <p:nvSpPr>
          <p:cNvPr id="27" name="res-r0-5">
            <a:extLst xmlns:a="http://schemas.openxmlformats.org/drawingml/2006/main">
              <a:ext uri="{FF2B5EF4-FFF2-40B4-BE49-F238E27FC236}">
                <a16:creationId xmlns:a16="http://schemas.microsoft.com/office/drawing/2014/main" id="{0EF6904F-8702-401A-ACAF-EA84FFC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B34"/>
                </a:solidFill>
              </a:defRPr>
            </a:pPr>
            <a:r>
              <a:rPr sz="1350" b="1">
                <a:solidFill>
                  <a:srgbClr val="1D2B34"/>
                </a:solidFill>
              </a:rPr>
              <a:t>最终记录</a:t>
            </a:r>
          </a:p>
        </p:txBody>
      </p:sp>
      <p:sp>
        <p:nvSpPr>
          <p:cNvPr id="28" name="res-r1-5">
            <a:extLst xmlns:a="http://schemas.openxmlformats.org/drawingml/2006/main">
              <a:ext uri="{FF2B5EF4-FFF2-40B4-BE49-F238E27FC236}">
                <a16:creationId xmlns:a16="http://schemas.microsoft.com/office/drawing/2014/main" id="{C576550A-59FB-44DE-BA08-1860272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95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7A78"/>
                </a:solidFill>
              </a:defRPr>
            </a:pPr>
            <a:r>
              <a:rPr sz="1425" b="1">
                <a:solidFill>
                  <a:srgbClr val="2B7A78"/>
                </a:solidFill>
              </a:rPr>
              <a:t>ok=true</a:t>
            </a:r>
          </a:p>
        </p:txBody>
      </p:sp>
      <p:sp>
        <p:nvSpPr>
          <p:cNvPr id="29" name="res-r2-5">
            <a:extLst xmlns:a="http://schemas.openxmlformats.org/drawingml/2006/main">
              <a:ext uri="{FF2B5EF4-FFF2-40B4-BE49-F238E27FC236}">
                <a16:creationId xmlns:a16="http://schemas.microsoft.com/office/drawing/2014/main" id="{82FC0FB1-E7E2-4FA5-AC5A-09C7CC3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7A78"/>
                </a:solidFill>
              </a:defRPr>
            </a:pPr>
            <a:r>
              <a:rPr sz="1425" b="1">
                <a:solidFill>
                  <a:srgbClr val="2B7A78"/>
                </a:solidFill>
              </a:rPr>
              <a:t>ok=true</a:t>
            </a:r>
          </a:p>
        </p:txBody>
      </p:sp>
      <p:sp>
        <p:nvSpPr>
          <p:cNvPr id="30" name="res-caveat">
            <a:extLst xmlns:a="http://schemas.openxmlformats.org/drawingml/2006/main">
              <a:ext uri="{FF2B5EF4-FFF2-40B4-BE49-F238E27FC236}">
                <a16:creationId xmlns:a16="http://schemas.microsoft.com/office/drawing/2014/main" id="{34224BFA-5B25-4F75-A1EF-55F7C98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7537"/>
                </a:solidFill>
              </a:defRPr>
            </a:pPr>
            <a:r>
              <a:rPr sz="1275" b="1">
                <a:solidFill>
                  <a:srgbClr val="C87537"/>
                </a:solidFill>
              </a:rPr>
              <a:t>正确性已完成本地闭环；平台加速分由官网实际基线和运行环境决定。</a:t>
            </a:r>
          </a:p>
        </p:txBody>
      </p:sp>
    </p:spTree>
    <p:extLst>
      <p:ext uri="{BB962C8B-B14F-4D97-AF65-F5344CB8AC3E}">
        <p14:creationId xmlns:p14="http://schemas.microsoft.com/office/powerpoint/2010/main" val="714058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4">
            <a:extLst xmlns:a="http://schemas.openxmlformats.org/drawingml/2006/main">
              <a:ext uri="{FF2B5EF4-FFF2-40B4-BE49-F238E27FC236}">
                <a16:creationId xmlns:a16="http://schemas.microsoft.com/office/drawing/2014/main" id="{7C935537-58B9-4E67-A7C9-A5D48AA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质量与复现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C05A5941-2878-4548-BF1E-84FDCBC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构建与测试入口固定，结果判定采用 fail-closed</a:t>
            </a:r>
          </a:p>
        </p:txBody>
      </p:sp>
      <p:sp>
        <p:nvSpPr>
          <p:cNvPr id="3" name="header-line-14">
            <a:extLst xmlns:a="http://schemas.openxmlformats.org/drawingml/2006/main">
              <a:ext uri="{FF2B5EF4-FFF2-40B4-BE49-F238E27FC236}">
                <a16:creationId xmlns:a16="http://schemas.microsoft.com/office/drawing/2014/main" id="{4F0448AE-266B-49A0-B6E2-178E569F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D41A6627-32DA-47B6-8BE2-271F041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89810A63-9E30-4700-AF50-F43F1F8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14</a:t>
            </a:r>
          </a:p>
        </p:txBody>
      </p:sp>
      <p:sp>
        <p:nvSpPr>
          <p:cNvPr id="6" name="repro-left-title">
            <a:extLst xmlns:a="http://schemas.openxmlformats.org/drawingml/2006/main">
              <a:ext uri="{FF2B5EF4-FFF2-40B4-BE49-F238E27FC236}">
                <a16:creationId xmlns:a16="http://schemas.microsoft.com/office/drawing/2014/main" id="{4E9B42CC-CE84-45EA-AD09-51138C5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提交构建</a:t>
            </a:r>
          </a:p>
        </p:txBody>
      </p:sp>
      <p:sp>
        <p:nvSpPr>
          <p:cNvPr id="7" name="repro-code">
            <a:extLst xmlns:a="http://schemas.openxmlformats.org/drawingml/2006/main">
              <a:ext uri="{FF2B5EF4-FFF2-40B4-BE49-F238E27FC236}">
                <a16:creationId xmlns:a16="http://schemas.microsoft.com/office/drawing/2014/main" id="{C53357EA-3EE8-4BF4-B358-C1F2BA11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381500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pro-code-text">
            <a:extLst xmlns:a="http://schemas.openxmlformats.org/drawingml/2006/main">
              <a:ext uri="{FF2B5EF4-FFF2-40B4-BE49-F238E27FC236}">
                <a16:creationId xmlns:a16="http://schemas.microsoft.com/office/drawing/2014/main" id="{D99ACCAE-7C77-41E6-83F2-A967C2B9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98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$ make all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→ kernel-rv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→ kernel-la</a:t>
            </a:r>
          </a:p>
        </p:txBody>
      </p:sp>
      <p:sp>
        <p:nvSpPr>
          <p:cNvPr id="9" name="repro-left-body">
            <a:extLst xmlns:a="http://schemas.openxmlformats.org/drawingml/2006/main">
              <a:ext uri="{FF2B5EF4-FFF2-40B4-BE49-F238E27FC236}">
                <a16:creationId xmlns:a16="http://schemas.microsoft.com/office/drawing/2014/main" id="{4A9E8197-7D01-441C-93D9-3D8090DE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17C"/>
                </a:solidFill>
              </a:defRPr>
            </a:pPr>
            <a:r>
              <a:rPr sz="1350" b="0">
                <a:solidFill>
                  <a:srgbClr val="61717C"/>
                </a:solidFill>
              </a:rPr>
              <a:t>离线 vendor；all 不启动 QEMU、不运行 stress、不访问网络。</a:t>
            </a:r>
          </a:p>
        </p:txBody>
      </p:sp>
      <p:sp>
        <p:nvSpPr>
          <p:cNvPr id="10" name="repro-divider">
            <a:extLst xmlns:a="http://schemas.openxmlformats.org/drawingml/2006/main">
              <a:ext uri="{FF2B5EF4-FFF2-40B4-BE49-F238E27FC236}">
                <a16:creationId xmlns:a16="http://schemas.microsoft.com/office/drawing/2014/main" id="{047A34FA-05DD-4723-93FD-D4422233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0" cy="3762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1" name="repro-right-title">
            <a:extLst xmlns:a="http://schemas.openxmlformats.org/drawingml/2006/main">
              <a:ext uri="{FF2B5EF4-FFF2-40B4-BE49-F238E27FC236}">
                <a16:creationId xmlns:a16="http://schemas.microsoft.com/office/drawing/2014/main" id="{C3C3865D-C569-4A09-8558-9271776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严格判据</a:t>
            </a:r>
          </a:p>
        </p:txBody>
      </p:sp>
      <p:sp>
        <p:nvSpPr>
          <p:cNvPr id="12" name="repro-right">
            <a:extLst xmlns:a="http://schemas.openxmlformats.org/drawingml/2006/main">
              <a:ext uri="{FF2B5EF4-FFF2-40B4-BE49-F238E27FC236}">
                <a16:creationId xmlns:a16="http://schemas.microsoft.com/office/drawing/2014/main" id="{E835312D-3450-453D-B06C-DA86A6D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CAgent 必须十项 pass，任何 reject 立即失败</a:t>
            </a:r>
          </a:p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BuildStorm 取最后一条 compile 记录</a:t>
            </a:r>
          </a:p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elapsed_s &gt; 0，bytes ≥ 500000</a:t>
            </a:r>
          </a:p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group end、脚本 exit=0、无 panic</a:t>
            </a:r>
          </a:p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QEMU 使用 -snapshot，不污染原始镜像</a:t>
            </a:r>
          </a:p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• 参考脚本 SHA-256 在运行前校验</a:t>
            </a:r>
          </a:p>
        </p:txBody>
      </p:sp>
      <p:sp>
        <p:nvSpPr>
          <p:cNvPr id="13" name="repro-foot">
            <a:extLst xmlns:a="http://schemas.openxmlformats.org/drawingml/2006/main">
              <a:ext uri="{FF2B5EF4-FFF2-40B4-BE49-F238E27FC236}">
                <a16:creationId xmlns:a16="http://schemas.microsoft.com/office/drawing/2014/main" id="{531AB4CD-061D-4299-B94D-F68BA3E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00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78"/>
                </a:solidFill>
              </a:defRPr>
            </a:pPr>
            <a:r>
              <a:rPr sz="1350" b="1">
                <a:solidFill>
                  <a:srgbClr val="2B7A78"/>
                </a:solidFill>
              </a:rPr>
              <a:t>日志保留完整串口上下文，而不是只保留最终一行。</a:t>
            </a:r>
          </a:p>
        </p:txBody>
      </p:sp>
    </p:spTree>
    <p:extLst>
      <p:ext uri="{BB962C8B-B14F-4D97-AF65-F5344CB8AC3E}">
        <p14:creationId xmlns:p14="http://schemas.microsoft.com/office/powerpoint/2010/main" val="20761489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5">
            <a:extLst xmlns:a="http://schemas.openxmlformats.org/drawingml/2006/main">
              <a:ext uri="{FF2B5EF4-FFF2-40B4-BE49-F238E27FC236}">
                <a16:creationId xmlns:a16="http://schemas.microsoft.com/office/drawing/2014/main" id="{3FBF96DB-436C-40BB-AB5C-DA373017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风险与后续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4C97740E-C3E2-4058-8AA2-EE8C1F6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下一阶段优先优化性能，同时守住已经验证的正确性</a:t>
            </a:r>
          </a:p>
        </p:txBody>
      </p:sp>
      <p:sp>
        <p:nvSpPr>
          <p:cNvPr id="3" name="header-line-15">
            <a:extLst xmlns:a="http://schemas.openxmlformats.org/drawingml/2006/main">
              <a:ext uri="{FF2B5EF4-FFF2-40B4-BE49-F238E27FC236}">
                <a16:creationId xmlns:a16="http://schemas.microsoft.com/office/drawing/2014/main" id="{52C53A91-7D03-4D0A-8ADC-59084539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B0B2F3ED-27A6-415C-BA49-A70486FF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5">
            <a:extLst xmlns:a="http://schemas.openxmlformats.org/drawingml/2006/main">
              <a:ext uri="{FF2B5EF4-FFF2-40B4-BE49-F238E27FC236}">
                <a16:creationId xmlns:a16="http://schemas.microsoft.com/office/drawing/2014/main" id="{A3128234-3CDD-4EF4-8FAD-3F0C97C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15</a:t>
            </a:r>
          </a:p>
        </p:txBody>
      </p:sp>
      <p:sp>
        <p:nvSpPr>
          <p:cNvPr id="6" name="risk-a-title">
            <a:extLst xmlns:a="http://schemas.openxmlformats.org/drawingml/2006/main">
              <a:ext uri="{FF2B5EF4-FFF2-40B4-BE49-F238E27FC236}">
                <a16:creationId xmlns:a16="http://schemas.microsoft.com/office/drawing/2014/main" id="{154B2C33-EEA0-4E40-90ED-2E1E0A1A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镜像兼容边界</a:t>
            </a:r>
          </a:p>
        </p:txBody>
      </p:sp>
      <p:sp>
        <p:nvSpPr>
          <p:cNvPr id="7" name="risk-a">
            <a:extLst xmlns:a="http://schemas.openxmlformats.org/drawingml/2006/main">
              <a:ext uri="{FF2B5EF4-FFF2-40B4-BE49-F238E27FC236}">
                <a16:creationId xmlns:a16="http://schemas.microsoft.com/office/drawing/2014/main" id="{797E9550-F115-4400-9708-1338527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脚本路径、/work/tgoskits、toolchain 名称、logical target 和产物名若发生结构性变化，需要重新核验。</a:t>
            </a:r>
          </a:p>
        </p:txBody>
      </p:sp>
      <p:sp>
        <p:nvSpPr>
          <p:cNvPr id="8" name="risk-b-title">
            <a:extLst xmlns:a="http://schemas.openxmlformats.org/drawingml/2006/main">
              <a:ext uri="{FF2B5EF4-FFF2-40B4-BE49-F238E27FC236}">
                <a16:creationId xmlns:a16="http://schemas.microsoft.com/office/drawing/2014/main" id="{B225066D-DDA5-4CCF-A893-A0183C78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RISC-V 性能</a:t>
            </a:r>
          </a:p>
        </p:txBody>
      </p:sp>
      <p:sp>
        <p:nvSpPr>
          <p:cNvPr id="9" name="risk-b">
            <a:extLst xmlns:a="http://schemas.openxmlformats.org/drawingml/2006/main">
              <a:ext uri="{FF2B5EF4-FFF2-40B4-BE49-F238E27FC236}">
                <a16:creationId xmlns:a16="http://schemas.microsoft.com/office/drawing/2014/main" id="{CF95FF94-48B8-4D5C-B76A-90DC348D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从 VFS 路径、tmpfs page lookup、调度锁竞争、TLB 合并和日志开销入手，以 profile 证据决定优化。</a:t>
            </a:r>
          </a:p>
        </p:txBody>
      </p:sp>
      <p:sp>
        <p:nvSpPr>
          <p:cNvPr id="10" name="risk-divider">
            <a:extLst xmlns:a="http://schemas.openxmlformats.org/drawingml/2006/main">
              <a:ext uri="{FF2B5EF4-FFF2-40B4-BE49-F238E27FC236}">
                <a16:creationId xmlns:a16="http://schemas.microsoft.com/office/drawing/2014/main" id="{5876A6D8-A001-48D3-A785-67F35EC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11" name="risk-c-title">
            <a:extLst xmlns:a="http://schemas.openxmlformats.org/drawingml/2006/main">
              <a:ext uri="{FF2B5EF4-FFF2-40B4-BE49-F238E27FC236}">
                <a16:creationId xmlns:a16="http://schemas.microsoft.com/office/drawing/2014/main" id="{13557FE8-6715-4216-95E3-4BF69F8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可维护性</a:t>
            </a:r>
          </a:p>
        </p:txBody>
      </p:sp>
      <p:sp>
        <p:nvSpPr>
          <p:cNvPr id="12" name="risk-c">
            <a:extLst xmlns:a="http://schemas.openxmlformats.org/drawingml/2006/main">
              <a:ext uri="{FF2B5EF4-FFF2-40B4-BE49-F238E27FC236}">
                <a16:creationId xmlns:a16="http://schemas.microsoft.com/office/drawing/2014/main" id="{A6F6FA01-5791-488E-BD54-78EE412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user.rs 兼容逻辑体量较大，后续拆分需以双架构回归为前提，不做无证据的大范围结构改写。</a:t>
            </a:r>
          </a:p>
        </p:txBody>
      </p:sp>
      <p:sp>
        <p:nvSpPr>
          <p:cNvPr id="13" name="risk-d-title">
            <a:extLst xmlns:a="http://schemas.openxmlformats.org/drawingml/2006/main">
              <a:ext uri="{FF2B5EF4-FFF2-40B4-BE49-F238E27FC236}">
                <a16:creationId xmlns:a16="http://schemas.microsoft.com/office/drawing/2014/main" id="{914303D7-3D03-49F8-A789-7105A78D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长期能力</a:t>
            </a:r>
          </a:p>
        </p:txBody>
      </p:sp>
      <p:sp>
        <p:nvSpPr>
          <p:cNvPr id="14" name="risk-d">
            <a:extLst xmlns:a="http://schemas.openxmlformats.org/drawingml/2006/main">
              <a:ext uri="{FF2B5EF4-FFF2-40B4-BE49-F238E27FC236}">
                <a16:creationId xmlns:a16="http://schemas.microsoft.com/office/drawing/2014/main" id="{AC48E1F0-C78D-4D95-99C5-440FF9E2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COW fork、统一 page cache、完整 ext4 journal、POSIX signal、网络性能和实体机验证。</a:t>
            </a:r>
          </a:p>
        </p:txBody>
      </p:sp>
    </p:spTree>
    <p:extLst>
      <p:ext uri="{BB962C8B-B14F-4D97-AF65-F5344CB8AC3E}">
        <p14:creationId xmlns:p14="http://schemas.microsoft.com/office/powerpoint/2010/main" val="5237065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6">
            <a:extLst xmlns:a="http://schemas.openxmlformats.org/drawingml/2006/main">
              <a:ext uri="{FF2B5EF4-FFF2-40B4-BE49-F238E27FC236}">
                <a16:creationId xmlns:a16="http://schemas.microsoft.com/office/drawing/2014/main" id="{2A4322AE-0C7A-44A9-BF21-90CF5877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</a:defRPr>
            </a:pPr>
            <a:r>
              <a:rPr sz="1050" b="1">
                <a:solidFill>
                  <a:srgbClr val="2B7A78"/>
                </a:solidFill>
              </a:rPr>
              <a:t>总结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6EDA2893-DE55-43AC-A438-2988E140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当前版本具备可复现、可审计、可继续优化的双架构基础</a:t>
            </a:r>
          </a:p>
        </p:txBody>
      </p:sp>
      <p:sp>
        <p:nvSpPr>
          <p:cNvPr id="3" name="header-line-16">
            <a:extLst xmlns:a="http://schemas.openxmlformats.org/drawingml/2006/main">
              <a:ext uri="{FF2B5EF4-FFF2-40B4-BE49-F238E27FC236}">
                <a16:creationId xmlns:a16="http://schemas.microsoft.com/office/drawing/2014/main" id="{24F9AE53-1DFF-455A-A409-76383D3C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  <a:prstDash val="solid"/>
          </a:ln>
        </p:spPr>
      </p:sp>
      <p:sp>
        <p:nvSpPr>
          <p:cNvPr id="4" name="footer-16">
            <a:extLst xmlns:a="http://schemas.openxmlformats.org/drawingml/2006/main">
              <a:ext uri="{FF2B5EF4-FFF2-40B4-BE49-F238E27FC236}">
                <a16:creationId xmlns:a16="http://schemas.microsoft.com/office/drawing/2014/main" id="{8229CA51-5879-4D14-B79E-986C0ECD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SudoOS-Plus  |  2026-08-12</a:t>
            </a:r>
          </a:p>
        </p:txBody>
      </p:sp>
      <p:sp>
        <p:nvSpPr>
          <p:cNvPr id="5" name="page-16">
            <a:extLst xmlns:a="http://schemas.openxmlformats.org/drawingml/2006/main">
              <a:ext uri="{FF2B5EF4-FFF2-40B4-BE49-F238E27FC236}">
                <a16:creationId xmlns:a16="http://schemas.microsoft.com/office/drawing/2014/main" id="{7CCAF6DA-C4CF-434F-83C4-9413855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17C"/>
                </a:solidFill>
              </a:defRPr>
            </a:pPr>
            <a:r>
              <a:rPr sz="900" b="0">
                <a:solidFill>
                  <a:srgbClr val="61717C"/>
                </a:solidFill>
              </a:rPr>
              <a:t>16</a:t>
            </a:r>
          </a:p>
        </p:txBody>
      </p:sp>
      <p:sp>
        <p:nvSpPr>
          <p:cNvPr id="6" name="close-main">
            <a:extLst xmlns:a="http://schemas.openxmlformats.org/drawingml/2006/main">
              <a:ext uri="{FF2B5EF4-FFF2-40B4-BE49-F238E27FC236}">
                <a16:creationId xmlns:a16="http://schemas.microsoft.com/office/drawing/2014/main" id="{004B5C61-857A-4AE9-85B6-B1A244F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从启动、页表和系统调用，走到真实 Cargo/rustc 复杂构建，关键变化在于跨子系统语义已经形成闭环。</a:t>
            </a:r>
          </a:p>
        </p:txBody>
      </p:sp>
      <p:sp>
        <p:nvSpPr>
          <p:cNvPr id="7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D65F9436-5EE2-430C-9645-0158367C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7A78"/>
                </a:solidFill>
              </a:defRPr>
            </a:pPr>
            <a:r>
              <a:rPr sz="1875" b="1">
                <a:solidFill>
                  <a:srgbClr val="2B7A78"/>
                </a:solidFill>
              </a:rPr>
              <a:t>双架构</a:t>
            </a:r>
          </a:p>
        </p:txBody>
      </p:sp>
      <p:sp>
        <p:nvSpPr>
          <p:cNvPr id="8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705A2279-2948-47C9-B279-FE9C5EF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同一套内核策略，分别适配硬件机制</a:t>
            </a:r>
          </a:p>
        </p:txBody>
      </p:sp>
      <p:sp>
        <p:nvSpPr>
          <p:cNvPr id="9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52F3A81D-D54C-4E42-A79A-DAE284A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7A78"/>
                </a:solidFill>
              </a:defRPr>
            </a:pPr>
            <a:r>
              <a:rPr sz="1875" b="1">
                <a:solidFill>
                  <a:srgbClr val="2B7A78"/>
                </a:solidFill>
              </a:rPr>
              <a:t>正确性</a:t>
            </a:r>
          </a:p>
        </p:txBody>
      </p:sp>
      <p:sp>
        <p:nvSpPr>
          <p:cNvPr id="10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6144818-15C0-4341-983E-0BA14EF3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CAgent 10/10；BuildStorm 产物与标志真实可验</a:t>
            </a:r>
          </a:p>
        </p:txBody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84FE586E-CF47-4C75-8722-FCCD46D6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861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7A78"/>
                </a:solidFill>
              </a:defRPr>
            </a:pPr>
            <a:r>
              <a:rPr sz="1875" b="1">
                <a:solidFill>
                  <a:srgbClr val="2B7A78"/>
                </a:solidFill>
              </a:rPr>
              <a:t>工程性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F3B0D9B-41F8-4BA7-B02F-7F9D3BF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D2B34"/>
                </a:solidFill>
              </a:defRPr>
            </a:pPr>
            <a:r>
              <a:rPr sz="1425" b="0">
                <a:solidFill>
                  <a:srgbClr val="1D2B34"/>
                </a:solidFill>
              </a:rPr>
              <a:t>固定构建入口、离线依赖、完整日志和严格判据</a:t>
            </a:r>
          </a:p>
        </p:txBody>
      </p:sp>
      <p:sp>
        <p:nvSpPr>
          <p:cNvPr id="13" name="close-bar">
            <a:extLst xmlns:a="http://schemas.openxmlformats.org/drawingml/2006/main">
              <a:ext uri="{FF2B5EF4-FFF2-40B4-BE49-F238E27FC236}">
                <a16:creationId xmlns:a16="http://schemas.microsoft.com/office/drawing/2014/main" id="{CBE8A973-090E-45D9-8288-9BB2DD2D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10191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bar-text">
            <a:extLst xmlns:a="http://schemas.openxmlformats.org/drawingml/2006/main">
              <a:ext uri="{FF2B5EF4-FFF2-40B4-BE49-F238E27FC236}">
                <a16:creationId xmlns:a16="http://schemas.microsoft.com/office/drawing/2014/main" id="{B77BA766-29AD-4831-AC6E-B65770AA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054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下一步：以官网评测结果校准镜像差异和时间优化，不回退已验证的 CAgent 与 BuildStorm 正确性。</a:t>
            </a:r>
          </a:p>
        </p:txBody>
      </p:sp>
    </p:spTree>
    <p:extLst>
      <p:ext uri="{BB962C8B-B14F-4D97-AF65-F5344CB8AC3E}">
        <p14:creationId xmlns:p14="http://schemas.microsoft.com/office/powerpoint/2010/main" val="1614600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2026-08-11T17:36:17.8870000Z</dcterms:created>
  <dcterms:modified xsi:type="dcterms:W3CDTF">2026-08-11T17:36:17.8870000Z</dcterms:modified>
</coreProperties>
</file>