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defb128a9b2473c" /><Relationship Type="http://schemas.openxmlformats.org/officeDocument/2006/relationships/extended-properties" Target="/docProps/app.xml" Id="R27b2a881651e4b98" /><Relationship Type="http://schemas.openxmlformats.org/officeDocument/2006/relationships/officeDocument" Target="/ppt/presentation.xml" Id="Rd1311db9ddaa4f7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7358ed078a4489c"/>
  </p:sldMasterIdLst>
  <p:notesMasterIdLst>
    <p:notesMasterId xmlns:r="http://schemas.openxmlformats.org/officeDocument/2006/relationships" r:id="R67b4edb3e948474a"/>
  </p:notesMasterIdLst>
  <p:sldIdLst>
    <p:sldId xmlns:r="http://schemas.openxmlformats.org/officeDocument/2006/relationships" id="256" r:id="R68fef9d43b074e5a"/>
    <p:sldId xmlns:r="http://schemas.openxmlformats.org/officeDocument/2006/relationships" id="257" r:id="Ra0af3c30a4e64bd4"/>
    <p:sldId xmlns:r="http://schemas.openxmlformats.org/officeDocument/2006/relationships" id="258" r:id="R8c6ea548b927466b"/>
    <p:sldId xmlns:r="http://schemas.openxmlformats.org/officeDocument/2006/relationships" id="259" r:id="R91447296ce714e9d"/>
    <p:sldId xmlns:r="http://schemas.openxmlformats.org/officeDocument/2006/relationships" id="260" r:id="R49fde3a723db461f"/>
    <p:sldId xmlns:r="http://schemas.openxmlformats.org/officeDocument/2006/relationships" id="261" r:id="Rfc6607b5476844d7"/>
    <p:sldId xmlns:r="http://schemas.openxmlformats.org/officeDocument/2006/relationships" id="262" r:id="Rf2a79359a4554152"/>
    <p:sldId xmlns:r="http://schemas.openxmlformats.org/officeDocument/2006/relationships" id="263" r:id="R8310dbc0b5b049e1"/>
    <p:sldId xmlns:r="http://schemas.openxmlformats.org/officeDocument/2006/relationships" id="264" r:id="R6cb2331a2b48479e"/>
    <p:sldId xmlns:r="http://schemas.openxmlformats.org/officeDocument/2006/relationships" id="265" r:id="Rc63b49e691804ee7"/>
    <p:sldId xmlns:r="http://schemas.openxmlformats.org/officeDocument/2006/relationships" id="266" r:id="Rb8ab30b36a2b4664"/>
    <p:sldId xmlns:r="http://schemas.openxmlformats.org/officeDocument/2006/relationships" id="267" r:id="R189ec62e54f24aae"/>
    <p:sldId xmlns:r="http://schemas.openxmlformats.org/officeDocument/2006/relationships" id="268" r:id="R55bc949ed2584a44"/>
    <p:sldId xmlns:r="http://schemas.openxmlformats.org/officeDocument/2006/relationships" id="269" r:id="R1b345d968c14433f"/>
    <p:sldId xmlns:r="http://schemas.openxmlformats.org/officeDocument/2006/relationships" id="270" r:id="R615673acbb9241ea"/>
    <p:sldId xmlns:r="http://schemas.openxmlformats.org/officeDocument/2006/relationships" id="271" r:id="R884f9c8cafa84bfc"/>
    <p:sldId xmlns:r="http://schemas.openxmlformats.org/officeDocument/2006/relationships" id="272" r:id="R8d0c1881fc614f57"/>
    <p:sldId xmlns:r="http://schemas.openxmlformats.org/officeDocument/2006/relationships" id="273" r:id="Re4aed5e00ca9420a"/>
    <p:sldId xmlns:r="http://schemas.openxmlformats.org/officeDocument/2006/relationships" id="274" r:id="Rcbf42316a1c04a6a"/>
    <p:sldId xmlns:r="http://schemas.openxmlformats.org/officeDocument/2006/relationships" id="275" r:id="R6b8ca0188f8f4dc1"/>
    <p:sldId xmlns:r="http://schemas.openxmlformats.org/officeDocument/2006/relationships" id="276" r:id="Ra56846e2ec9f40ef"/>
    <p:sldId xmlns:r="http://schemas.openxmlformats.org/officeDocument/2006/relationships" id="277" r:id="R8f3a7f940d0d4504"/>
    <p:sldId xmlns:r="http://schemas.openxmlformats.org/officeDocument/2006/relationships" id="278" r:id="Red905f8a1e4d4e33"/>
    <p:sldId xmlns:r="http://schemas.openxmlformats.org/officeDocument/2006/relationships" id="279" r:id="R26fbe3368f534d1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4681156fa1e4fb6" /><Relationship Type="http://schemas.openxmlformats.org/officeDocument/2006/relationships/slideMaster" Target="/ppt/slideMasters/slideMaster1.xml" Id="R27358ed078a4489c" /><Relationship Type="http://schemas.openxmlformats.org/officeDocument/2006/relationships/notesMaster" Target="/ppt/notesMasters/notesMaster1.xml" Id="R67b4edb3e948474a" /><Relationship Type="http://schemas.openxmlformats.org/officeDocument/2006/relationships/presProps" Target="/ppt/presProps.xml" Id="Reffd881f96f64faa" /><Relationship Type="http://schemas.openxmlformats.org/officeDocument/2006/relationships/tableStyles" Target="/ppt/tableStyles.xml" Id="R442f2a7585d14155" /><Relationship Type="http://schemas.openxmlformats.org/officeDocument/2006/relationships/slide" Target="/ppt/slides/slide1.xml" Id="R68fef9d43b074e5a" /><Relationship Type="http://schemas.openxmlformats.org/officeDocument/2006/relationships/slide" Target="/ppt/slides/slide2.xml" Id="Ra0af3c30a4e64bd4" /><Relationship Type="http://schemas.openxmlformats.org/officeDocument/2006/relationships/slide" Target="/ppt/slides/slide3.xml" Id="R8c6ea548b927466b" /><Relationship Type="http://schemas.openxmlformats.org/officeDocument/2006/relationships/slide" Target="/ppt/slides/slide4.xml" Id="R91447296ce714e9d" /><Relationship Type="http://schemas.openxmlformats.org/officeDocument/2006/relationships/slide" Target="/ppt/slides/slide5.xml" Id="R49fde3a723db461f" /><Relationship Type="http://schemas.openxmlformats.org/officeDocument/2006/relationships/slide" Target="/ppt/slides/slide6.xml" Id="Rfc6607b5476844d7" /><Relationship Type="http://schemas.openxmlformats.org/officeDocument/2006/relationships/slide" Target="/ppt/slides/slide7.xml" Id="Rf2a79359a4554152" /><Relationship Type="http://schemas.openxmlformats.org/officeDocument/2006/relationships/slide" Target="/ppt/slides/slide8.xml" Id="R8310dbc0b5b049e1" /><Relationship Type="http://schemas.openxmlformats.org/officeDocument/2006/relationships/slide" Target="/ppt/slides/slide9.xml" Id="R6cb2331a2b48479e" /><Relationship Type="http://schemas.openxmlformats.org/officeDocument/2006/relationships/slide" Target="/ppt/slides/slide10.xml" Id="Rc63b49e691804ee7" /><Relationship Type="http://schemas.openxmlformats.org/officeDocument/2006/relationships/slide" Target="/ppt/slides/slide11.xml" Id="Rb8ab30b36a2b4664" /><Relationship Type="http://schemas.openxmlformats.org/officeDocument/2006/relationships/slide" Target="/ppt/slides/slide12.xml" Id="R189ec62e54f24aae" /><Relationship Type="http://schemas.openxmlformats.org/officeDocument/2006/relationships/slide" Target="/ppt/slides/slide13.xml" Id="R55bc949ed2584a44" /><Relationship Type="http://schemas.openxmlformats.org/officeDocument/2006/relationships/slide" Target="/ppt/slides/slide14.xml" Id="R1b345d968c14433f" /><Relationship Type="http://schemas.openxmlformats.org/officeDocument/2006/relationships/slide" Target="/ppt/slides/slide15.xml" Id="R615673acbb9241ea" /><Relationship Type="http://schemas.openxmlformats.org/officeDocument/2006/relationships/slide" Target="/ppt/slides/slide16.xml" Id="R884f9c8cafa84bfc" /><Relationship Type="http://schemas.openxmlformats.org/officeDocument/2006/relationships/slide" Target="/ppt/slides/slide17.xml" Id="R8d0c1881fc614f57" /><Relationship Type="http://schemas.openxmlformats.org/officeDocument/2006/relationships/slide" Target="/ppt/slides/slide18.xml" Id="Re4aed5e00ca9420a" /><Relationship Type="http://schemas.openxmlformats.org/officeDocument/2006/relationships/slide" Target="/ppt/slides/slide19.xml" Id="Rcbf42316a1c04a6a" /><Relationship Type="http://schemas.openxmlformats.org/officeDocument/2006/relationships/slide" Target="/ppt/slides/slide20.xml" Id="R6b8ca0188f8f4dc1" /><Relationship Type="http://schemas.openxmlformats.org/officeDocument/2006/relationships/slide" Target="/ppt/slides/slide21.xml" Id="Ra56846e2ec9f40ef" /><Relationship Type="http://schemas.openxmlformats.org/officeDocument/2006/relationships/slide" Target="/ppt/slides/slide22.xml" Id="R8f3a7f940d0d4504" /><Relationship Type="http://schemas.openxmlformats.org/officeDocument/2006/relationships/slide" Target="/ppt/slides/slide23.xml" Id="Red905f8a1e4d4e33" /><Relationship Type="http://schemas.openxmlformats.org/officeDocument/2006/relationships/slide" Target="/ppt/slides/slide24.xml" Id="R26fbe3368f534d1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d488c4a257849b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624fff7f8754430" /><Relationship Type="http://schemas.openxmlformats.org/officeDocument/2006/relationships/notesMaster" Target="/ppt/notesMasters/notesMaster1.xml" Id="Rd365d5a2b317451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164c81c70a24c3c" /><Relationship Type="http://schemas.openxmlformats.org/officeDocument/2006/relationships/notesMaster" Target="/ppt/notesMasters/notesMaster1.xml" Id="R53d0e2dfe63041b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7cd29a1c80345cb" /><Relationship Type="http://schemas.openxmlformats.org/officeDocument/2006/relationships/notesMaster" Target="/ppt/notesMasters/notesMaster1.xml" Id="R0fddd9b82bae4ab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353053983ee43a0" /><Relationship Type="http://schemas.openxmlformats.org/officeDocument/2006/relationships/notesMaster" Target="/ppt/notesMasters/notesMaster1.xml" Id="R04d67c04ae13481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d29c019f854439c" /><Relationship Type="http://schemas.openxmlformats.org/officeDocument/2006/relationships/notesMaster" Target="/ppt/notesMasters/notesMaster1.xml" Id="R0115727a161c4d7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4ed185514d14d59" /><Relationship Type="http://schemas.openxmlformats.org/officeDocument/2006/relationships/notesMaster" Target="/ppt/notesMasters/notesMaster1.xml" Id="R28310643e497483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951fb62f36344c9" /><Relationship Type="http://schemas.openxmlformats.org/officeDocument/2006/relationships/notesMaster" Target="/ppt/notesMasters/notesMaster1.xml" Id="R9fb615ed603c4c6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e17bd058d32413e" /><Relationship Type="http://schemas.openxmlformats.org/officeDocument/2006/relationships/notesMaster" Target="/ppt/notesMasters/notesMaster1.xml" Id="Rb2a2c5a09be04a3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3afc9d2e1274400" /><Relationship Type="http://schemas.openxmlformats.org/officeDocument/2006/relationships/notesMaster" Target="/ppt/notesMasters/notesMaster1.xml" Id="R400036a7958d4ff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50ca5ae930b44ec" /><Relationship Type="http://schemas.openxmlformats.org/officeDocument/2006/relationships/notesMaster" Target="/ppt/notesMasters/notesMaster1.xml" Id="Rf323b1e2eb8247e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4f7fa5883fe4028" /><Relationship Type="http://schemas.openxmlformats.org/officeDocument/2006/relationships/notesMaster" Target="/ppt/notesMasters/notesMaster1.xml" Id="R522535e64e0a48d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7c860d4b51244b2" /><Relationship Type="http://schemas.openxmlformats.org/officeDocument/2006/relationships/notesMaster" Target="/ppt/notesMasters/notesMaster1.xml" Id="R72e0ef3e0db2475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b25b916d7a74dc9" /><Relationship Type="http://schemas.openxmlformats.org/officeDocument/2006/relationships/notesMaster" Target="/ppt/notesMasters/notesMaster1.xml" Id="R58dc0579b2944db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143c96557c94044" /><Relationship Type="http://schemas.openxmlformats.org/officeDocument/2006/relationships/notesMaster" Target="/ppt/notesMasters/notesMaster1.xml" Id="R25e41b292dce4de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0565c2be60e4d0c" /><Relationship Type="http://schemas.openxmlformats.org/officeDocument/2006/relationships/notesMaster" Target="/ppt/notesMasters/notesMaster1.xml" Id="R78710df12fd04fe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26d6b0853e34868" /><Relationship Type="http://schemas.openxmlformats.org/officeDocument/2006/relationships/notesMaster" Target="/ppt/notesMasters/notesMaster1.xml" Id="Re8e442ae55ab448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d494998ce42479c" /><Relationship Type="http://schemas.openxmlformats.org/officeDocument/2006/relationships/notesMaster" Target="/ppt/notesMasters/notesMaster1.xml" Id="R648d6a047a55433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25a79e1eb2a43e3" /><Relationship Type="http://schemas.openxmlformats.org/officeDocument/2006/relationships/notesMaster" Target="/ppt/notesMasters/notesMaster1.xml" Id="R06f1e6c0b5b746e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45a4496ca544497" /><Relationship Type="http://schemas.openxmlformats.org/officeDocument/2006/relationships/notesMaster" Target="/ppt/notesMasters/notesMaster1.xml" Id="Rac0c92104da741b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aedb20f52b5445e" /><Relationship Type="http://schemas.openxmlformats.org/officeDocument/2006/relationships/notesMaster" Target="/ppt/notesMasters/notesMaster1.xml" Id="R2427496400fc493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5b3d154b406446f" /><Relationship Type="http://schemas.openxmlformats.org/officeDocument/2006/relationships/notesMaster" Target="/ppt/notesMasters/notesMaster1.xml" Id="R6583ac48643b42d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79ee72bafee475b" /><Relationship Type="http://schemas.openxmlformats.org/officeDocument/2006/relationships/notesMaster" Target="/ppt/notesMasters/notesMaster1.xml" Id="R03d5088046da4ac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2a38d5b57e4488f" /><Relationship Type="http://schemas.openxmlformats.org/officeDocument/2006/relationships/notesMaster" Target="/ppt/notesMasters/notesMaster1.xml" Id="Rfb8c560b44ac48e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965c805e1474c0e" /><Relationship Type="http://schemas.openxmlformats.org/officeDocument/2006/relationships/notesMaster" Target="/ppt/notesMasters/notesMaster1.xml" Id="R8580764233a9441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76f82b2f08401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224fe4cff0048a5" /><Relationship Type="http://schemas.openxmlformats.org/officeDocument/2006/relationships/slideLayout" Target="/ppt/slideLayouts/slideLayout1.xml" Id="R6e0b4e4906be437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e0b4e4906be437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75ff41eab94ca8" /><Relationship Type="http://schemas.openxmlformats.org/officeDocument/2006/relationships/notesSlide" Target="/ppt/notesSlides/notesSlide1.xml" Id="R3d4b0c5b18e54a0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9d31ff314b44f0" /><Relationship Type="http://schemas.openxmlformats.org/officeDocument/2006/relationships/notesSlide" Target="/ppt/notesSlides/notesSlide2.xml" Id="Ra7e10006f2fb43d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7eb57e27244344" /><Relationship Type="http://schemas.openxmlformats.org/officeDocument/2006/relationships/notesSlide" Target="/ppt/notesSlides/notesSlide3.xml" Id="R1790825404fe4ff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cf9754bc344686" /><Relationship Type="http://schemas.openxmlformats.org/officeDocument/2006/relationships/image" Target="/ppt/media/image.png" Id="R858205ebc01e420f" /><Relationship Type="http://schemas.openxmlformats.org/officeDocument/2006/relationships/notesSlide" Target="/ppt/notesSlides/notesSlide4.xml" Id="R3f83e7723338435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f6c28a956c49d3" /><Relationship Type="http://schemas.openxmlformats.org/officeDocument/2006/relationships/chart" Target="/ppt/slides/charts/chart1.xml" Id="R1dc1837870cb44b2" /><Relationship Type="http://schemas.openxmlformats.org/officeDocument/2006/relationships/notesSlide" Target="/ppt/notesSlides/notesSlide5.xml" Id="R42da1768e0be4bd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b8863028704240" /><Relationship Type="http://schemas.openxmlformats.org/officeDocument/2006/relationships/notesSlide" Target="/ppt/notesSlides/notesSlide6.xml" Id="R9220a88a59ac4e2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69d11572bf44cd" /><Relationship Type="http://schemas.openxmlformats.org/officeDocument/2006/relationships/notesSlide" Target="/ppt/notesSlides/notesSlide7.xml" Id="Rc91046614a0f4b6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4dfa615b7540b4" /><Relationship Type="http://schemas.openxmlformats.org/officeDocument/2006/relationships/notesSlide" Target="/ppt/notesSlides/notesSlide8.xml" Id="R8768356841cb457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5a357aa3014ec7" /><Relationship Type="http://schemas.openxmlformats.org/officeDocument/2006/relationships/notesSlide" Target="/ppt/notesSlides/notesSlide9.xml" Id="Rfe0c1260c4f349b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ff47aa230d4eae" /><Relationship Type="http://schemas.openxmlformats.org/officeDocument/2006/relationships/notesSlide" Target="/ppt/notesSlides/notesSlide10.xml" Id="Ra2923eb983e3413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ed98a75a2e40d1" /><Relationship Type="http://schemas.openxmlformats.org/officeDocument/2006/relationships/notesSlide" Target="/ppt/notesSlides/notesSlide11.xml" Id="R247a028d4f434de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104f608a3145b1" /><Relationship Type="http://schemas.openxmlformats.org/officeDocument/2006/relationships/notesSlide" Target="/ppt/notesSlides/notesSlide12.xml" Id="R6f196e71cadf415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96c63e03334a1f" /><Relationship Type="http://schemas.openxmlformats.org/officeDocument/2006/relationships/notesSlide" Target="/ppt/notesSlides/notesSlide13.xml" Id="R224e49b5293f477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ccb85835334757" /><Relationship Type="http://schemas.openxmlformats.org/officeDocument/2006/relationships/notesSlide" Target="/ppt/notesSlides/notesSlide14.xml" Id="R2d33bbb363b047c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2a8e92a3164d8f" /><Relationship Type="http://schemas.openxmlformats.org/officeDocument/2006/relationships/notesSlide" Target="/ppt/notesSlides/notesSlide15.xml" Id="Re6299b97a33b4be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659fb6b36c4ea6" /><Relationship Type="http://schemas.openxmlformats.org/officeDocument/2006/relationships/notesSlide" Target="/ppt/notesSlides/notesSlide16.xml" Id="R2b135cb124a1402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5df04019d74534" /><Relationship Type="http://schemas.openxmlformats.org/officeDocument/2006/relationships/notesSlide" Target="/ppt/notesSlides/notesSlide17.xml" Id="R2d21fa498cff414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5cb875190a452d" /><Relationship Type="http://schemas.openxmlformats.org/officeDocument/2006/relationships/notesSlide" Target="/ppt/notesSlides/notesSlide18.xml" Id="Rf8cecca2d9804b8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999263b48b47b9" /><Relationship Type="http://schemas.openxmlformats.org/officeDocument/2006/relationships/notesSlide" Target="/ppt/notesSlides/notesSlide19.xml" Id="R015527cf87e54ab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1620056ea243f5" /><Relationship Type="http://schemas.openxmlformats.org/officeDocument/2006/relationships/notesSlide" Target="/ppt/notesSlides/notesSlide20.xml" Id="Rf4eeed0b689841f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6139a4f3364cec" /><Relationship Type="http://schemas.openxmlformats.org/officeDocument/2006/relationships/notesSlide" Target="/ppt/notesSlides/notesSlide21.xml" Id="R85202b479d054fa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9bc68e0ae64705" /><Relationship Type="http://schemas.openxmlformats.org/officeDocument/2006/relationships/notesSlide" Target="/ppt/notesSlides/notesSlide22.xml" Id="R96b8725d005a4e2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9217e35da44627" /><Relationship Type="http://schemas.openxmlformats.org/officeDocument/2006/relationships/notesSlide" Target="/ppt/notesSlides/notesSlide23.xml" Id="Rc29652872d264b8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56f4617d184fb4" /><Relationship Type="http://schemas.openxmlformats.org/officeDocument/2006/relationships/notesSlide" Target="/ppt/notesSlides/notesSlide24.xml" Id="Rb794dd1165b94bbb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varyColors val="0"/>
        <c:ser>
          <c:idx val="0"/>
          <c:order val="0"/>
          <c:tx>
            <c:v>得分</c:v>
          </c:tx>
          <c:spPr>
            <a:solidFill xmlns:a="http://schemas.openxmlformats.org/drawingml/2006/main">
              <a:srgbClr val="FF6B35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4"/>
              <c:pt idx="0">
                <c:v>basic</c:v>
              </c:pt>
              <c:pt idx="1">
                <c:v>busybox</c:v>
              </c:pt>
              <c:pt idx="2">
                <c:v>libcbench</c:v>
              </c:pt>
              <c:pt idx="3">
                <c:v>lua</c:v>
              </c:pt>
            </c:strLit>
          </c:cat>
          <c:val>
            <c:numLit>
              <c:formatCode>General</c:formatCode>
              <c:ptCount val="4"/>
              <c:pt idx="0">
                <c:v>388</c:v>
              </c:pt>
              <c:pt idx="1">
                <c:v>214</c:v>
              </c:pt>
              <c:pt idx="2">
                <c:v>103.9279616944203</c:v>
              </c:pt>
              <c:pt idx="3">
                <c:v>36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B8BCC4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/>
                  <a:t>分数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nel">
            <a:extLst xmlns:a="http://schemas.openxmlformats.org/drawingml/2006/main">
              <a:ext uri="{FF2B5EF4-FFF2-40B4-BE49-F238E27FC236}">
                <a16:creationId xmlns:a16="http://schemas.microsoft.com/office/drawing/2014/main" id="{716E5667-4D80-4A95-8B06-DA91A53FC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D1FC6A93-57FD-4888-B6F4-635F5F86B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5300"/>
            <a:ext cx="52387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101114"/>
                </a:solidFill>
              </a:defRPr>
            </a:pPr>
            <a:r>
              <a:t>SudoOS-Plus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FC12504C-7DAE-4D4A-854B-E78FB9E67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00200"/>
            <a:ext cx="7334250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01114"/>
                </a:solidFill>
              </a:defRPr>
            </a:pPr>
            <a:r>
              <a:t>双架构 Rust 操作系统
设计方案与 OSCOMP 进展汇报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599F840-571B-434F-82DB-3EE5775F8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14750"/>
            <a:ext cx="6858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55B66"/>
                </a:solidFill>
              </a:defRPr>
            </a:pPr>
            <a:r>
              <a:t>RISC-V 64 × LoongArch 64 · glibc × musl</a:t>
            </a:r>
          </a:p>
        </p:txBody>
      </p:sp>
      <p:sp>
        <p:nvSpPr>
          <p:cNvPr id="5" name="panel">
            <a:extLst xmlns:a="http://schemas.openxmlformats.org/drawingml/2006/main">
              <a:ext uri="{FF2B5EF4-FFF2-40B4-BE49-F238E27FC236}">
                <a16:creationId xmlns:a16="http://schemas.microsoft.com/office/drawing/2014/main" id="{9713FAF6-F00B-4B75-9803-0BE925A71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723900"/>
            <a:ext cx="3143250" cy="441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B8C117F-1B65-4E85-B01F-A2DAA38F2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219200"/>
            <a:ext cx="2619375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FF6B35"/>
                </a:solidFill>
              </a:defRPr>
            </a:pPr>
            <a:r>
              <a:t>741.9279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4FF11F8-27C0-4448-AF76-2E5C8D7FD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33600"/>
            <a:ext cx="261937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55B66"/>
                </a:solidFill>
              </a:defRPr>
            </a:pPr>
            <a:r>
              <a:t>附件平台总分</a:t>
            </a:r>
          </a:p>
        </p:txBody>
      </p:sp>
      <p:cxnSp>
        <p:nvCxnSpPr>
          <p:cNvPr id="20" name="rule"/>
          <p:cNvCxnSpPr/>
          <p:nvPr/>
        </p:nvCxnSpPr>
        <p:spPr>
          <a:xfrm xmlns:a="http://schemas.openxmlformats.org/drawingml/2006/main">
            <a:off x="8705850" y="2838450"/>
            <a:ext cx="219075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89CEC3D-D669-401D-BBA9-256620DE6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43250"/>
            <a:ext cx="2266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55B66"/>
                </a:solidFill>
              </a:defRPr>
            </a:pPr>
            <a:r>
              <a:t>当前基线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EE53FC5-4BBB-4909-AB40-14168469A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524250"/>
            <a:ext cx="26479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1114"/>
                </a:solidFill>
              </a:defRPr>
            </a:pPr>
            <a:r>
              <a:t>6.28 @ a7da2b9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2FDC0C14-54D3-4C07-8E6E-4613ABD1D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343400"/>
            <a:ext cx="26193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55B66"/>
                </a:solidFill>
              </a:defRPr>
            </a:pPr>
            <a:r>
              <a:t>2026-06-28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016938B-341C-407E-8962-2D1D00976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29300"/>
            <a:ext cx="8096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B66"/>
                </a:solidFill>
              </a:defRPr>
            </a:pPr>
            <a:r>
              <a:t>代码审计 · 当前进度 · 实现细节 · 风险 · 路线图</a:t>
            </a:r>
          </a:p>
        </p:txBody>
      </p:sp>
    </p:spTree>
    <p:extLst>
      <p:ext uri="{BB962C8B-B14F-4D97-AF65-F5344CB8AC3E}">
        <p14:creationId xmlns:p14="http://schemas.microsoft.com/office/powerpoint/2010/main" val="13200925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C805C0E9-BB13-442F-A001-EB92D8D43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B66"/>
                </a:solidFill>
              </a:defRPr>
            </a:pPr>
            <a:r>
              <a:t>SudoOS-Plus · OSCOMP 6.28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77034F23-C13F-402C-930F-EC8EE2294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049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114"/>
                </a:solidFill>
              </a:defRPr>
            </a:pPr>
            <a:r>
              <a:t>汇报结构</a:t>
            </a:r>
          </a:p>
        </p:txBody>
      </p:sp>
      <p:cxnSp>
        <p:nvCxnSpPr>
          <p:cNvPr id="22" name="rule"/>
          <p:cNvCxnSpPr/>
          <p:nvPr/>
        </p:nvCxnSpPr>
        <p:spPr>
          <a:xfrm xmlns:a="http://schemas.openxmlformats.org/drawingml/2006/main">
            <a:off x="400050" y="121920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297E4F5-EFD9-42F8-964F-EF0967319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B66"/>
                </a:solidFill>
              </a:defRPr>
            </a:pPr>
            <a:r>
              <a:t>02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DBCC609-E5B6-4E2A-8A0F-FAAAF999B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762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6B35"/>
                </a:solidFill>
              </a:defRPr>
            </a:pPr>
            <a:r>
              <a:t>01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F68182D-EAC7-498E-BF98-C78BE691C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600200"/>
            <a:ext cx="40005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114"/>
                </a:solidFill>
              </a:defRPr>
            </a:pPr>
            <a:r>
              <a:t>当前结论与评分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49C6808-BEAB-4253-9C3D-420B88632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43150"/>
            <a:ext cx="762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6B35"/>
                </a:solidFill>
              </a:defRPr>
            </a:pPr>
            <a:r>
              <a:t>02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BC0B687-1C5B-406B-AF48-4BA7680DB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324100"/>
            <a:ext cx="40005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114"/>
                </a:solidFill>
              </a:defRPr>
            </a:pPr>
            <a:r>
              <a:t>系统架构与关键实现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ABA6AF7-26FB-46EB-92F3-4DE5792B5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67050"/>
            <a:ext cx="762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6B35"/>
                </a:solidFill>
              </a:defRPr>
            </a:pPr>
            <a:r>
              <a:t>03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0943555-D78E-4D45-801E-B337A8EE7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048000"/>
            <a:ext cx="40005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114"/>
                </a:solidFill>
              </a:defRPr>
            </a:pPr>
            <a:r>
              <a:t>验证证据与进度边界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5A520A04-45DF-4707-840D-61D4FC491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19250"/>
            <a:ext cx="762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6B35"/>
                </a:solidFill>
              </a:defRPr>
            </a:pPr>
            <a:r>
              <a:t>04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D29EC2D-0EBF-446D-9D5E-8F51A3311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600200"/>
            <a:ext cx="40957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114"/>
                </a:solidFill>
              </a:defRPr>
            </a:pPr>
            <a:r>
              <a:t>文件职责与工程组织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E8D093E-780C-4DFF-9F7E-A819532C8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43150"/>
            <a:ext cx="762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6B35"/>
                </a:solidFill>
              </a:defRPr>
            </a:pPr>
            <a:r>
              <a:t>05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6554A8C0-1C4D-4CD8-B205-F5F35AF95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324100"/>
            <a:ext cx="40957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114"/>
                </a:solidFill>
              </a:defRPr>
            </a:pPr>
            <a:r>
              <a:t>风险登记与实施计划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8D528405-3B15-48BF-B3AA-33908BF2E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67050"/>
            <a:ext cx="762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6B35"/>
                </a:solidFill>
              </a:defRPr>
            </a:pPr>
            <a:r>
              <a:t>06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A4F9F1A8-AAFD-4224-A7F7-A563FC48A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048000"/>
            <a:ext cx="40957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114"/>
                </a:solidFill>
              </a:defRPr>
            </a:pPr>
            <a:r>
              <a:t>完成定义与下一阶段</a:t>
            </a:r>
          </a:p>
        </p:txBody>
      </p:sp>
      <p:sp>
        <p:nvSpPr>
          <p:cNvPr id="17" name="panel">
            <a:extLst xmlns:a="http://schemas.openxmlformats.org/drawingml/2006/main">
              <a:ext uri="{FF2B5EF4-FFF2-40B4-BE49-F238E27FC236}">
                <a16:creationId xmlns:a16="http://schemas.microsoft.com/office/drawing/2014/main" id="{542E35A9-4D6B-48B7-8BED-95F1317B9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05300"/>
            <a:ext cx="113919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C491CD1E-A8DF-4DEB-B12D-24F81238E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0"/>
            <a:ext cx="1619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114"/>
                </a:solidFill>
              </a:defRPr>
            </a:pPr>
            <a:r>
              <a:t>事实口径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2626D971-A9B7-4A77-B1DF-EDB32F235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552950"/>
            <a:ext cx="8763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55B66"/>
                </a:solidFill>
              </a:defRPr>
            </a:pPr>
            <a:r>
              <a:t>源码存在 ≠ 当前 HEAD 动态通过 ≠ 平台截图得分。三类证据分开陈述。</a:t>
            </a:r>
          </a:p>
        </p:txBody>
      </p:sp>
    </p:spTree>
    <p:extLst>
      <p:ext uri="{BB962C8B-B14F-4D97-AF65-F5344CB8AC3E}">
        <p14:creationId xmlns:p14="http://schemas.microsoft.com/office/powerpoint/2010/main" val="3514252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CB9822CA-840B-44AE-8BD5-7BDDA5C6B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B66"/>
                </a:solidFill>
              </a:defRPr>
            </a:pPr>
            <a:r>
              <a:t>SudoOS-Plus · OSCOMP 6.28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B568AF60-06D7-4CA9-A012-A907C847E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049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114"/>
                </a:solidFill>
              </a:defRPr>
            </a:pPr>
            <a:r>
              <a:t>一页结论：底座已成形，证据链仍需闭环</a:t>
            </a:r>
          </a:p>
        </p:txBody>
      </p:sp>
      <p:cxnSp>
        <p:nvCxnSpPr>
          <p:cNvPr id="22" name="rule"/>
          <p:cNvCxnSpPr/>
          <p:nvPr/>
        </p:nvCxnSpPr>
        <p:spPr>
          <a:xfrm xmlns:a="http://schemas.openxmlformats.org/drawingml/2006/main">
            <a:off x="400050" y="121920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5BBD110-67BC-414A-BCD1-C352B44A8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B66"/>
                </a:solidFill>
              </a:defRPr>
            </a:pPr>
            <a:r>
              <a:t>03</a:t>
            </a:r>
          </a:p>
        </p:txBody>
      </p:sp>
      <p:sp>
        <p:nvSpPr>
          <p:cNvPr id="5" name="panel">
            <a:extLst xmlns:a="http://schemas.openxmlformats.org/drawingml/2006/main">
              <a:ext uri="{FF2B5EF4-FFF2-40B4-BE49-F238E27FC236}">
                <a16:creationId xmlns:a16="http://schemas.microsoft.com/office/drawing/2014/main" id="{2D049C12-14CC-44A6-AA2B-62395FD74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2581275" cy="260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E183DF7-C985-4AB7-AEFF-34F04B55E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21621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6B35"/>
                </a:solidFill>
              </a:defRPr>
            </a:pPr>
            <a:r>
              <a:t>741.9279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1D10A8E-56CA-47F3-8E16-D449A8CD0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2162175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B66"/>
                </a:solidFill>
              </a:defRPr>
            </a:pPr>
            <a:r>
              <a:t>附件平台总分</a:t>
            </a:r>
          </a:p>
        </p:txBody>
      </p:sp>
      <p:sp>
        <p:nvSpPr>
          <p:cNvPr id="8" name="panel">
            <a:extLst xmlns:a="http://schemas.openxmlformats.org/drawingml/2006/main">
              <a:ext uri="{FF2B5EF4-FFF2-40B4-BE49-F238E27FC236}">
                <a16:creationId xmlns:a16="http://schemas.microsoft.com/office/drawing/2014/main" id="{79265180-6A02-4015-8C7E-DF89FEB08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57350"/>
            <a:ext cx="2581275" cy="260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28B8A7B-01ED-482C-9C30-0543E73CB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866900"/>
            <a:ext cx="21621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1114"/>
                </a:solidFill>
              </a:defRPr>
            </a:pPr>
            <a:r>
              <a:t>4 / 11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8B9C408-CF03-45BF-8644-94751C13A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600450"/>
            <a:ext cx="2162175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B66"/>
                </a:solidFill>
              </a:defRPr>
            </a:pPr>
            <a:r>
              <a:t>当前有得分测试组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D5594688-174F-494D-86F9-4089A11C9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57350"/>
            <a:ext cx="2581275" cy="260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C609426-7762-4BBA-BF24-ED8A19F9B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66900"/>
            <a:ext cx="21621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E7A4D"/>
                </a:solidFill>
              </a:defRPr>
            </a:pPr>
            <a:r>
              <a:t>45 / 45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9207F9A-D139-4711-8B8C-FBF0C6071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00450"/>
            <a:ext cx="2162175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B66"/>
                </a:solidFill>
              </a:defRPr>
            </a:pPr>
            <a:r>
              <a:t>myos-mm 单测</a:t>
            </a:r>
          </a:p>
        </p:txBody>
      </p:sp>
      <p:sp>
        <p:nvSpPr>
          <p:cNvPr id="14" name="panel">
            <a:extLst xmlns:a="http://schemas.openxmlformats.org/drawingml/2006/main">
              <a:ext uri="{FF2B5EF4-FFF2-40B4-BE49-F238E27FC236}">
                <a16:creationId xmlns:a16="http://schemas.microsoft.com/office/drawing/2014/main" id="{0CD6758D-214F-49E2-8F85-689562AF2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1657350"/>
            <a:ext cx="2581275" cy="260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630B6EB6-4D8F-4787-A627-D8EA22C0B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1866900"/>
            <a:ext cx="21621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B42318"/>
                </a:solidFill>
              </a:defRPr>
            </a:pPr>
            <a:r>
              <a:t>2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7A6990EF-99FE-4B54-8676-AC5BD2D54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3600450"/>
            <a:ext cx="2162175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B66"/>
                </a:solidFill>
              </a:defRPr>
            </a:pPr>
            <a:r>
              <a:t>newtest 静态失败组</a:t>
            </a:r>
          </a:p>
        </p:txBody>
      </p:sp>
      <p:sp>
        <p:nvSpPr>
          <p:cNvPr id="17" name="panel">
            <a:extLst xmlns:a="http://schemas.openxmlformats.org/drawingml/2006/main">
              <a:ext uri="{FF2B5EF4-FFF2-40B4-BE49-F238E27FC236}">
                <a16:creationId xmlns:a16="http://schemas.microsoft.com/office/drawing/2014/main" id="{BA0AA122-91C2-4EE8-811C-C3FA9B2B5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121920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6C09E728-13A4-4A91-B1F9-0C5EC635B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10150"/>
            <a:ext cx="1238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114"/>
                </a:solidFill>
              </a:defRPr>
            </a:pPr>
            <a:r>
              <a:t>判断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E78E01B6-B53E-4181-B173-F9B021508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953000"/>
            <a:ext cx="95250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114"/>
                </a:solidFill>
              </a:defRPr>
            </a:pPr>
            <a:r>
              <a:t>双架构、进程、VFS、动态 ELF 与 VirtIO 已进入系统集成阶段；下一步先修可信门禁与 LA busybox，再冲性能、文件系统和网络。</a:t>
            </a:r>
          </a:p>
        </p:txBody>
      </p:sp>
    </p:spTree>
    <p:extLst>
      <p:ext uri="{BB962C8B-B14F-4D97-AF65-F5344CB8AC3E}">
        <p14:creationId xmlns:p14="http://schemas.microsoft.com/office/powerpoint/2010/main" val="15332014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E75CBABA-85F9-4343-9BC0-063C01EE9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B66"/>
                </a:solidFill>
              </a:defRPr>
            </a:pPr>
            <a:r>
              <a:t>SudoOS-Plus · OSCOMP 6.28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617B942E-D221-46E1-BD08-C99F7E6B3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049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114"/>
                </a:solidFill>
              </a:defRPr>
            </a:pPr>
            <a:r>
              <a:t>当前评分：平台截图原始证据</a:t>
            </a:r>
          </a:p>
        </p:txBody>
      </p:sp>
      <p:cxnSp>
        <p:nvCxnSpPr>
          <p:cNvPr id="10" name="rule"/>
          <p:cNvCxnSpPr/>
          <p:nvPr/>
        </p:nvCxnSpPr>
        <p:spPr>
          <a:xfrm xmlns:a="http://schemas.openxmlformats.org/drawingml/2006/main">
            <a:off x="400050" y="121920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152D965-99B3-4D8D-B48D-C6F21D385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B66"/>
                </a:solidFill>
              </a:defRPr>
            </a:pPr>
            <a:r>
              <a:t>04</a:t>
            </a:r>
          </a:p>
        </p:txBody>
      </p:sp>
      <p:sp>
        <p:nvSpPr>
          <p:cNvPr id="5" name="panel">
            <a:extLst xmlns:a="http://schemas.openxmlformats.org/drawingml/2006/main">
              <a:ext uri="{FF2B5EF4-FFF2-40B4-BE49-F238E27FC236}">
                <a16:creationId xmlns:a16="http://schemas.microsoft.com/office/drawing/2014/main" id="{28726AD0-6C6B-42D2-B505-9DDC6A722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11391900" cy="424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F2B19DB-90A1-41F6-8300-8061E9BF0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0"/>
            <a:ext cx="9525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B66"/>
                </a:solidFill>
              </a:defRPr>
            </a:pPr>
            <a:r>
              <a:t>来源：用户附件“截屏2026-06-28 19.20.41.png”；未用源码推算替代平台结果。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8205ebc01e420f"/>
          <a:stretch xmlns:a="http://schemas.openxmlformats.org/drawingml/2006/main"/>
        </p:blipFill>
        <p:spPr>
          <a:xfrm xmlns:a="http://schemas.openxmlformats.org/drawingml/2006/main">
            <a:off x="702906" y="1600200"/>
            <a:ext cx="10786189" cy="40195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7900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F6757E58-DF62-422A-8D3F-419CA3CCF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B66"/>
                </a:solidFill>
              </a:defRPr>
            </a:pPr>
            <a:r>
              <a:t>SudoOS-Plus · OSCOMP 6.28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7394135B-05CB-43CD-926D-45EF467EB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049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114"/>
                </a:solidFill>
              </a:defRPr>
            </a:pPr>
            <a:r>
              <a:t>得分结构：81.14% 来自 basic + busybox</a:t>
            </a:r>
          </a:p>
        </p:txBody>
      </p:sp>
      <p:cxnSp>
        <p:nvCxnSpPr>
          <p:cNvPr id="21" name="rule"/>
          <p:cNvCxnSpPr/>
          <p:nvPr/>
        </p:nvCxnSpPr>
        <p:spPr>
          <a:xfrm xmlns:a="http://schemas.openxmlformats.org/drawingml/2006/main">
            <a:off x="400050" y="121920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CCD6E6A-F15F-4A89-AFCA-7752D505E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B66"/>
                </a:solidFill>
              </a:defRPr>
            </a:pPr>
            <a:r>
              <a:t>05</a:t>
            </a:r>
          </a:p>
        </p:txBody>
      </p:sp>
      <p:sp>
        <p:nvSpPr>
          <p:cNvPr id="5" name="panel">
            <a:extLst xmlns:a="http://schemas.openxmlformats.org/drawingml/2006/main">
              <a:ext uri="{FF2B5EF4-FFF2-40B4-BE49-F238E27FC236}">
                <a16:creationId xmlns:a16="http://schemas.microsoft.com/office/drawing/2014/main" id="{5D988704-39A7-47FD-AA2D-BEA4013E8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676400"/>
            <a:ext cx="18097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E981402-5A23-4D61-977F-12CFACA79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85950"/>
            <a:ext cx="13906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6B35"/>
                </a:solidFill>
              </a:defRPr>
            </a:pPr>
            <a:r>
              <a:t>52.30%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BE3591A-F8CC-4FD3-9020-6ED5660E4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86050"/>
            <a:ext cx="13906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B66"/>
                </a:solidFill>
              </a:defRPr>
            </a:pPr>
            <a:r>
              <a:t>basic 占比</a:t>
            </a:r>
          </a:p>
        </p:txBody>
      </p:sp>
      <p:sp>
        <p:nvSpPr>
          <p:cNvPr id="8" name="panel">
            <a:extLst xmlns:a="http://schemas.openxmlformats.org/drawingml/2006/main">
              <a:ext uri="{FF2B5EF4-FFF2-40B4-BE49-F238E27FC236}">
                <a16:creationId xmlns:a16="http://schemas.microsoft.com/office/drawing/2014/main" id="{DF6504F8-E09D-44D2-9276-EDCCE0F23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676400"/>
            <a:ext cx="18097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6DFAF1D-3C79-4341-A9B5-BEACD5E12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885950"/>
            <a:ext cx="13906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1114"/>
                </a:solidFill>
              </a:defRPr>
            </a:pPr>
            <a:r>
              <a:t>28.84%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44C53BD-6605-4015-B0BE-F4F0DAD4B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86050"/>
            <a:ext cx="13906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B66"/>
                </a:solidFill>
              </a:defRPr>
            </a:pPr>
            <a:r>
              <a:t>busybox 占比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032CF30C-5429-4740-97B4-6D59E86BD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638550"/>
            <a:ext cx="18097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6C9C09F-51CC-4D66-B629-177D1C696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48100"/>
            <a:ext cx="13906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1114"/>
                </a:solidFill>
              </a:defRPr>
            </a:pPr>
            <a:r>
              <a:t>14.01%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79C9073F-4416-44B3-855B-AF9D5A27A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48200"/>
            <a:ext cx="13906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B66"/>
                </a:solidFill>
              </a:defRPr>
            </a:pPr>
            <a:r>
              <a:t>libcbench</a:t>
            </a:r>
          </a:p>
        </p:txBody>
      </p:sp>
      <p:sp>
        <p:nvSpPr>
          <p:cNvPr id="14" name="panel">
            <a:extLst xmlns:a="http://schemas.openxmlformats.org/drawingml/2006/main">
              <a:ext uri="{FF2B5EF4-FFF2-40B4-BE49-F238E27FC236}">
                <a16:creationId xmlns:a16="http://schemas.microsoft.com/office/drawing/2014/main" id="{6F15AD26-409D-4DC8-8D02-B0A2720FA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638550"/>
            <a:ext cx="18097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37C0284F-9106-4293-B23C-5004061A3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848100"/>
            <a:ext cx="13906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1114"/>
                </a:solidFill>
              </a:defRPr>
            </a:pPr>
            <a:r>
              <a:t>4.85%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9ACE2776-2211-4FD3-868E-830E6FB9E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648200"/>
            <a:ext cx="13906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B66"/>
                </a:solidFill>
              </a:defRPr>
            </a:pPr>
            <a:r>
              <a:t>lua 占比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5AFEB25B-282A-40D2-882F-E30B74F0D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0"/>
            <a:ext cx="10668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B66"/>
                </a:solidFill>
              </a:defRPr>
            </a:pPr>
            <a:r>
              <a:t>七个测试组仍为 0：cyclictest / iozone / iperf / libctest / lmbench / ltp / netperf</a:t>
            </a:r>
          </a:p>
        </p:txBody>
      </p:sp>
      <p:graphicFrame>
        <p:nvGraphicFramePr>
          <p:cNvPr id="36" name="Chart"/>
          <p:cNvGraphicFramePr/>
          <p:nvPr/>
        </p:nvGraphicFramePr>
        <p:xfrm>
          <a:off xmlns:a="http://schemas.openxmlformats.org/drawingml/2006/main" x="533400" y="1676400"/>
          <a:ext xmlns:a="http://schemas.openxmlformats.org/drawingml/2006/main" cx="67627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dc1837870cb44b2"/>
          </a:graphicData>
        </a:graphic>
      </p:graphicFrame>
    </p:spTree>
    <p:extLst>
      <p:ext uri="{BB962C8B-B14F-4D97-AF65-F5344CB8AC3E}">
        <p14:creationId xmlns:p14="http://schemas.microsoft.com/office/powerpoint/2010/main" val="3012580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BCBC1FC0-2680-486D-A42C-2A605C7C0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B66"/>
                </a:solidFill>
              </a:defRPr>
            </a:pPr>
            <a:r>
              <a:t>SudoOS-Plus · OSCOMP 6.28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30AC086B-6C2D-4E76-B80C-00D100044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049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114"/>
                </a:solidFill>
              </a:defRPr>
            </a:pPr>
            <a:r>
              <a:t>当前快照与证据等级</a:t>
            </a:r>
          </a:p>
        </p:txBody>
      </p:sp>
      <p:cxnSp>
        <p:nvCxnSpPr>
          <p:cNvPr id="17" name="rule"/>
          <p:cNvCxnSpPr/>
          <p:nvPr/>
        </p:nvCxnSpPr>
        <p:spPr>
          <a:xfrm xmlns:a="http://schemas.openxmlformats.org/drawingml/2006/main">
            <a:off x="400050" y="121920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E97A8444-8AAC-4A75-B2A7-9265E90D5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B66"/>
                </a:solidFill>
              </a:defRPr>
            </a:pPr>
            <a:r>
              <a:t>06</a:t>
            </a:r>
          </a:p>
        </p:txBody>
      </p:sp>
      <p:sp>
        <p:nvSpPr>
          <p:cNvPr id="5" name="panel">
            <a:extLst xmlns:a="http://schemas.openxmlformats.org/drawingml/2006/main">
              <a:ext uri="{FF2B5EF4-FFF2-40B4-BE49-F238E27FC236}">
                <a16:creationId xmlns:a16="http://schemas.microsoft.com/office/drawing/2014/main" id="{135BA88A-C55A-442A-8C33-D6B7FAC8B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346710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53C89EC-9037-421C-BE22-2B49A980C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3009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114"/>
                </a:solidFill>
              </a:defRPr>
            </a:pPr>
            <a:r>
              <a:t>A · 当前源码事实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D41C57B-736F-4A53-8CD8-09E06F2FF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90750"/>
            <a:ext cx="3009900" cy="3067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114"/>
                </a:solidFill>
              </a:defRPr>
            </a:pPr>
            <a:r>
              <a:t>• 6.28 @ a7da2b9
• 9 个 workspace crate
• 118 个 syscall 编号常量
• 双架构 / 动态 ELF / VFS / VirtIO / socket
• P14K 评分路径</a:t>
            </a:r>
          </a:p>
        </p:txBody>
      </p:sp>
      <p:sp>
        <p:nvSpPr>
          <p:cNvPr id="8" name="panel">
            <a:extLst xmlns:a="http://schemas.openxmlformats.org/drawingml/2006/main">
              <a:ext uri="{FF2B5EF4-FFF2-40B4-BE49-F238E27FC236}">
                <a16:creationId xmlns:a16="http://schemas.microsoft.com/office/drawing/2014/main" id="{326AB58E-F670-4EA6-8ECC-9DED32FAC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562100"/>
            <a:ext cx="346710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8703803-E40A-4DA2-994F-01F16833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752600"/>
            <a:ext cx="3009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114"/>
                </a:solidFill>
              </a:defRPr>
            </a:pPr>
            <a:r>
              <a:t>B · 本轮本地验证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990438F-2FDF-4235-AB06-2854047EB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190750"/>
            <a:ext cx="3009900" cy="3067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114"/>
                </a:solidFill>
              </a:defRPr>
            </a:pPr>
            <a:r>
              <a:t>• myos-mm 45/45
• 总审计 11 PASS / 2 WARN
• P0/P3/P5/P6 PASS
• P2/P4 FAIL
• kernel hash 与专项文档一致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3A7828A2-35A1-4A77-868C-39F53CA9F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562100"/>
            <a:ext cx="346710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0950723-D5E1-4C5F-9F23-FF3366625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752600"/>
            <a:ext cx="3009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6B35"/>
                </a:solidFill>
              </a:defRPr>
            </a:pPr>
            <a:r>
              <a:t>C · 平台证据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2EC08752-9208-4C70-824E-B2E287CCB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190750"/>
            <a:ext cx="3009900" cy="3067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114"/>
                </a:solidFill>
              </a:defRPr>
            </a:pPr>
            <a:r>
              <a:t>• 附件总分 741.9279
• basic 四组合均 97
• busybox 53/54
• libcbench 四组合有分
• lua 四组合均 9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C360A975-7028-444B-A70C-9C2778085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0477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114"/>
                </a:solidFill>
              </a:defRPr>
            </a:pPr>
            <a:r>
              <a:t>原则：只有 A、B、C 同时对齐，才称为“当前稳定基线”。</a:t>
            </a:r>
          </a:p>
        </p:txBody>
      </p:sp>
    </p:spTree>
    <p:extLst>
      <p:ext uri="{BB962C8B-B14F-4D97-AF65-F5344CB8AC3E}">
        <p14:creationId xmlns:p14="http://schemas.microsoft.com/office/powerpoint/2010/main" val="19502908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4E416CDA-98F0-4E0C-8C48-A21EF372A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B66"/>
                </a:solidFill>
              </a:defRPr>
            </a:pPr>
            <a:r>
              <a:t>SudoOS-Plus · OSCOMP 6.28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9325877C-83D2-40DA-9235-24C02375D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049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114"/>
                </a:solidFill>
              </a:defRPr>
            </a:pPr>
            <a:r>
              <a:t>总体架构：机制下沉，策略共享</a:t>
            </a:r>
          </a:p>
        </p:txBody>
      </p:sp>
      <p:cxnSp>
        <p:nvCxnSpPr>
          <p:cNvPr id="32" name="rule"/>
          <p:cNvCxnSpPr/>
          <p:nvPr/>
        </p:nvCxnSpPr>
        <p:spPr>
          <a:xfrm xmlns:a="http://schemas.openxmlformats.org/drawingml/2006/main">
            <a:off x="400050" y="121920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0F58A695-DF7A-403A-A865-E2AAED749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B66"/>
                </a:solidFill>
              </a:defRPr>
            </a:pPr>
            <a:r>
              <a:t>07</a:t>
            </a:r>
          </a:p>
        </p:txBody>
      </p:sp>
      <p:cxnSp>
        <p:nvCxnSpPr>
          <p:cNvPr id="34" name="rule"/>
          <p:cNvCxnSpPr/>
          <p:nvPr/>
        </p:nvCxnSpPr>
        <p:spPr>
          <a:xfrm xmlns:a="http://schemas.openxmlformats.org/drawingml/2006/main">
            <a:off x="2009775" y="2133600"/>
            <a:ext cx="9525" cy="3143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35" name="rule"/>
          <p:cNvCxnSpPr/>
          <p:nvPr/>
        </p:nvCxnSpPr>
        <p:spPr>
          <a:xfrm xmlns:a="http://schemas.openxmlformats.org/drawingml/2006/main">
            <a:off x="5924550" y="2133600"/>
            <a:ext cx="9525" cy="3143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36" name="rule"/>
          <p:cNvCxnSpPr/>
          <p:nvPr/>
        </p:nvCxnSpPr>
        <p:spPr>
          <a:xfrm xmlns:a="http://schemas.openxmlformats.org/drawingml/2006/main">
            <a:off x="9848850" y="2133600"/>
            <a:ext cx="9525" cy="3143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8" name="panel">
            <a:extLst xmlns:a="http://schemas.openxmlformats.org/drawingml/2006/main">
              <a:ext uri="{FF2B5EF4-FFF2-40B4-BE49-F238E27FC236}">
                <a16:creationId xmlns:a16="http://schemas.microsoft.com/office/drawing/2014/main" id="{227662AD-6DFA-4387-A50B-0EF50A273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3238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8BE3CB5-162D-44CC-996A-3D8B0D562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2781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114"/>
                </a:solidFill>
              </a:defRPr>
            </a:pPr>
            <a:r>
              <a:t>固件与架构层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7D52B5D-E079-4E1D-820D-F0E8181BB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47900"/>
            <a:ext cx="27813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114"/>
                </a:solidFill>
              </a:defRPr>
            </a:pPr>
            <a:r>
              <a:t>OpenSBI / QEMU
RISC-V Sv39 · LoongArch DMW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29B5B970-C0EF-4CC6-B9F9-C18DCE572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619250"/>
            <a:ext cx="3238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CA224C3-B973-4BE9-B885-6056790C1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809750"/>
            <a:ext cx="2781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114"/>
                </a:solidFill>
              </a:defRPr>
            </a:pPr>
            <a:r>
              <a:t>公共启动层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00E585D-1293-4233-BC5D-95AD6941B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47900"/>
            <a:ext cx="27813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114"/>
                </a:solidFill>
              </a:defRPr>
            </a:pPr>
            <a:r>
              <a:t>BootInfo · FDT
CPU / RAM / VirtIO / PCI / initrd</a:t>
            </a:r>
          </a:p>
        </p:txBody>
      </p:sp>
      <p:sp>
        <p:nvSpPr>
          <p:cNvPr id="14" name="panel">
            <a:extLst xmlns:a="http://schemas.openxmlformats.org/drawingml/2006/main">
              <a:ext uri="{FF2B5EF4-FFF2-40B4-BE49-F238E27FC236}">
                <a16:creationId xmlns:a16="http://schemas.microsoft.com/office/drawing/2014/main" id="{D425E2B7-C85C-4978-B657-E9885880A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619250"/>
            <a:ext cx="34671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E0C76E7D-889D-4CAA-86F0-2230F43C4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809750"/>
            <a:ext cx="3009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6B35"/>
                </a:solidFill>
              </a:defRPr>
            </a:pPr>
            <a:r>
              <a:t>内核集成层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9B2A0796-A8FD-4E71-B374-39F1DF79B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247900"/>
            <a:ext cx="30099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114"/>
                </a:solidFill>
              </a:defRPr>
            </a:pPr>
            <a:r>
              <a:t>memory · task · process · fs
virtio · net · OSCOMP runner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55F60129-6C12-4E9A-A6F7-9D0593057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952750"/>
            <a:ext cx="762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150" b="0">
                <a:solidFill>
                  <a:srgbClr val="555B66"/>
                </a:solidFill>
              </a:defRPr>
            </a:pPr>
            <a:r>
              <a:t>↓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D7552E98-3CA1-4378-9034-BD96C7958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952750"/>
            <a:ext cx="762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150" b="0">
                <a:solidFill>
                  <a:srgbClr val="555B66"/>
                </a:solidFill>
              </a:defRPr>
            </a:pPr>
            <a:r>
              <a:t>↓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9BD2FF75-C322-40CB-89F5-26D0AAE87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952750"/>
            <a:ext cx="762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150" b="0">
                <a:solidFill>
                  <a:srgbClr val="555B66"/>
                </a:solidFill>
              </a:defRPr>
            </a:pPr>
            <a:r>
              <a:t>↓</a:t>
            </a:r>
          </a:p>
        </p:txBody>
      </p:sp>
      <p:sp>
        <p:nvSpPr>
          <p:cNvPr id="20" name="panel">
            <a:extLst xmlns:a="http://schemas.openxmlformats.org/drawingml/2006/main">
              <a:ext uri="{FF2B5EF4-FFF2-40B4-BE49-F238E27FC236}">
                <a16:creationId xmlns:a16="http://schemas.microsoft.com/office/drawing/2014/main" id="{79018015-CFB6-441D-A721-96B4F0CB5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00450"/>
            <a:ext cx="32385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220CD7ED-FCC0-423E-9903-C33995611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90950"/>
            <a:ext cx="2781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114"/>
                </a:solidFill>
              </a:defRPr>
            </a:pPr>
            <a:r>
              <a:t>arch/*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B1E5A54F-CD7B-4CEF-8A57-2B974CD25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29100"/>
            <a:ext cx="27813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114"/>
                </a:solidFill>
              </a:defRPr>
            </a:pPr>
            <a:r>
              <a:t>启动汇编
CSR / trap / timer / SMP
上下文切换与页表格式</a:t>
            </a:r>
          </a:p>
        </p:txBody>
      </p:sp>
      <p:sp>
        <p:nvSpPr>
          <p:cNvPr id="23" name="panel">
            <a:extLst xmlns:a="http://schemas.openxmlformats.org/drawingml/2006/main">
              <a:ext uri="{FF2B5EF4-FFF2-40B4-BE49-F238E27FC236}">
                <a16:creationId xmlns:a16="http://schemas.microsoft.com/office/drawing/2014/main" id="{3B3824AD-F8E3-4873-995B-931383DB9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600450"/>
            <a:ext cx="32385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6BC8B275-AC9B-4CB6-8550-ABA6F6094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790950"/>
            <a:ext cx="2781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114"/>
                </a:solidFill>
              </a:defRPr>
            </a:pPr>
            <a:r>
              <a:t>通用基础 crate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51A5A4CE-AD41-4D3A-9611-01887F7FD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229100"/>
            <a:ext cx="27813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114"/>
                </a:solidFill>
              </a:defRPr>
            </a:pPr>
            <a:r>
              <a:t>mm · sync · runtime
boot · firmware/fdt · vfs</a:t>
            </a:r>
          </a:p>
        </p:txBody>
      </p:sp>
      <p:sp>
        <p:nvSpPr>
          <p:cNvPr id="26" name="panel">
            <a:extLst xmlns:a="http://schemas.openxmlformats.org/drawingml/2006/main">
              <a:ext uri="{FF2B5EF4-FFF2-40B4-BE49-F238E27FC236}">
                <a16:creationId xmlns:a16="http://schemas.microsoft.com/office/drawing/2014/main" id="{69452C56-2595-41DD-9FD3-39BADA18F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600450"/>
            <a:ext cx="34671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A4553A6E-8BA1-49C3-AE66-F5416AC28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790950"/>
            <a:ext cx="3009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114"/>
                </a:solidFill>
              </a:defRPr>
            </a:pPr>
            <a:r>
              <a:t>kernel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A5B6F883-E10C-4893-97FF-48B3EC5EA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229100"/>
            <a:ext cx="30099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114"/>
                </a:solidFill>
              </a:defRPr>
            </a:pPr>
            <a:r>
              <a:t>Linux-like 内核策略
用户态与比赛执行闭环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E05E9A9E-D48A-467F-815B-C7F21872A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91200"/>
            <a:ext cx="10287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55B66"/>
                </a:solidFill>
              </a:defRPr>
            </a:pPr>
            <a:r>
              <a:t>依赖方向单向向下；硬件差异不渗入 syscall/VFS/进程策略。</a:t>
            </a:r>
          </a:p>
        </p:txBody>
      </p:sp>
    </p:spTree>
    <p:extLst>
      <p:ext uri="{BB962C8B-B14F-4D97-AF65-F5344CB8AC3E}">
        <p14:creationId xmlns:p14="http://schemas.microsoft.com/office/powerpoint/2010/main" val="20081121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9FBBE487-0869-40B1-B0D2-D5BB4826A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B66"/>
                </a:solidFill>
              </a:defRPr>
            </a:pPr>
            <a:r>
              <a:t>SudoOS-Plus · OSCOMP 6.28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A26F5A68-3194-41CD-A68B-061F4D0EF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049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114"/>
                </a:solidFill>
              </a:defRPr>
            </a:pPr>
            <a:r>
              <a:t>启动链：从固件到评分关机</a:t>
            </a:r>
          </a:p>
        </p:txBody>
      </p:sp>
      <p:cxnSp>
        <p:nvCxnSpPr>
          <p:cNvPr id="26" name="rule"/>
          <p:cNvCxnSpPr/>
          <p:nvPr/>
        </p:nvCxnSpPr>
        <p:spPr>
          <a:xfrm xmlns:a="http://schemas.openxmlformats.org/drawingml/2006/main">
            <a:off x="400050" y="121920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4C7E673-3C8E-46F3-8BB8-3F7F859F7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B66"/>
                </a:solidFill>
              </a:defRPr>
            </a:pPr>
            <a:r>
              <a:t>08</a:t>
            </a:r>
          </a:p>
        </p:txBody>
      </p:sp>
      <p:cxnSp>
        <p:nvCxnSpPr>
          <p:cNvPr id="28" name="rule"/>
          <p:cNvCxnSpPr/>
          <p:nvPr/>
        </p:nvCxnSpPr>
        <p:spPr>
          <a:xfrm xmlns:a="http://schemas.openxmlformats.org/drawingml/2006/main">
            <a:off x="723900" y="3314700"/>
            <a:ext cx="10668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1114"/>
            </a:solidFill>
            <a:prstDash val="solid"/>
          </a:ln>
        </p:spPr>
      </p:cxnSp>
      <p:sp>
        <p:nvSpPr>
          <p:cNvPr id="6" name="panel">
            <a:extLst xmlns:a="http://schemas.openxmlformats.org/drawingml/2006/main">
              <a:ext uri="{FF2B5EF4-FFF2-40B4-BE49-F238E27FC236}">
                <a16:creationId xmlns:a16="http://schemas.microsoft.com/office/drawing/2014/main" id="{E6F59F00-9376-4311-A36C-D195A31F8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A0CFDC3D-DB16-4923-AD8E-7D12B781A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57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anel">
            <a:extLst xmlns:a="http://schemas.openxmlformats.org/drawingml/2006/main">
              <a:ext uri="{FF2B5EF4-FFF2-40B4-BE49-F238E27FC236}">
                <a16:creationId xmlns:a16="http://schemas.microsoft.com/office/drawing/2014/main" id="{73CF6E33-0B75-4B66-83BA-127255049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257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C1F34FF8-CC8B-414B-A6CD-ECDB1C75F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31813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9376602-5625-4C2D-8FA5-7B784B235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27241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114"/>
                </a:solidFill>
              </a:defRPr>
            </a:pPr>
            <a:r>
              <a:t>01 · 架构接管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2AAB3AC5-17D4-4681-8241-66E9DB283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47900"/>
            <a:ext cx="27241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114"/>
                </a:solidFill>
              </a:defRPr>
            </a:pPr>
            <a:r>
              <a:t>低地址入口 / DMW
临时页表 · 高半跳转
BSS / gp / sp</a:t>
            </a:r>
          </a:p>
        </p:txBody>
      </p:sp>
      <p:sp>
        <p:nvSpPr>
          <p:cNvPr id="12" name="panel">
            <a:extLst xmlns:a="http://schemas.openxmlformats.org/drawingml/2006/main">
              <a:ext uri="{FF2B5EF4-FFF2-40B4-BE49-F238E27FC236}">
                <a16:creationId xmlns:a16="http://schemas.microsoft.com/office/drawing/2014/main" id="{78BE3A54-90BF-4D35-8FA1-59BBA7453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19250"/>
            <a:ext cx="31813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2371A1E5-8556-481F-9459-DB54327B7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809750"/>
            <a:ext cx="27241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114"/>
                </a:solidFill>
              </a:defRPr>
            </a:pPr>
            <a:r>
              <a:t>02 · 内核服务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770315CC-A89B-48AD-AC5E-07FB3180A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247900"/>
            <a:ext cx="27241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114"/>
                </a:solidFill>
              </a:defRPr>
            </a:pPr>
            <a:r>
              <a:t>FDT → 内存 → trap/IRQ
VirtIO → VFS → TTY
SMP → workqueue</a:t>
            </a:r>
          </a:p>
        </p:txBody>
      </p:sp>
      <p:sp>
        <p:nvSpPr>
          <p:cNvPr id="15" name="panel">
            <a:extLst xmlns:a="http://schemas.openxmlformats.org/drawingml/2006/main">
              <a:ext uri="{FF2B5EF4-FFF2-40B4-BE49-F238E27FC236}">
                <a16:creationId xmlns:a16="http://schemas.microsoft.com/office/drawing/2014/main" id="{D46EEE2C-0578-47C4-9C8F-42D7B5574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619250"/>
            <a:ext cx="4191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32FDEA7F-E3B2-4A1F-88F7-B598099E8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809750"/>
            <a:ext cx="3733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6B35"/>
                </a:solidFill>
              </a:defRPr>
            </a:pPr>
            <a:r>
              <a:t>03 · 用户与评测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46BAC1CA-8D52-4478-A970-EBCE46209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247900"/>
            <a:ext cx="37338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114"/>
                </a:solidFill>
              </a:defRPr>
            </a:pPr>
            <a:r>
              <a:t>initramfs / sdcard 物化
ELF / syscall / direct runner
summary → score → poweroff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58F8813B-AF4F-47DB-B76A-C638455B9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52850"/>
            <a:ext cx="31813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114"/>
                </a:solidFill>
              </a:defRPr>
            </a:pPr>
            <a:r>
              <a:t>RISC-V：OpenSBI → Sv39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91D676D6-309D-481A-8D8E-6903DF296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10050"/>
            <a:ext cx="31813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114"/>
                </a:solidFill>
              </a:defRPr>
            </a:pPr>
            <a:r>
              <a:t>LoongArch：QEMU → DMW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6F7A3627-2BB1-491B-A0EA-1E0472197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752850"/>
            <a:ext cx="31813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114"/>
                </a:solidFill>
              </a:defRPr>
            </a:pPr>
            <a:r>
              <a:t>关键初始化顺序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06522BF7-422C-4DBE-A462-4ADA41A64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210050"/>
            <a:ext cx="31813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114"/>
                </a:solidFill>
              </a:defRPr>
            </a:pPr>
            <a:r>
              <a:t>page allocator → heap → trap/IRQ → device/fs → task/SMP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DC535ABD-CD04-4E1E-9D25-FDDC6F17D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752850"/>
            <a:ext cx="1905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114"/>
                </a:solidFill>
              </a:defRPr>
            </a:pPr>
            <a:r>
              <a:t>终止条件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A50926C7-F24A-4A42-BCFC-DD925B577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210050"/>
            <a:ext cx="38100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114"/>
                </a:solidFill>
              </a:defRPr>
            </a:pPr>
            <a:r>
              <a:t>contest：统一平台关机
non-contest：idle halt</a:t>
            </a:r>
          </a:p>
        </p:txBody>
      </p:sp>
    </p:spTree>
    <p:extLst>
      <p:ext uri="{BB962C8B-B14F-4D97-AF65-F5344CB8AC3E}">
        <p14:creationId xmlns:p14="http://schemas.microsoft.com/office/powerpoint/2010/main" val="165620132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B7484096-6D14-42F8-9DA8-7B9383592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B66"/>
                </a:solidFill>
              </a:defRPr>
            </a:pPr>
            <a:r>
              <a:t>SudoOS-Plus · OSCOMP 6.28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F120EFD4-E587-41F6-8B02-0F7CBB614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049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114"/>
                </a:solidFill>
              </a:defRPr>
            </a:pPr>
            <a:r>
              <a:t>内存系统：启动分配、正式分配与用户 MM 三层闭环</a:t>
            </a:r>
          </a:p>
        </p:txBody>
      </p:sp>
      <p:cxnSp>
        <p:nvCxnSpPr>
          <p:cNvPr id="17" name="rule"/>
          <p:cNvCxnSpPr/>
          <p:nvPr/>
        </p:nvCxnSpPr>
        <p:spPr>
          <a:xfrm xmlns:a="http://schemas.openxmlformats.org/drawingml/2006/main">
            <a:off x="400050" y="121920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B214615-0CE0-40A3-A55E-A3D39C2C3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B66"/>
                </a:solidFill>
              </a:defRPr>
            </a:pPr>
            <a:r>
              <a:t>09</a:t>
            </a:r>
          </a:p>
        </p:txBody>
      </p:sp>
      <p:sp>
        <p:nvSpPr>
          <p:cNvPr id="5" name="panel">
            <a:extLst xmlns:a="http://schemas.openxmlformats.org/drawingml/2006/main">
              <a:ext uri="{FF2B5EF4-FFF2-40B4-BE49-F238E27FC236}">
                <a16:creationId xmlns:a16="http://schemas.microsoft.com/office/drawing/2014/main" id="{04DB9703-68F6-452A-8E79-59AE354A9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346710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5E29C1E-A45A-4F4C-9AC7-9D96F57E6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71650"/>
            <a:ext cx="3009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114"/>
                </a:solidFill>
              </a:defRPr>
            </a:pPr>
            <a:r>
              <a:t>启动期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5856EDE-E7C1-4F58-B2F3-7BBE97A9A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09800"/>
            <a:ext cx="3009900" cy="281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114"/>
                </a:solidFill>
              </a:defRPr>
            </a:pPr>
            <a:r>
              <a:t>• FDT RAM + 6 类保留区
• MemoryMap merge/reserve
• EarlyFrameAllocator
• boot page table
• 正式页表安装后立即退场</a:t>
            </a:r>
          </a:p>
        </p:txBody>
      </p:sp>
      <p:sp>
        <p:nvSpPr>
          <p:cNvPr id="8" name="panel">
            <a:extLst xmlns:a="http://schemas.openxmlformats.org/drawingml/2006/main">
              <a:ext uri="{FF2B5EF4-FFF2-40B4-BE49-F238E27FC236}">
                <a16:creationId xmlns:a16="http://schemas.microsoft.com/office/drawing/2014/main" id="{14B09012-192C-4F5D-A847-F570D9E2A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581150"/>
            <a:ext cx="346710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A2E6BF3-E9A6-4E74-AA91-CD09E0D15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771650"/>
            <a:ext cx="3009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114"/>
                </a:solidFill>
              </a:defRPr>
            </a:pPr>
            <a:r>
              <a:t>内核运行期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6C884E2-4D80-4C24-8032-0C035D3DC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09800"/>
            <a:ext cx="3009900" cy="281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114"/>
                </a:solidFill>
              </a:defRPr>
            </a:pPr>
            <a:r>
              <a:t>• buddy：DMA32 / Normal
• page refcount
• slab：8 B–2048 B
• large allocation
• vmalloc / ioremap + guard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E6D17743-B539-4B6A-941B-44A5CFBAE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581150"/>
            <a:ext cx="346710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547F56B-7A8F-468A-BE46-0B5259153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771650"/>
            <a:ext cx="3009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6B35"/>
                </a:solidFill>
              </a:defRPr>
            </a:pPr>
            <a:r>
              <a:t>用户地址空间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1B3A43A8-014B-480D-852E-57C15ABA8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209800"/>
            <a:ext cx="3009900" cy="281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114"/>
                </a:solidFill>
              </a:defRPr>
            </a:pPr>
            <a:r>
              <a:t>• per-process root
• ASID generation
• VMA split/coalesce
• brk/mmap/mprotect
• fault + per-mm TLB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F16DD1F9-9425-4FD6-9754-2408941D1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57850"/>
            <a:ext cx="11049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B66"/>
                </a:solidFill>
              </a:defRPr>
            </a:pPr>
            <a:r>
              <a:t>本轮证据：myos-mm 45/45；覆盖 W^X、VMA、ASID rollover、stack growth、buddy refcount、vmalloc guard。</a:t>
            </a:r>
          </a:p>
        </p:txBody>
      </p:sp>
    </p:spTree>
    <p:extLst>
      <p:ext uri="{BB962C8B-B14F-4D97-AF65-F5344CB8AC3E}">
        <p14:creationId xmlns:p14="http://schemas.microsoft.com/office/powerpoint/2010/main" val="185161399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16D3A3F8-BF12-4995-A838-88DB61D6F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B66"/>
                </a:solidFill>
              </a:defRPr>
            </a:pPr>
            <a:r>
              <a:t>SudoOS-Plus · OSCOMP 6.28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2C02F198-90FF-4B3B-8D60-8B59E0D36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049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114"/>
                </a:solidFill>
              </a:defRPr>
            </a:pPr>
            <a:r>
              <a:t>并发与调度：最多 8 CPU 的可追踪状态机</a:t>
            </a:r>
          </a:p>
        </p:txBody>
      </p:sp>
      <p:cxnSp>
        <p:nvCxnSpPr>
          <p:cNvPr id="26" name="rule"/>
          <p:cNvCxnSpPr/>
          <p:nvPr/>
        </p:nvCxnSpPr>
        <p:spPr>
          <a:xfrm xmlns:a="http://schemas.openxmlformats.org/drawingml/2006/main">
            <a:off x="400050" y="121920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0FBE00EC-204F-45BF-B238-8FB2EAC58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B66"/>
                </a:solidFill>
              </a:defRPr>
            </a:pPr>
            <a:r>
              <a:t>10</a:t>
            </a:r>
          </a:p>
        </p:txBody>
      </p:sp>
      <p:sp>
        <p:nvSpPr>
          <p:cNvPr id="5" name="panel">
            <a:extLst xmlns:a="http://schemas.openxmlformats.org/drawingml/2006/main">
              <a:ext uri="{FF2B5EF4-FFF2-40B4-BE49-F238E27FC236}">
                <a16:creationId xmlns:a16="http://schemas.microsoft.com/office/drawing/2014/main" id="{B5BF0F93-51EA-4141-B81A-4F5E00952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24765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DF61CFA-C818-444B-A297-69AA89C76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20574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01114"/>
                </a:solidFill>
              </a:defRPr>
            </a:pPr>
            <a:r>
              <a:t>8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7F4A121-97F4-4DB9-BA93-6B2F3257A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20574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B66"/>
                </a:solidFill>
              </a:defRPr>
            </a:pPr>
            <a:r>
              <a:t>MAX_CPUS</a:t>
            </a:r>
          </a:p>
        </p:txBody>
      </p:sp>
      <p:sp>
        <p:nvSpPr>
          <p:cNvPr id="8" name="panel">
            <a:extLst xmlns:a="http://schemas.openxmlformats.org/drawingml/2006/main">
              <a:ext uri="{FF2B5EF4-FFF2-40B4-BE49-F238E27FC236}">
                <a16:creationId xmlns:a16="http://schemas.microsoft.com/office/drawing/2014/main" id="{1725B0CD-ABD0-4586-971B-184CBAB35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619250"/>
            <a:ext cx="24765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88BE7BB-4763-462A-A565-A6E4403B4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828800"/>
            <a:ext cx="20574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114"/>
                </a:solidFill>
              </a:defRPr>
            </a:pPr>
            <a:r>
              <a:t>64 KiB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1E124EC-AC62-46F8-A5BF-C200D3F82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09850"/>
            <a:ext cx="20574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B66"/>
                </a:solidFill>
              </a:defRPr>
            </a:pPr>
            <a:r>
              <a:t>guarded kernel stack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F613433E-1400-4023-B130-DA198AB8B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619250"/>
            <a:ext cx="24765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135DD2B-465A-4173-9043-50FB79B01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828800"/>
            <a:ext cx="20574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01114"/>
                </a:solidFill>
              </a:defRPr>
            </a:pPr>
            <a:r>
              <a:t>3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7962C31B-EFD6-43C4-BDCB-4E6F43942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609850"/>
            <a:ext cx="20574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B66"/>
                </a:solidFill>
              </a:defRPr>
            </a:pPr>
            <a:r>
              <a:t>IPI message classes</a:t>
            </a:r>
          </a:p>
        </p:txBody>
      </p:sp>
      <p:sp>
        <p:nvSpPr>
          <p:cNvPr id="14" name="panel">
            <a:extLst xmlns:a="http://schemas.openxmlformats.org/drawingml/2006/main">
              <a:ext uri="{FF2B5EF4-FFF2-40B4-BE49-F238E27FC236}">
                <a16:creationId xmlns:a16="http://schemas.microsoft.com/office/drawing/2014/main" id="{0B4D2D43-B3A5-4C37-B1DD-39F5E752F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619250"/>
            <a:ext cx="32766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F491B73E-C5F4-49A4-9815-94143F4B7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828800"/>
            <a:ext cx="28575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6B35"/>
                </a:solidFill>
              </a:defRPr>
            </a:pPr>
            <a:r>
              <a:t>RR + steal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22EBAB01-D3D7-420B-92E6-B145C9180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609850"/>
            <a:ext cx="2857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B66"/>
                </a:solidFill>
              </a:defRPr>
            </a:pPr>
            <a:r>
              <a:t>per-CPU 调度策略</a:t>
            </a:r>
          </a:p>
        </p:txBody>
      </p:sp>
      <p:sp>
        <p:nvSpPr>
          <p:cNvPr id="17" name="panel">
            <a:extLst xmlns:a="http://schemas.openxmlformats.org/drawingml/2006/main">
              <a:ext uri="{FF2B5EF4-FFF2-40B4-BE49-F238E27FC236}">
                <a16:creationId xmlns:a16="http://schemas.microsoft.com/office/drawing/2014/main" id="{DA63BF49-5D58-4B56-895A-9BDE831C8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38550"/>
            <a:ext cx="5410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78374DFB-D6C8-41CE-AFA2-E1A80D4CC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29050"/>
            <a:ext cx="4953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114"/>
                </a:solidFill>
              </a:defRPr>
            </a:pPr>
            <a:r>
              <a:t>调度与等待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F8489743-0E91-42C6-AA34-DEC99D280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67200"/>
            <a:ext cx="49530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114"/>
                </a:solidFill>
              </a:defRPr>
            </a:pPr>
            <a:r>
              <a:t>• per-CPU FIFO round-robin / idle task
• 抢占、迁移、work stealing、task reaper
• WaitQueue / Completion / timer timeout</a:t>
            </a:r>
          </a:p>
        </p:txBody>
      </p:sp>
      <p:sp>
        <p:nvSpPr>
          <p:cNvPr id="20" name="panel">
            <a:extLst xmlns:a="http://schemas.openxmlformats.org/drawingml/2006/main">
              <a:ext uri="{FF2B5EF4-FFF2-40B4-BE49-F238E27FC236}">
                <a16:creationId xmlns:a16="http://schemas.microsoft.com/office/drawing/2014/main" id="{F89EB8F6-3881-441C-B2D4-D4D9527B4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638550"/>
            <a:ext cx="55816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68DA883D-A562-4EEB-970E-67EA61690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829050"/>
            <a:ext cx="5124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114"/>
                </a:solidFill>
              </a:defRPr>
            </a:pPr>
            <a:r>
              <a:t>跨 CPU 协作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6165BC0E-FBB5-42BE-8DD1-66F5E1F03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267200"/>
            <a:ext cx="512445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114"/>
                </a:solidFill>
              </a:defRPr>
            </a:pPr>
            <a:r>
              <a:t>• IPI mailbox：reschedule / TLB / call-function
• request ID + target/completion mask
• lockdep rank + IRQ-safe tracked spin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72FFA164-84ED-4FBD-891E-D7A0622CE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91200"/>
            <a:ext cx="10572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B66"/>
                </a:solidFill>
              </a:defRPr>
            </a:pPr>
            <a:r>
              <a:t>P3 scheduler ABI 静态审计通过；当前 HEAD 动态 SMP contest 仍需补日志。</a:t>
            </a:r>
          </a:p>
        </p:txBody>
      </p:sp>
    </p:spTree>
    <p:extLst>
      <p:ext uri="{BB962C8B-B14F-4D97-AF65-F5344CB8AC3E}">
        <p14:creationId xmlns:p14="http://schemas.microsoft.com/office/powerpoint/2010/main" val="126613439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13490F31-C3C1-4381-A722-EC8C5A0E4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B66"/>
                </a:solidFill>
              </a:defRPr>
            </a:pPr>
            <a:r>
              <a:t>SudoOS-Plus · OSCOMP 6.28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F9A7BC2F-73E0-4377-AFE8-BC46647B7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049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114"/>
                </a:solidFill>
              </a:defRPr>
            </a:pPr>
            <a:r>
              <a:t>进程与 syscall：Linux asm-generic 兼容层已经成规模</a:t>
            </a:r>
          </a:p>
        </p:txBody>
      </p:sp>
      <p:cxnSp>
        <p:nvCxnSpPr>
          <p:cNvPr id="17" name="rule"/>
          <p:cNvCxnSpPr/>
          <p:nvPr/>
        </p:nvCxnSpPr>
        <p:spPr>
          <a:xfrm xmlns:a="http://schemas.openxmlformats.org/drawingml/2006/main">
            <a:off x="400050" y="121920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0C788E7E-6943-47D1-8803-01D856F59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B66"/>
                </a:solidFill>
              </a:defRPr>
            </a:pPr>
            <a:r>
              <a:t>11</a:t>
            </a:r>
          </a:p>
        </p:txBody>
      </p:sp>
      <p:sp>
        <p:nvSpPr>
          <p:cNvPr id="5" name="panel">
            <a:extLst xmlns:a="http://schemas.openxmlformats.org/drawingml/2006/main">
              <a:ext uri="{FF2B5EF4-FFF2-40B4-BE49-F238E27FC236}">
                <a16:creationId xmlns:a16="http://schemas.microsoft.com/office/drawing/2014/main" id="{C8CF73D7-F570-4375-B9AA-CE82C2B7F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3467100" cy="377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E73F003-CB7E-4ABF-B7EE-0FCE62969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71650"/>
            <a:ext cx="3009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114"/>
                </a:solidFill>
              </a:defRPr>
            </a:pPr>
            <a:r>
              <a:t>Process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8CA534B-6F33-4B18-B16F-898897C48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09800"/>
            <a:ext cx="3009900" cy="2952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114"/>
                </a:solidFill>
              </a:defRPr>
            </a:pPr>
            <a:r>
              <a:t>• UserMm
• FileTable
• SignalState
• Credentials
• cwd / root / children / session</a:t>
            </a:r>
          </a:p>
        </p:txBody>
      </p:sp>
      <p:sp>
        <p:nvSpPr>
          <p:cNvPr id="8" name="panel">
            <a:extLst xmlns:a="http://schemas.openxmlformats.org/drawingml/2006/main">
              <a:ext uri="{FF2B5EF4-FFF2-40B4-BE49-F238E27FC236}">
                <a16:creationId xmlns:a16="http://schemas.microsoft.com/office/drawing/2014/main" id="{D5DA882F-98DF-4F38-A375-74E200AB7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581150"/>
            <a:ext cx="3467100" cy="377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112ED9E-3073-4F51-A6BE-932342730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771650"/>
            <a:ext cx="3009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114"/>
                </a:solidFill>
              </a:defRPr>
            </a:pPr>
            <a:r>
              <a:t>Thread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1F71F03-380C-40E5-A592-A2BE280E7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09800"/>
            <a:ext cx="3009900" cy="2952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114"/>
                </a:solidFill>
              </a:defRPr>
            </a:pPr>
            <a:r>
              <a:t>• user trap frame
• TLS / clear-child-tid
• robust list
• signal mask
• scheduler task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AE3194F9-2DC4-4A79-8810-48B7F8D64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581150"/>
            <a:ext cx="3467100" cy="377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97510DC8-0DCD-488F-B9A5-4DAA8CF5B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771650"/>
            <a:ext cx="3009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6B35"/>
                </a:solidFill>
              </a:defRPr>
            </a:pPr>
            <a:r>
              <a:t>ABI 覆盖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82AC00D3-AE5E-4A2D-9967-1932D7C9C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209800"/>
            <a:ext cx="3009900" cy="2952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114"/>
                </a:solidFill>
              </a:defRPr>
            </a:pPr>
            <a:r>
              <a:t>• 118 个编号常量
• file / mm / process
• signal / time / scheduler
• futex / clone3
• socket / sockopt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2D3148A6-81D6-4427-936F-41072EF29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91200"/>
            <a:ext cx="10858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B66"/>
                </a:solidFill>
              </a:defRPr>
            </a:pPr>
            <a:r>
              <a:t>P5 clone/futex/TLS 审计通过；平台 basic/busybox/libcbench 得分证明部分真实闭环。</a:t>
            </a:r>
          </a:p>
        </p:txBody>
      </p:sp>
    </p:spTree>
    <p:extLst>
      <p:ext uri="{BB962C8B-B14F-4D97-AF65-F5344CB8AC3E}">
        <p14:creationId xmlns:p14="http://schemas.microsoft.com/office/powerpoint/2010/main" val="189549149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99996C04-361A-4A65-8A92-B8DC46060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B66"/>
                </a:solidFill>
              </a:defRPr>
            </a:pPr>
            <a:r>
              <a:t>SudoOS-Plus · OSCOMP 6.28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A5920A92-CC72-43DF-BB3A-C575568EA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049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114"/>
                </a:solidFill>
              </a:defRPr>
            </a:pPr>
            <a:r>
              <a:t>用户态与动态 ELF：从镜像解析到解释器交接</a:t>
            </a:r>
          </a:p>
        </p:txBody>
      </p:sp>
      <p:cxnSp>
        <p:nvCxnSpPr>
          <p:cNvPr id="20" name="rule"/>
          <p:cNvCxnSpPr/>
          <p:nvPr/>
        </p:nvCxnSpPr>
        <p:spPr>
          <a:xfrm xmlns:a="http://schemas.openxmlformats.org/drawingml/2006/main">
            <a:off x="400050" y="121920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06587D5-7672-4FDE-8934-514209CB0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B66"/>
                </a:solidFill>
              </a:defRPr>
            </a:pPr>
            <a:r>
              <a:t>12</a:t>
            </a:r>
          </a:p>
        </p:txBody>
      </p:sp>
      <p:sp>
        <p:nvSpPr>
          <p:cNvPr id="5" name="panel">
            <a:extLst xmlns:a="http://schemas.openxmlformats.org/drawingml/2006/main">
              <a:ext uri="{FF2B5EF4-FFF2-40B4-BE49-F238E27FC236}">
                <a16:creationId xmlns:a16="http://schemas.microsoft.com/office/drawing/2014/main" id="{10EF7EB7-6CC3-4913-A7CC-F66CDB9F9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53149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803BE71-7416-49C3-9673-4D9D6ED85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71650"/>
            <a:ext cx="4857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114"/>
                </a:solidFill>
              </a:defRPr>
            </a:pPr>
            <a:r>
              <a:t>ELF 映射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A5F07B8-C7EB-4067-A7D5-6AA2147C2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09800"/>
            <a:ext cx="485775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114"/>
                </a:solidFill>
              </a:defRPr>
            </a:pPr>
            <a:r>
              <a:t>ELF64 校验 · PT_LOAD · BSS 清零
静态 ELF / ET_DYN · W^X 权限</a:t>
            </a:r>
          </a:p>
        </p:txBody>
      </p:sp>
      <p:sp>
        <p:nvSpPr>
          <p:cNvPr id="8" name="panel">
            <a:extLst xmlns:a="http://schemas.openxmlformats.org/drawingml/2006/main">
              <a:ext uri="{FF2B5EF4-FFF2-40B4-BE49-F238E27FC236}">
                <a16:creationId xmlns:a16="http://schemas.microsoft.com/office/drawing/2014/main" id="{04E816A1-6BB3-4B12-A9D4-82967FE2D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81150"/>
            <a:ext cx="56959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163850F-7CAB-4739-B928-0719984C5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71650"/>
            <a:ext cx="5238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114"/>
                </a:solidFill>
              </a:defRPr>
            </a:pPr>
            <a:r>
              <a:t>Linux 初始栈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CC7886E4-8F28-4A37-992D-FFE4B551E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09800"/>
            <a:ext cx="523875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114"/>
                </a:solidFill>
              </a:defRPr>
            </a:pPr>
            <a:r>
              <a:t>argc / argv / envp / auxv
AT_RANDOM · UID/GID · HWCAP · PLATFORM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05C75E97-3EA1-4614-9F59-2DCCD76AE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76650"/>
            <a:ext cx="53149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76A9B2B-882D-42D6-8109-0BF046B16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67150"/>
            <a:ext cx="4857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6B35"/>
                </a:solidFill>
              </a:defRPr>
            </a:pPr>
            <a:r>
              <a:t>动态链接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8D8010F-AAA6-482A-894D-7D4654FE8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05300"/>
            <a:ext cx="485775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114"/>
                </a:solidFill>
              </a:defRPr>
            </a:pPr>
            <a:r>
              <a:t>PT_INTERP · loader alias
/lib · /lib64 · /usr/lib 运行时库物化</a:t>
            </a:r>
          </a:p>
        </p:txBody>
      </p:sp>
      <p:sp>
        <p:nvSpPr>
          <p:cNvPr id="14" name="panel">
            <a:extLst xmlns:a="http://schemas.openxmlformats.org/drawingml/2006/main">
              <a:ext uri="{FF2B5EF4-FFF2-40B4-BE49-F238E27FC236}">
                <a16:creationId xmlns:a16="http://schemas.microsoft.com/office/drawing/2014/main" id="{C92695E8-24F8-464A-A00A-1B7CA43C3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76650"/>
            <a:ext cx="56959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0EE849A5-5CC6-41C7-8025-09A426B5D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67150"/>
            <a:ext cx="5238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114"/>
                </a:solidFill>
              </a:defRPr>
            </a:pPr>
            <a:r>
              <a:t>当前边界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4574016-8060-4494-B0B6-1B89CE132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305300"/>
            <a:ext cx="523875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114"/>
                </a:solidFill>
              </a:defRPr>
            </a:pPr>
            <a:r>
              <a:t>P4 审计失败：LA loader 路径与 /lib64 契约未统一
Lua 四组合均 9 分，但当前 HEAD 仍需专项日志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0B69F0E9-1A25-4B5C-80E8-D79C68FFE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91200"/>
            <a:ext cx="10953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B66"/>
                </a:solidFill>
              </a:defRPr>
            </a:pPr>
            <a:r>
              <a:t>设计选择：当前源码把 /lib64 作为真实目录；不能只为字符串审计改成 symlink。</a:t>
            </a:r>
          </a:p>
        </p:txBody>
      </p:sp>
    </p:spTree>
    <p:extLst>
      <p:ext uri="{BB962C8B-B14F-4D97-AF65-F5344CB8AC3E}">
        <p14:creationId xmlns:p14="http://schemas.microsoft.com/office/powerpoint/2010/main" val="211619009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B137C8CE-7000-4E41-B846-DCBEE5ADC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B66"/>
                </a:solidFill>
              </a:defRPr>
            </a:pPr>
            <a:r>
              <a:t>SudoOS-Plus · OSCOMP 6.28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8FE6C9AB-E6E6-45A1-B195-84D2AEE79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049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114"/>
                </a:solidFill>
              </a:defRPr>
            </a:pPr>
            <a:r>
              <a:t>VFS 与存储：可运行根目录已建立，ext4 写路径尚未闭环</a:t>
            </a:r>
          </a:p>
        </p:txBody>
      </p:sp>
      <p:cxnSp>
        <p:nvCxnSpPr>
          <p:cNvPr id="17" name="rule"/>
          <p:cNvCxnSpPr/>
          <p:nvPr/>
        </p:nvCxnSpPr>
        <p:spPr>
          <a:xfrm xmlns:a="http://schemas.openxmlformats.org/drawingml/2006/main">
            <a:off x="400050" y="121920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528169D-0274-4B05-B9F7-2618CE677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B66"/>
                </a:solidFill>
              </a:defRPr>
            </a:pPr>
            <a:r>
              <a:t>13</a:t>
            </a:r>
          </a:p>
        </p:txBody>
      </p:sp>
      <p:sp>
        <p:nvSpPr>
          <p:cNvPr id="5" name="panel">
            <a:extLst xmlns:a="http://schemas.openxmlformats.org/drawingml/2006/main">
              <a:ext uri="{FF2B5EF4-FFF2-40B4-BE49-F238E27FC236}">
                <a16:creationId xmlns:a16="http://schemas.microsoft.com/office/drawing/2014/main" id="{1BFE409E-81CE-4665-BD09-E80838436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3467100" cy="36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A920F1F-151E-46D8-9B91-4EAA36E68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71650"/>
            <a:ext cx="3009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114"/>
                </a:solidFill>
              </a:defRPr>
            </a:pPr>
            <a:r>
              <a:t>VFS / namespace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94AE136-14F1-4CBF-B174-3BC4F6175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09800"/>
            <a:ext cx="3009900" cy="2838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114"/>
                </a:solidFill>
              </a:defRPr>
            </a:pPr>
            <a:r>
              <a:t>• tmpfs · devfs · mount table
• cwd/root · path resolve
• symlink / hardlink
• fd table · poll · dirent
• procfs / sysfs</a:t>
            </a:r>
          </a:p>
        </p:txBody>
      </p:sp>
      <p:sp>
        <p:nvSpPr>
          <p:cNvPr id="8" name="panel">
            <a:extLst xmlns:a="http://schemas.openxmlformats.org/drawingml/2006/main">
              <a:ext uri="{FF2B5EF4-FFF2-40B4-BE49-F238E27FC236}">
                <a16:creationId xmlns:a16="http://schemas.microsoft.com/office/drawing/2014/main" id="{F5FC0CDD-2A55-4596-9A00-F5FE8A504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581150"/>
            <a:ext cx="3467100" cy="36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3FB748D-D73A-4D7C-90FE-C53BE3E14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771650"/>
            <a:ext cx="3009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114"/>
                </a:solidFill>
              </a:defRPr>
            </a:pPr>
            <a:r>
              <a:t>进程 I/O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DFAB32C-6EBC-44FF-AF0B-A3083B8C0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09800"/>
            <a:ext cx="3009900" cy="2838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114"/>
                </a:solidFill>
              </a:defRPr>
            </a:pPr>
            <a:r>
              <a:t>• pipe：blocking/EOF/EPIPE
• TTY：canonical/echo/Ctrl-C
• PTY：/dev/ptmx
• termios / winsize
• 标准 fd 0/1/2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4E59BA81-1B0D-46EA-9660-AB14C94B2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581150"/>
            <a:ext cx="3467100" cy="36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C465B36-5670-4785-B3C6-D75085829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771650"/>
            <a:ext cx="3009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6B35"/>
                </a:solidFill>
              </a:defRPr>
            </a:pPr>
            <a:r>
              <a:t>块与 ext4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8E9D4FEE-E768-4C31-A73E-F0B7B6107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209800"/>
            <a:ext cx="3009900" cy="2838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114"/>
                </a:solidFill>
              </a:defRPr>
            </a:pPr>
            <a:r>
              <a:t>• VirtIO block + /dev/vda
• buffer/page cache
• ext4 superblock/inode
• 目录遍历/文件读取
• 完整写入/journal 未完成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11385BEE-672C-4616-BB91-F00F1C26C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95950"/>
            <a:ext cx="109537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B66"/>
                </a:solidFill>
              </a:defRPr>
            </a:pPr>
            <a:r>
              <a:t>P2 静态审计当前仅明确失败 RTC_RD_TIME；iozone 仍为 0，存储性能与持久化是后续主战场。</a:t>
            </a:r>
          </a:p>
        </p:txBody>
      </p:sp>
    </p:spTree>
    <p:extLst>
      <p:ext uri="{BB962C8B-B14F-4D97-AF65-F5344CB8AC3E}">
        <p14:creationId xmlns:p14="http://schemas.microsoft.com/office/powerpoint/2010/main" val="70639638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99A8F438-34CE-45A5-B097-7195B2F7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B66"/>
                </a:solidFill>
              </a:defRPr>
            </a:pPr>
            <a:r>
              <a:t>SudoOS-Plus · OSCOMP 6.28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46ECE72F-6110-4B0E-AAF4-5806603AC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049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114"/>
                </a:solidFill>
              </a:defRPr>
            </a:pPr>
            <a:r>
              <a:t>设备与网络：代码路径存在，平台网络分数仍为 0</a:t>
            </a:r>
          </a:p>
        </p:txBody>
      </p:sp>
      <p:cxnSp>
        <p:nvCxnSpPr>
          <p:cNvPr id="26" name="rule"/>
          <p:cNvCxnSpPr/>
          <p:nvPr/>
        </p:nvCxnSpPr>
        <p:spPr>
          <a:xfrm xmlns:a="http://schemas.openxmlformats.org/drawingml/2006/main">
            <a:off x="400050" y="121920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096F2E87-369F-409B-A7ED-C035D59CF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B66"/>
                </a:solidFill>
              </a:defRPr>
            </a:pPr>
            <a:r>
              <a:t>14</a:t>
            </a:r>
          </a:p>
        </p:txBody>
      </p:sp>
      <p:sp>
        <p:nvSpPr>
          <p:cNvPr id="5" name="panel">
            <a:extLst xmlns:a="http://schemas.openxmlformats.org/drawingml/2006/main">
              <a:ext uri="{FF2B5EF4-FFF2-40B4-BE49-F238E27FC236}">
                <a16:creationId xmlns:a16="http://schemas.microsoft.com/office/drawing/2014/main" id="{09CBB7AE-1B4B-463A-9175-9A2D6EEBA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531495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C4C2223-327E-4B1D-A8D3-741773DB9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71650"/>
            <a:ext cx="4857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114"/>
                </a:solidFill>
              </a:defRPr>
            </a:pPr>
            <a:r>
              <a:t>设备模型与 VirtIO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D9AD01E-A299-4477-8CA5-B593B828B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09800"/>
            <a:ext cx="485775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114"/>
                </a:solidFill>
              </a:defRPr>
            </a:pPr>
            <a:r>
              <a:t>• Bus / Device / Driver 匹配与 probe
• FDT VirtIO-MMIO + PCI host
• DMA HAL · block · rng · net</a:t>
            </a:r>
          </a:p>
        </p:txBody>
      </p:sp>
      <p:sp>
        <p:nvSpPr>
          <p:cNvPr id="8" name="panel">
            <a:extLst xmlns:a="http://schemas.openxmlformats.org/drawingml/2006/main">
              <a:ext uri="{FF2B5EF4-FFF2-40B4-BE49-F238E27FC236}">
                <a16:creationId xmlns:a16="http://schemas.microsoft.com/office/drawing/2014/main" id="{92A2E7B4-0AD9-479E-8784-50F73EDC8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81150"/>
            <a:ext cx="569595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4BE19ED-403C-4ED7-AAEB-7444B8B00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71650"/>
            <a:ext cx="5238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114"/>
                </a:solidFill>
              </a:defRPr>
            </a:pPr>
            <a:r>
              <a:t>网络接口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CE54C8E1-889B-4C4D-9269-10B53B8E9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09800"/>
            <a:ext cx="523875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114"/>
                </a:solidFill>
              </a:defRPr>
            </a:pPr>
            <a:r>
              <a:t>• NetDevice registry · VirtIO-Net raw
• smoltcp：Ethernet / IPv4 / IPv6 / TCP / UDP
• AF_INET socket + poll + FIONBIO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CD5B10CF-E711-4B28-BFEC-541062EE6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05250"/>
            <a:ext cx="25717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EB1F4B5-78B0-410D-99CE-7F7FE7D6A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21526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E7A4D"/>
                </a:solidFill>
              </a:defRPr>
            </a:pPr>
            <a:r>
              <a:t>PASS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1FB4CE0-F2F9-466C-A2E4-6B5FF309A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21526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B66"/>
                </a:solidFill>
              </a:defRPr>
            </a:pPr>
            <a:r>
              <a:t>P6 network 静态审计</a:t>
            </a:r>
          </a:p>
        </p:txBody>
      </p:sp>
      <p:sp>
        <p:nvSpPr>
          <p:cNvPr id="14" name="panel">
            <a:extLst xmlns:a="http://schemas.openxmlformats.org/drawingml/2006/main">
              <a:ext uri="{FF2B5EF4-FFF2-40B4-BE49-F238E27FC236}">
                <a16:creationId xmlns:a16="http://schemas.microsoft.com/office/drawing/2014/main" id="{CF8D93E8-5669-4E5C-8D65-928FD5B92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905250"/>
            <a:ext cx="25717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0E4324CB-CE86-486E-8133-60D5BFF61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114800"/>
            <a:ext cx="21526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B42318"/>
                </a:solidFill>
              </a:defRPr>
            </a:pPr>
            <a:r>
              <a:t>0.0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E13B30C1-2DF2-47B2-A4D2-457C95E0E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686300"/>
            <a:ext cx="21526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B66"/>
                </a:solidFill>
              </a:defRPr>
            </a:pPr>
            <a:r>
              <a:t>iperf 平台分</a:t>
            </a:r>
          </a:p>
        </p:txBody>
      </p:sp>
      <p:sp>
        <p:nvSpPr>
          <p:cNvPr id="17" name="panel">
            <a:extLst xmlns:a="http://schemas.openxmlformats.org/drawingml/2006/main">
              <a:ext uri="{FF2B5EF4-FFF2-40B4-BE49-F238E27FC236}">
                <a16:creationId xmlns:a16="http://schemas.microsoft.com/office/drawing/2014/main" id="{91167EB1-9C61-4176-B331-2EF83F445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05250"/>
            <a:ext cx="25717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FA806927-681A-45D3-BB64-D1F0450C7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114800"/>
            <a:ext cx="21526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B42318"/>
                </a:solidFill>
              </a:defRPr>
            </a:pPr>
            <a:r>
              <a:t>0.0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6056B246-C0C6-4BC0-8EA1-00E7C5646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686300"/>
            <a:ext cx="21526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B66"/>
                </a:solidFill>
              </a:defRPr>
            </a:pPr>
            <a:r>
              <a:t>netperf 平台分</a:t>
            </a:r>
          </a:p>
        </p:txBody>
      </p:sp>
      <p:sp>
        <p:nvSpPr>
          <p:cNvPr id="20" name="panel">
            <a:extLst xmlns:a="http://schemas.openxmlformats.org/drawingml/2006/main">
              <a:ext uri="{FF2B5EF4-FFF2-40B4-BE49-F238E27FC236}">
                <a16:creationId xmlns:a16="http://schemas.microsoft.com/office/drawing/2014/main" id="{3E8EE4CE-0142-4D07-ADE6-CE11FDF48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905250"/>
            <a:ext cx="28575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D6D3B070-A2E5-453F-B59A-209772536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114800"/>
            <a:ext cx="24384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6B35"/>
                </a:solidFill>
              </a:defRPr>
            </a:pPr>
            <a:r>
              <a:t>OFF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7EB5B19D-DDAC-4442-A8D9-89AD7240D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686300"/>
            <a:ext cx="24384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B66"/>
                </a:solidFill>
              </a:defRPr>
            </a:pPr>
            <a:r>
              <a:t>两组评分开关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10E70931-A723-4732-BB26-B7EE75872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72150"/>
            <a:ext cx="10668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114"/>
                </a:solidFill>
              </a:defRPr>
            </a:pPr>
            <a:r>
              <a:t>结论：网络应标记为“骨架与 ABI 已有、数据面和评分闭环未完成”。</a:t>
            </a:r>
          </a:p>
        </p:txBody>
      </p:sp>
    </p:spTree>
    <p:extLst>
      <p:ext uri="{BB962C8B-B14F-4D97-AF65-F5344CB8AC3E}">
        <p14:creationId xmlns:p14="http://schemas.microsoft.com/office/powerpoint/2010/main" val="161182603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96AAB668-D8D2-4284-B752-426EA1278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B66"/>
                </a:solidFill>
              </a:defRPr>
            </a:pPr>
            <a:r>
              <a:t>SudoOS-Plus · OSCOMP 6.28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3AB87DEC-DC9C-4DD3-A034-803B99B22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049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114"/>
                </a:solidFill>
              </a:defRPr>
            </a:pPr>
            <a:r>
              <a:t>OSCOMP 执行架构：PASS 必须追溯到真实退出状态</a:t>
            </a:r>
          </a:p>
        </p:txBody>
      </p:sp>
      <p:cxnSp>
        <p:nvCxnSpPr>
          <p:cNvPr id="34" name="rule"/>
          <p:cNvCxnSpPr/>
          <p:nvPr/>
        </p:nvCxnSpPr>
        <p:spPr>
          <a:xfrm xmlns:a="http://schemas.openxmlformats.org/drawingml/2006/main">
            <a:off x="400050" y="121920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EB3FB00-CFDC-4132-8134-8AA428F7A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B66"/>
                </a:solidFill>
              </a:defRPr>
            </a:pPr>
            <a:r>
              <a:t>15</a:t>
            </a:r>
          </a:p>
        </p:txBody>
      </p:sp>
      <p:cxnSp>
        <p:nvCxnSpPr>
          <p:cNvPr id="36" name="rule"/>
          <p:cNvCxnSpPr/>
          <p:nvPr/>
        </p:nvCxnSpPr>
        <p:spPr>
          <a:xfrm xmlns:a="http://schemas.openxmlformats.org/drawingml/2006/main">
            <a:off x="1047750" y="3162300"/>
            <a:ext cx="1000125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6" name="panel">
            <a:extLst xmlns:a="http://schemas.openxmlformats.org/drawingml/2006/main">
              <a:ext uri="{FF2B5EF4-FFF2-40B4-BE49-F238E27FC236}">
                <a16:creationId xmlns:a16="http://schemas.microsoft.com/office/drawing/2014/main" id="{F3D88AC0-6027-4DE6-9D65-A39240C69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19431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421D863-69EE-4580-86AE-A7228DD39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47850"/>
            <a:ext cx="1485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114"/>
                </a:solidFill>
              </a:defRPr>
            </a:pPr>
            <a:r>
              <a:t>发现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F18C013-A4A5-4302-AC2D-6C3FE72CD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86000"/>
            <a:ext cx="14859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114"/>
                </a:solidFill>
              </a:defRPr>
            </a:pPr>
            <a:r>
              <a:t>bounded sdcard
目录与脚本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DD17876E-5276-4CD7-AC5E-1799CAE01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657350"/>
            <a:ext cx="19431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A012E08-921C-46A1-A88F-62A73F4F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847850"/>
            <a:ext cx="1485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114"/>
                </a:solidFill>
              </a:defRPr>
            </a:pPr>
            <a:r>
              <a:t>分类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3A166226-99F3-4D62-9816-64D14CE19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86000"/>
            <a:ext cx="14859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114"/>
                </a:solidFill>
              </a:defRPr>
            </a:pPr>
            <a:r>
              <a:t>arch × libc
× group</a:t>
            </a:r>
          </a:p>
        </p:txBody>
      </p:sp>
      <p:sp>
        <p:nvSpPr>
          <p:cNvPr id="12" name="panel">
            <a:extLst xmlns:a="http://schemas.openxmlformats.org/drawingml/2006/main">
              <a:ext uri="{FF2B5EF4-FFF2-40B4-BE49-F238E27FC236}">
                <a16:creationId xmlns:a16="http://schemas.microsoft.com/office/drawing/2014/main" id="{54A83E76-6F23-4046-88FC-440D26DD4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657350"/>
            <a:ext cx="19431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17D7006-F1BF-496F-9E04-3EACB71CB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847850"/>
            <a:ext cx="1485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114"/>
                </a:solidFill>
              </a:defRPr>
            </a:pPr>
            <a:r>
              <a:t>预检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4B64DF71-0543-40E1-A6CC-55D6723E1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286000"/>
            <a:ext cx="14859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114"/>
                </a:solidFill>
              </a:defRPr>
            </a:pPr>
            <a:r>
              <a:t>path / shell
loader / env</a:t>
            </a:r>
          </a:p>
        </p:txBody>
      </p:sp>
      <p:sp>
        <p:nvSpPr>
          <p:cNvPr id="15" name="panel">
            <a:extLst xmlns:a="http://schemas.openxmlformats.org/drawingml/2006/main">
              <a:ext uri="{FF2B5EF4-FFF2-40B4-BE49-F238E27FC236}">
                <a16:creationId xmlns:a16="http://schemas.microsoft.com/office/drawing/2014/main" id="{AC2660E9-6878-433E-A21D-B39796F08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657350"/>
            <a:ext cx="19431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C74D9395-24EB-46D1-AE2E-B2611B798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847850"/>
            <a:ext cx="1485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6B35"/>
                </a:solidFill>
              </a:defRPr>
            </a:pPr>
            <a:r>
              <a:t>执行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EC0641AC-12C6-4CCB-A592-77E8264C3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286000"/>
            <a:ext cx="14859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114"/>
                </a:solidFill>
              </a:defRPr>
            </a:pPr>
            <a:r>
              <a:t>direct / shell
真实 binary</a:t>
            </a:r>
          </a:p>
        </p:txBody>
      </p:sp>
      <p:sp>
        <p:nvSpPr>
          <p:cNvPr id="18" name="panel">
            <a:extLst xmlns:a="http://schemas.openxmlformats.org/drawingml/2006/main">
              <a:ext uri="{FF2B5EF4-FFF2-40B4-BE49-F238E27FC236}">
                <a16:creationId xmlns:a16="http://schemas.microsoft.com/office/drawing/2014/main" id="{4F745A87-3618-4756-9A47-FBEFBF41E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657350"/>
            <a:ext cx="20955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463CE743-B7D5-4701-AA62-DF4561D6E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847850"/>
            <a:ext cx="1638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114"/>
                </a:solidFill>
              </a:defRPr>
            </a:pPr>
            <a:r>
              <a:t>汇总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3365CC55-48E0-4308-8C9F-FD5141742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286000"/>
            <a:ext cx="16383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114"/>
                </a:solidFill>
              </a:defRPr>
            </a:pPr>
            <a:r>
              <a:t>raw → parser
summary / score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042944CE-060C-4A47-B8ED-A7DBA8930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95600"/>
            <a:ext cx="762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850" b="0">
                <a:solidFill>
                  <a:srgbClr val="101114"/>
                </a:solidFill>
              </a:defRPr>
            </a:pPr>
            <a:r>
              <a:t>↓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AA221453-D270-45C7-A0A8-53F44DC68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95600"/>
            <a:ext cx="762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850" b="0">
                <a:solidFill>
                  <a:srgbClr val="101114"/>
                </a:solidFill>
              </a:defRPr>
            </a:pPr>
            <a:r>
              <a:t>↓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CE656BB0-DA18-4132-982D-1AFFBD5C5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895600"/>
            <a:ext cx="762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850" b="0">
                <a:solidFill>
                  <a:srgbClr val="101114"/>
                </a:solidFill>
              </a:defRPr>
            </a:pPr>
            <a:r>
              <a:t>↓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39A671EB-A112-4138-8614-5956A3A3E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895600"/>
            <a:ext cx="762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850" b="0">
                <a:solidFill>
                  <a:srgbClr val="101114"/>
                </a:solidFill>
              </a:defRPr>
            </a:pPr>
            <a:r>
              <a:t>↓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70B42B2E-85E9-4898-8ACC-0B7212412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895600"/>
            <a:ext cx="762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850" b="0">
                <a:solidFill>
                  <a:srgbClr val="101114"/>
                </a:solidFill>
              </a:defRPr>
            </a:pPr>
            <a:r>
              <a:t>↓</a:t>
            </a:r>
          </a:p>
        </p:txBody>
      </p:sp>
      <p:sp>
        <p:nvSpPr>
          <p:cNvPr id="26" name="panel">
            <a:extLst xmlns:a="http://schemas.openxmlformats.org/drawingml/2006/main">
              <a:ext uri="{FF2B5EF4-FFF2-40B4-BE49-F238E27FC236}">
                <a16:creationId xmlns:a16="http://schemas.microsoft.com/office/drawing/2014/main" id="{C9E614BA-B77C-48B7-9AFD-16B87C936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4102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AB7D4401-885C-45A1-AD2E-07AD3FB99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05250"/>
            <a:ext cx="4953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114"/>
                </a:solidFill>
              </a:defRPr>
            </a:pPr>
            <a:r>
              <a:t>真实性不变量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0D484DDE-744D-4172-8D46-CAA617E01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43400"/>
            <a:ext cx="4953000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114"/>
                </a:solidFill>
              </a:defRPr>
            </a:pPr>
            <a:r>
              <a:t>• success 只能来自 raw 与 expected 匹配
• parser 失败必须 fail-closed
• fallback 必须记录实际二进制与 raw</a:t>
            </a:r>
          </a:p>
        </p:txBody>
      </p:sp>
      <p:sp>
        <p:nvSpPr>
          <p:cNvPr id="29" name="panel">
            <a:extLst xmlns:a="http://schemas.openxmlformats.org/drawingml/2006/main">
              <a:ext uri="{FF2B5EF4-FFF2-40B4-BE49-F238E27FC236}">
                <a16:creationId xmlns:a16="http://schemas.microsoft.com/office/drawing/2014/main" id="{AEABE6C6-1A73-4293-88A4-4FF58535C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14750"/>
            <a:ext cx="55816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37FC2108-9926-43AE-A0EA-EB516CC82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05250"/>
            <a:ext cx="5124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114"/>
                </a:solidFill>
              </a:defRPr>
            </a:pPr>
            <a:r>
              <a:t>预算不变量</a:t>
            </a:r>
          </a:p>
        </p:txBody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61E3A67E-E478-4987-8F2C-AF51307B0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43400"/>
            <a:ext cx="5124450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114"/>
                </a:solidFill>
              </a:defRPr>
            </a:pPr>
            <a:r>
              <a:t>• RV 420 s · LA 240 s
• lmbench 320 s + 全局安全余量
• 必须能够到达 summary 与 poweroff</a:t>
            </a:r>
          </a:p>
        </p:txBody>
      </p:sp>
    </p:spTree>
    <p:extLst>
      <p:ext uri="{BB962C8B-B14F-4D97-AF65-F5344CB8AC3E}">
        <p14:creationId xmlns:p14="http://schemas.microsoft.com/office/powerpoint/2010/main" val="58501443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6EDF1124-51AD-48D7-B500-1B3408087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B66"/>
                </a:solidFill>
              </a:defRPr>
            </a:pPr>
            <a:r>
              <a:t>SudoOS-Plus · OSCOMP 6.28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6CD1CBB6-B2B5-4639-BC75-EA056F434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049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114"/>
                </a:solidFill>
              </a:defRPr>
            </a:pPr>
            <a:r>
              <a:t>当前评分范围：只开放已知稳定组</a:t>
            </a:r>
          </a:p>
        </p:txBody>
      </p:sp>
      <p:cxnSp>
        <p:nvCxnSpPr>
          <p:cNvPr id="78" name="rule"/>
          <p:cNvCxnSpPr/>
          <p:nvPr/>
        </p:nvCxnSpPr>
        <p:spPr>
          <a:xfrm xmlns:a="http://schemas.openxmlformats.org/drawingml/2006/main">
            <a:off x="400050" y="121920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92E4509-8302-48DE-96A3-7FF97B100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B66"/>
                </a:solidFill>
              </a:defRPr>
            </a:pPr>
            <a:r>
              <a:t>16</a:t>
            </a:r>
          </a:p>
        </p:txBody>
      </p:sp>
      <p:sp>
        <p:nvSpPr>
          <p:cNvPr id="5" name="panel">
            <a:extLst xmlns:a="http://schemas.openxmlformats.org/drawingml/2006/main">
              <a:ext uri="{FF2B5EF4-FFF2-40B4-BE49-F238E27FC236}">
                <a16:creationId xmlns:a16="http://schemas.microsoft.com/office/drawing/2014/main" id="{750C8BED-C91D-4D39-82BF-761F5C4C1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10953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A7E918D-465C-4D74-A5DF-ADB4F1502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38300"/>
            <a:ext cx="2381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t>测试组</a:t>
            </a:r>
          </a:p>
        </p:txBody>
      </p:sp>
      <p:cxnSp>
        <p:nvCxnSpPr>
          <p:cNvPr id="82" name="rule"/>
          <p:cNvCxnSpPr/>
          <p:nvPr/>
        </p:nvCxnSpPr>
        <p:spPr>
          <a:xfrm xmlns:a="http://schemas.openxmlformats.org/drawingml/2006/main">
            <a:off x="2971800" y="1562100"/>
            <a:ext cx="9525" cy="5143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4416F78-DD75-4DE9-BDFD-047619960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638300"/>
            <a:ext cx="1905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t>glibc-la</a:t>
            </a:r>
          </a:p>
        </p:txBody>
      </p:sp>
      <p:cxnSp>
        <p:nvCxnSpPr>
          <p:cNvPr id="84" name="rule"/>
          <p:cNvCxnSpPr/>
          <p:nvPr/>
        </p:nvCxnSpPr>
        <p:spPr>
          <a:xfrm xmlns:a="http://schemas.openxmlformats.org/drawingml/2006/main">
            <a:off x="5067300" y="1562100"/>
            <a:ext cx="9525" cy="5143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D321FB7-EC60-4787-A7B7-23BE90380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638300"/>
            <a:ext cx="1905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t>glibc-rv</a:t>
            </a:r>
          </a:p>
        </p:txBody>
      </p:sp>
      <p:cxnSp>
        <p:nvCxnSpPr>
          <p:cNvPr id="86" name="rule"/>
          <p:cNvCxnSpPr/>
          <p:nvPr/>
        </p:nvCxnSpPr>
        <p:spPr>
          <a:xfrm xmlns:a="http://schemas.openxmlformats.org/drawingml/2006/main">
            <a:off x="7162800" y="1562100"/>
            <a:ext cx="9525" cy="5143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E143D24-4E10-4920-AE27-23D3473E5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638300"/>
            <a:ext cx="1905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t>musl-la</a:t>
            </a:r>
          </a:p>
        </p:txBody>
      </p:sp>
      <p:cxnSp>
        <p:nvCxnSpPr>
          <p:cNvPr id="88" name="rule"/>
          <p:cNvCxnSpPr/>
          <p:nvPr/>
        </p:nvCxnSpPr>
        <p:spPr>
          <a:xfrm xmlns:a="http://schemas.openxmlformats.org/drawingml/2006/main">
            <a:off x="9258300" y="1562100"/>
            <a:ext cx="9525" cy="5143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43918031-08AB-41D7-BF2D-39D0D4234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638300"/>
            <a:ext cx="1905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t>musl-rv</a:t>
            </a:r>
          </a:p>
        </p:txBody>
      </p:sp>
      <p:sp>
        <p:nvSpPr>
          <p:cNvPr id="15" name="panel">
            <a:extLst xmlns:a="http://schemas.openxmlformats.org/drawingml/2006/main">
              <a:ext uri="{FF2B5EF4-FFF2-40B4-BE49-F238E27FC236}">
                <a16:creationId xmlns:a16="http://schemas.microsoft.com/office/drawing/2014/main" id="{12D948BC-273D-4018-AA17-BD501B9DF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10953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16139721-EA6A-4804-8200-A38E92BE1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52650"/>
            <a:ext cx="2381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114"/>
                </a:solidFill>
              </a:defRPr>
            </a:pPr>
            <a:r>
              <a:t>basic</a:t>
            </a:r>
          </a:p>
        </p:txBody>
      </p:sp>
      <p:cxnSp>
        <p:nvCxnSpPr>
          <p:cNvPr id="92" name="rule"/>
          <p:cNvCxnSpPr/>
          <p:nvPr/>
        </p:nvCxnSpPr>
        <p:spPr>
          <a:xfrm xmlns:a="http://schemas.openxmlformats.org/drawingml/2006/main">
            <a:off x="2971800" y="2076450"/>
            <a:ext cx="9525" cy="5143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D696BE27-1274-4BD7-AF02-7B59CBA17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152650"/>
            <a:ext cx="1905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01114"/>
                </a:solidFill>
              </a:defRPr>
            </a:pPr>
            <a:r>
              <a:t>97</a:t>
            </a:r>
          </a:p>
        </p:txBody>
      </p:sp>
      <p:cxnSp>
        <p:nvCxnSpPr>
          <p:cNvPr id="94" name="rule"/>
          <p:cNvCxnSpPr/>
          <p:nvPr/>
        </p:nvCxnSpPr>
        <p:spPr>
          <a:xfrm xmlns:a="http://schemas.openxmlformats.org/drawingml/2006/main">
            <a:off x="5067300" y="2076450"/>
            <a:ext cx="9525" cy="5143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62CEF399-C875-431D-ABB5-2C4B5B7A9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152650"/>
            <a:ext cx="1905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01114"/>
                </a:solidFill>
              </a:defRPr>
            </a:pPr>
            <a:r>
              <a:t>97</a:t>
            </a:r>
          </a:p>
        </p:txBody>
      </p:sp>
      <p:cxnSp>
        <p:nvCxnSpPr>
          <p:cNvPr id="96" name="rule"/>
          <p:cNvCxnSpPr/>
          <p:nvPr/>
        </p:nvCxnSpPr>
        <p:spPr>
          <a:xfrm xmlns:a="http://schemas.openxmlformats.org/drawingml/2006/main">
            <a:off x="7162800" y="2076450"/>
            <a:ext cx="9525" cy="5143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A57EAEAB-C8E0-4B4A-8027-80DC56A54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152650"/>
            <a:ext cx="1905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01114"/>
                </a:solidFill>
              </a:defRPr>
            </a:pPr>
            <a:r>
              <a:t>97</a:t>
            </a:r>
          </a:p>
        </p:txBody>
      </p:sp>
      <p:cxnSp>
        <p:nvCxnSpPr>
          <p:cNvPr id="98" name="rule"/>
          <p:cNvCxnSpPr/>
          <p:nvPr/>
        </p:nvCxnSpPr>
        <p:spPr>
          <a:xfrm xmlns:a="http://schemas.openxmlformats.org/drawingml/2006/main">
            <a:off x="9258300" y="2076450"/>
            <a:ext cx="9525" cy="5143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284F58D3-10C3-46BA-BD32-977DC39CF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152650"/>
            <a:ext cx="1905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01114"/>
                </a:solidFill>
              </a:defRPr>
            </a:pPr>
            <a:r>
              <a:t>97</a:t>
            </a:r>
          </a:p>
        </p:txBody>
      </p:sp>
      <p:sp>
        <p:nvSpPr>
          <p:cNvPr id="25" name="panel">
            <a:extLst xmlns:a="http://schemas.openxmlformats.org/drawingml/2006/main">
              <a:ext uri="{FF2B5EF4-FFF2-40B4-BE49-F238E27FC236}">
                <a16:creationId xmlns:a16="http://schemas.microsoft.com/office/drawing/2014/main" id="{331D5799-2A6F-4137-AD06-D347269C8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90800"/>
            <a:ext cx="10953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6EADB4B5-1014-4421-9C9F-6304D5402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0"/>
            <a:ext cx="2381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114"/>
                </a:solidFill>
              </a:defRPr>
            </a:pPr>
            <a:r>
              <a:t>busybox</a:t>
            </a:r>
          </a:p>
        </p:txBody>
      </p:sp>
      <p:cxnSp>
        <p:nvCxnSpPr>
          <p:cNvPr id="102" name="rule"/>
          <p:cNvCxnSpPr/>
          <p:nvPr/>
        </p:nvCxnSpPr>
        <p:spPr>
          <a:xfrm xmlns:a="http://schemas.openxmlformats.org/drawingml/2006/main">
            <a:off x="2971800" y="2590800"/>
            <a:ext cx="9525" cy="5143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C963062C-0CB6-4C1D-8DB1-90CB9F692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667000"/>
            <a:ext cx="1905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01114"/>
                </a:solidFill>
              </a:defRPr>
            </a:pPr>
            <a:r>
              <a:t>53</a:t>
            </a:r>
          </a:p>
        </p:txBody>
      </p:sp>
      <p:cxnSp>
        <p:nvCxnSpPr>
          <p:cNvPr id="104" name="rule"/>
          <p:cNvCxnSpPr/>
          <p:nvPr/>
        </p:nvCxnSpPr>
        <p:spPr>
          <a:xfrm xmlns:a="http://schemas.openxmlformats.org/drawingml/2006/main">
            <a:off x="5067300" y="2590800"/>
            <a:ext cx="9525" cy="5143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5A767380-3784-419C-89E0-D39E05FD8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667000"/>
            <a:ext cx="1905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01114"/>
                </a:solidFill>
              </a:defRPr>
            </a:pPr>
            <a:r>
              <a:t>54</a:t>
            </a:r>
          </a:p>
        </p:txBody>
      </p:sp>
      <p:cxnSp>
        <p:nvCxnSpPr>
          <p:cNvPr id="106" name="rule"/>
          <p:cNvCxnSpPr/>
          <p:nvPr/>
        </p:nvCxnSpPr>
        <p:spPr>
          <a:xfrm xmlns:a="http://schemas.openxmlformats.org/drawingml/2006/main">
            <a:off x="7162800" y="2590800"/>
            <a:ext cx="9525" cy="5143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F87290A3-D51F-44F2-8694-CF5F86058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667000"/>
            <a:ext cx="1905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01114"/>
                </a:solidFill>
              </a:defRPr>
            </a:pPr>
            <a:r>
              <a:t>53</a:t>
            </a:r>
          </a:p>
        </p:txBody>
      </p:sp>
      <p:cxnSp>
        <p:nvCxnSpPr>
          <p:cNvPr id="108" name="rule"/>
          <p:cNvCxnSpPr/>
          <p:nvPr/>
        </p:nvCxnSpPr>
        <p:spPr>
          <a:xfrm xmlns:a="http://schemas.openxmlformats.org/drawingml/2006/main">
            <a:off x="9258300" y="2590800"/>
            <a:ext cx="9525" cy="5143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0B6F59AA-C433-4E20-9EB6-CE233A296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667000"/>
            <a:ext cx="1905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01114"/>
                </a:solidFill>
              </a:defRPr>
            </a:pPr>
            <a:r>
              <a:t>54</a:t>
            </a:r>
          </a:p>
        </p:txBody>
      </p:sp>
      <p:sp>
        <p:nvSpPr>
          <p:cNvPr id="35" name="panel">
            <a:extLst xmlns:a="http://schemas.openxmlformats.org/drawingml/2006/main">
              <a:ext uri="{FF2B5EF4-FFF2-40B4-BE49-F238E27FC236}">
                <a16:creationId xmlns:a16="http://schemas.microsoft.com/office/drawing/2014/main" id="{99B326B3-AE84-4751-972B-5CFE5A211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05150"/>
            <a:ext cx="10953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F7525077-F75F-4FDF-A2FF-525EF89A5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81350"/>
            <a:ext cx="2381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114"/>
                </a:solidFill>
              </a:defRPr>
            </a:pPr>
            <a:r>
              <a:t>libcbench</a:t>
            </a:r>
          </a:p>
        </p:txBody>
      </p:sp>
      <p:cxnSp>
        <p:nvCxnSpPr>
          <p:cNvPr id="112" name="rule"/>
          <p:cNvCxnSpPr/>
          <p:nvPr/>
        </p:nvCxnSpPr>
        <p:spPr>
          <a:xfrm xmlns:a="http://schemas.openxmlformats.org/drawingml/2006/main">
            <a:off x="2971800" y="3105150"/>
            <a:ext cx="9525" cy="5143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8" name="text">
            <a:extLst xmlns:a="http://schemas.openxmlformats.org/drawingml/2006/main">
              <a:ext uri="{FF2B5EF4-FFF2-40B4-BE49-F238E27FC236}">
                <a16:creationId xmlns:a16="http://schemas.microsoft.com/office/drawing/2014/main" id="{D72B0863-2FB9-4139-ACD2-71FE4AB2A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181350"/>
            <a:ext cx="1905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01114"/>
                </a:solidFill>
              </a:defRPr>
            </a:pPr>
            <a:r>
              <a:t>27.1439</a:t>
            </a:r>
          </a:p>
        </p:txBody>
      </p:sp>
      <p:cxnSp>
        <p:nvCxnSpPr>
          <p:cNvPr id="114" name="rule"/>
          <p:cNvCxnSpPr/>
          <p:nvPr/>
        </p:nvCxnSpPr>
        <p:spPr>
          <a:xfrm xmlns:a="http://schemas.openxmlformats.org/drawingml/2006/main">
            <a:off x="5067300" y="3105150"/>
            <a:ext cx="9525" cy="5143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DFC92DB1-F6E6-43EA-957F-AF5BCB7FE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181350"/>
            <a:ext cx="1905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01114"/>
                </a:solidFill>
              </a:defRPr>
            </a:pPr>
            <a:r>
              <a:t>28.3798</a:t>
            </a:r>
          </a:p>
        </p:txBody>
      </p:sp>
      <p:cxnSp>
        <p:nvCxnSpPr>
          <p:cNvPr id="116" name="rule"/>
          <p:cNvCxnSpPr/>
          <p:nvPr/>
        </p:nvCxnSpPr>
        <p:spPr>
          <a:xfrm xmlns:a="http://schemas.openxmlformats.org/drawingml/2006/main">
            <a:off x="7162800" y="3105150"/>
            <a:ext cx="9525" cy="5143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2" name="text">
            <a:extLst xmlns:a="http://schemas.openxmlformats.org/drawingml/2006/main">
              <a:ext uri="{FF2B5EF4-FFF2-40B4-BE49-F238E27FC236}">
                <a16:creationId xmlns:a16="http://schemas.microsoft.com/office/drawing/2014/main" id="{BC98A5A6-8340-4AE3-882A-176D6D164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81350"/>
            <a:ext cx="1905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01114"/>
                </a:solidFill>
              </a:defRPr>
            </a:pPr>
            <a:r>
              <a:t>22.9361</a:t>
            </a:r>
          </a:p>
        </p:txBody>
      </p:sp>
      <p:cxnSp>
        <p:nvCxnSpPr>
          <p:cNvPr id="118" name="rule"/>
          <p:cNvCxnSpPr/>
          <p:nvPr/>
        </p:nvCxnSpPr>
        <p:spPr>
          <a:xfrm xmlns:a="http://schemas.openxmlformats.org/drawingml/2006/main">
            <a:off x="9258300" y="3105150"/>
            <a:ext cx="9525" cy="5143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4" name="text">
            <a:extLst xmlns:a="http://schemas.openxmlformats.org/drawingml/2006/main">
              <a:ext uri="{FF2B5EF4-FFF2-40B4-BE49-F238E27FC236}">
                <a16:creationId xmlns:a16="http://schemas.microsoft.com/office/drawing/2014/main" id="{304C5F4B-913E-46F0-9524-2B3E9C540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181350"/>
            <a:ext cx="1905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01114"/>
                </a:solidFill>
              </a:defRPr>
            </a:pPr>
            <a:r>
              <a:t>25.4681</a:t>
            </a:r>
          </a:p>
        </p:txBody>
      </p:sp>
      <p:sp>
        <p:nvSpPr>
          <p:cNvPr id="45" name="panel">
            <a:extLst xmlns:a="http://schemas.openxmlformats.org/drawingml/2006/main">
              <a:ext uri="{FF2B5EF4-FFF2-40B4-BE49-F238E27FC236}">
                <a16:creationId xmlns:a16="http://schemas.microsoft.com/office/drawing/2014/main" id="{43460B83-1163-4651-9649-FCE677C21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10953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6" name="text">
            <a:extLst xmlns:a="http://schemas.openxmlformats.org/drawingml/2006/main">
              <a:ext uri="{FF2B5EF4-FFF2-40B4-BE49-F238E27FC236}">
                <a16:creationId xmlns:a16="http://schemas.microsoft.com/office/drawing/2014/main" id="{742E16D6-30BC-468F-BA94-ECDCB7207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95700"/>
            <a:ext cx="2381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114"/>
                </a:solidFill>
              </a:defRPr>
            </a:pPr>
            <a:r>
              <a:t>lua</a:t>
            </a:r>
          </a:p>
        </p:txBody>
      </p:sp>
      <p:cxnSp>
        <p:nvCxnSpPr>
          <p:cNvPr id="122" name="rule"/>
          <p:cNvCxnSpPr/>
          <p:nvPr/>
        </p:nvCxnSpPr>
        <p:spPr>
          <a:xfrm xmlns:a="http://schemas.openxmlformats.org/drawingml/2006/main">
            <a:off x="2971800" y="3619500"/>
            <a:ext cx="9525" cy="5143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8" name="text">
            <a:extLst xmlns:a="http://schemas.openxmlformats.org/drawingml/2006/main">
              <a:ext uri="{FF2B5EF4-FFF2-40B4-BE49-F238E27FC236}">
                <a16:creationId xmlns:a16="http://schemas.microsoft.com/office/drawing/2014/main" id="{D816BC76-96FB-4820-AD5C-1A5C4D420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695700"/>
            <a:ext cx="1905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01114"/>
                </a:solidFill>
              </a:defRPr>
            </a:pPr>
            <a:r>
              <a:t>9</a:t>
            </a:r>
          </a:p>
        </p:txBody>
      </p:sp>
      <p:cxnSp>
        <p:nvCxnSpPr>
          <p:cNvPr id="124" name="rule"/>
          <p:cNvCxnSpPr/>
          <p:nvPr/>
        </p:nvCxnSpPr>
        <p:spPr>
          <a:xfrm xmlns:a="http://schemas.openxmlformats.org/drawingml/2006/main">
            <a:off x="5067300" y="3619500"/>
            <a:ext cx="9525" cy="5143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50" name="text">
            <a:extLst xmlns:a="http://schemas.openxmlformats.org/drawingml/2006/main">
              <a:ext uri="{FF2B5EF4-FFF2-40B4-BE49-F238E27FC236}">
                <a16:creationId xmlns:a16="http://schemas.microsoft.com/office/drawing/2014/main" id="{AC8D22CA-6A50-42F3-95CC-736ADE1F6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695700"/>
            <a:ext cx="1905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01114"/>
                </a:solidFill>
              </a:defRPr>
            </a:pPr>
            <a:r>
              <a:t>9</a:t>
            </a:r>
          </a:p>
        </p:txBody>
      </p:sp>
      <p:cxnSp>
        <p:nvCxnSpPr>
          <p:cNvPr id="126" name="rule"/>
          <p:cNvCxnSpPr/>
          <p:nvPr/>
        </p:nvCxnSpPr>
        <p:spPr>
          <a:xfrm xmlns:a="http://schemas.openxmlformats.org/drawingml/2006/main">
            <a:off x="7162800" y="3619500"/>
            <a:ext cx="9525" cy="5143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52" name="text">
            <a:extLst xmlns:a="http://schemas.openxmlformats.org/drawingml/2006/main">
              <a:ext uri="{FF2B5EF4-FFF2-40B4-BE49-F238E27FC236}">
                <a16:creationId xmlns:a16="http://schemas.microsoft.com/office/drawing/2014/main" id="{83FB93E6-CCFF-4C69-A8AD-63017E01D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695700"/>
            <a:ext cx="1905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01114"/>
                </a:solidFill>
              </a:defRPr>
            </a:pPr>
            <a:r>
              <a:t>9</a:t>
            </a:r>
          </a:p>
        </p:txBody>
      </p:sp>
      <p:cxnSp>
        <p:nvCxnSpPr>
          <p:cNvPr id="128" name="rule"/>
          <p:cNvCxnSpPr/>
          <p:nvPr/>
        </p:nvCxnSpPr>
        <p:spPr>
          <a:xfrm xmlns:a="http://schemas.openxmlformats.org/drawingml/2006/main">
            <a:off x="9258300" y="3619500"/>
            <a:ext cx="9525" cy="5143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54" name="text">
            <a:extLst xmlns:a="http://schemas.openxmlformats.org/drawingml/2006/main">
              <a:ext uri="{FF2B5EF4-FFF2-40B4-BE49-F238E27FC236}">
                <a16:creationId xmlns:a16="http://schemas.microsoft.com/office/drawing/2014/main" id="{36CC5B7D-3B23-406D-A1B5-1E5B32C78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695700"/>
            <a:ext cx="1905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01114"/>
                </a:solidFill>
              </a:defRPr>
            </a:pPr>
            <a:r>
              <a:t>9</a:t>
            </a:r>
          </a:p>
        </p:txBody>
      </p:sp>
      <p:sp>
        <p:nvSpPr>
          <p:cNvPr id="55" name="panel">
            <a:extLst xmlns:a="http://schemas.openxmlformats.org/drawingml/2006/main">
              <a:ext uri="{FF2B5EF4-FFF2-40B4-BE49-F238E27FC236}">
                <a16:creationId xmlns:a16="http://schemas.microsoft.com/office/drawing/2014/main" id="{4D5BE9E5-4A1D-44FD-A7D0-BDDF520DF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33850"/>
            <a:ext cx="10953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6" name="text">
            <a:extLst xmlns:a="http://schemas.openxmlformats.org/drawingml/2006/main">
              <a:ext uri="{FF2B5EF4-FFF2-40B4-BE49-F238E27FC236}">
                <a16:creationId xmlns:a16="http://schemas.microsoft.com/office/drawing/2014/main" id="{402E2712-5E7A-4903-BB35-0BFD98345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10050"/>
            <a:ext cx="2381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114"/>
                </a:solidFill>
              </a:defRPr>
            </a:pPr>
            <a:r>
              <a:t>lmbench mini</a:t>
            </a:r>
          </a:p>
        </p:txBody>
      </p:sp>
      <p:cxnSp>
        <p:nvCxnSpPr>
          <p:cNvPr id="132" name="rule"/>
          <p:cNvCxnSpPr/>
          <p:nvPr/>
        </p:nvCxnSpPr>
        <p:spPr>
          <a:xfrm xmlns:a="http://schemas.openxmlformats.org/drawingml/2006/main">
            <a:off x="2971800" y="4133850"/>
            <a:ext cx="9525" cy="5143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58" name="text">
            <a:extLst xmlns:a="http://schemas.openxmlformats.org/drawingml/2006/main">
              <a:ext uri="{FF2B5EF4-FFF2-40B4-BE49-F238E27FC236}">
                <a16:creationId xmlns:a16="http://schemas.microsoft.com/office/drawing/2014/main" id="{A7494F2A-3392-4173-9B6B-9A676D3DB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210050"/>
            <a:ext cx="1905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01114"/>
                </a:solidFill>
              </a:defRPr>
            </a:pPr>
            <a:r>
              <a:t>关闭</a:t>
            </a:r>
          </a:p>
        </p:txBody>
      </p:sp>
      <p:cxnSp>
        <p:nvCxnSpPr>
          <p:cNvPr id="134" name="rule"/>
          <p:cNvCxnSpPr/>
          <p:nvPr/>
        </p:nvCxnSpPr>
        <p:spPr>
          <a:xfrm xmlns:a="http://schemas.openxmlformats.org/drawingml/2006/main">
            <a:off x="5067300" y="4133850"/>
            <a:ext cx="9525" cy="5143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60" name="text">
            <a:extLst xmlns:a="http://schemas.openxmlformats.org/drawingml/2006/main">
              <a:ext uri="{FF2B5EF4-FFF2-40B4-BE49-F238E27FC236}">
                <a16:creationId xmlns:a16="http://schemas.microsoft.com/office/drawing/2014/main" id="{2A039F04-63F4-4CEB-B365-CC6A96ACF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210050"/>
            <a:ext cx="1905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01114"/>
                </a:solidFill>
              </a:defRPr>
            </a:pPr>
            <a:r>
              <a:t>源码开启</a:t>
            </a:r>
          </a:p>
        </p:txBody>
      </p:sp>
      <p:cxnSp>
        <p:nvCxnSpPr>
          <p:cNvPr id="136" name="rule"/>
          <p:cNvCxnSpPr/>
          <p:nvPr/>
        </p:nvCxnSpPr>
        <p:spPr>
          <a:xfrm xmlns:a="http://schemas.openxmlformats.org/drawingml/2006/main">
            <a:off x="7162800" y="4133850"/>
            <a:ext cx="9525" cy="5143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62" name="text">
            <a:extLst xmlns:a="http://schemas.openxmlformats.org/drawingml/2006/main">
              <a:ext uri="{FF2B5EF4-FFF2-40B4-BE49-F238E27FC236}">
                <a16:creationId xmlns:a16="http://schemas.microsoft.com/office/drawing/2014/main" id="{6970C2F4-6493-49BD-99E7-3CE3520EE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210050"/>
            <a:ext cx="1905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01114"/>
                </a:solidFill>
              </a:defRPr>
            </a:pPr>
            <a:r>
              <a:t>关闭</a:t>
            </a:r>
          </a:p>
        </p:txBody>
      </p:sp>
      <p:cxnSp>
        <p:nvCxnSpPr>
          <p:cNvPr id="138" name="rule"/>
          <p:cNvCxnSpPr/>
          <p:nvPr/>
        </p:nvCxnSpPr>
        <p:spPr>
          <a:xfrm xmlns:a="http://schemas.openxmlformats.org/drawingml/2006/main">
            <a:off x="9258300" y="4133850"/>
            <a:ext cx="9525" cy="5143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64" name="text">
            <a:extLst xmlns:a="http://schemas.openxmlformats.org/drawingml/2006/main">
              <a:ext uri="{FF2B5EF4-FFF2-40B4-BE49-F238E27FC236}">
                <a16:creationId xmlns:a16="http://schemas.microsoft.com/office/drawing/2014/main" id="{077E770D-7489-4E5F-AD6A-9D26AA335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210050"/>
            <a:ext cx="1905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01114"/>
                </a:solidFill>
              </a:defRPr>
            </a:pPr>
            <a:r>
              <a:t>关闭</a:t>
            </a:r>
          </a:p>
        </p:txBody>
      </p:sp>
      <p:sp>
        <p:nvSpPr>
          <p:cNvPr id="65" name="panel">
            <a:extLst xmlns:a="http://schemas.openxmlformats.org/drawingml/2006/main">
              <a:ext uri="{FF2B5EF4-FFF2-40B4-BE49-F238E27FC236}">
                <a16:creationId xmlns:a16="http://schemas.microsoft.com/office/drawing/2014/main" id="{B0F88A81-617B-4F95-8C61-A4225F4F3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48200"/>
            <a:ext cx="10953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6" name="text">
            <a:extLst xmlns:a="http://schemas.openxmlformats.org/drawingml/2006/main">
              <a:ext uri="{FF2B5EF4-FFF2-40B4-BE49-F238E27FC236}">
                <a16:creationId xmlns:a16="http://schemas.microsoft.com/office/drawing/2014/main" id="{5C14C26E-C82C-4CA9-AA52-542207571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24400"/>
            <a:ext cx="2381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114"/>
                </a:solidFill>
              </a:defRPr>
            </a:pPr>
            <a:r>
              <a:t>cyclic/io/iperf/net/LTP</a:t>
            </a:r>
          </a:p>
        </p:txBody>
      </p:sp>
      <p:cxnSp>
        <p:nvCxnSpPr>
          <p:cNvPr id="142" name="rule"/>
          <p:cNvCxnSpPr/>
          <p:nvPr/>
        </p:nvCxnSpPr>
        <p:spPr>
          <a:xfrm xmlns:a="http://schemas.openxmlformats.org/drawingml/2006/main">
            <a:off x="2971800" y="4648200"/>
            <a:ext cx="9525" cy="5143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68" name="text">
            <a:extLst xmlns:a="http://schemas.openxmlformats.org/drawingml/2006/main">
              <a:ext uri="{FF2B5EF4-FFF2-40B4-BE49-F238E27FC236}">
                <a16:creationId xmlns:a16="http://schemas.microsoft.com/office/drawing/2014/main" id="{C4CAFDCB-9B9D-4DF0-9E6A-A99F7F15A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724400"/>
            <a:ext cx="1905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01114"/>
                </a:solidFill>
              </a:defRPr>
            </a:pPr>
            <a:r>
              <a:t>关闭</a:t>
            </a:r>
          </a:p>
        </p:txBody>
      </p:sp>
      <p:cxnSp>
        <p:nvCxnSpPr>
          <p:cNvPr id="144" name="rule"/>
          <p:cNvCxnSpPr/>
          <p:nvPr/>
        </p:nvCxnSpPr>
        <p:spPr>
          <a:xfrm xmlns:a="http://schemas.openxmlformats.org/drawingml/2006/main">
            <a:off x="5067300" y="4648200"/>
            <a:ext cx="9525" cy="5143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70" name="text">
            <a:extLst xmlns:a="http://schemas.openxmlformats.org/drawingml/2006/main">
              <a:ext uri="{FF2B5EF4-FFF2-40B4-BE49-F238E27FC236}">
                <a16:creationId xmlns:a16="http://schemas.microsoft.com/office/drawing/2014/main" id="{B1DEF513-7E59-43EB-855F-C14A3EDC4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724400"/>
            <a:ext cx="1905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01114"/>
                </a:solidFill>
              </a:defRPr>
            </a:pPr>
            <a:r>
              <a:t>关闭</a:t>
            </a:r>
          </a:p>
        </p:txBody>
      </p:sp>
      <p:cxnSp>
        <p:nvCxnSpPr>
          <p:cNvPr id="146" name="rule"/>
          <p:cNvCxnSpPr/>
          <p:nvPr/>
        </p:nvCxnSpPr>
        <p:spPr>
          <a:xfrm xmlns:a="http://schemas.openxmlformats.org/drawingml/2006/main">
            <a:off x="7162800" y="4648200"/>
            <a:ext cx="9525" cy="5143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72" name="text">
            <a:extLst xmlns:a="http://schemas.openxmlformats.org/drawingml/2006/main">
              <a:ext uri="{FF2B5EF4-FFF2-40B4-BE49-F238E27FC236}">
                <a16:creationId xmlns:a16="http://schemas.microsoft.com/office/drawing/2014/main" id="{EA81801C-C2DE-445F-9374-3F3E9448E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724400"/>
            <a:ext cx="1905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01114"/>
                </a:solidFill>
              </a:defRPr>
            </a:pPr>
            <a:r>
              <a:t>关闭</a:t>
            </a:r>
          </a:p>
        </p:txBody>
      </p:sp>
      <p:cxnSp>
        <p:nvCxnSpPr>
          <p:cNvPr id="148" name="rule"/>
          <p:cNvCxnSpPr/>
          <p:nvPr/>
        </p:nvCxnSpPr>
        <p:spPr>
          <a:xfrm xmlns:a="http://schemas.openxmlformats.org/drawingml/2006/main">
            <a:off x="9258300" y="4648200"/>
            <a:ext cx="9525" cy="5143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74" name="text">
            <a:extLst xmlns:a="http://schemas.openxmlformats.org/drawingml/2006/main">
              <a:ext uri="{FF2B5EF4-FFF2-40B4-BE49-F238E27FC236}">
                <a16:creationId xmlns:a16="http://schemas.microsoft.com/office/drawing/2014/main" id="{098DC40E-9A42-48EF-83F9-607194B8A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724400"/>
            <a:ext cx="1905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01114"/>
                </a:solidFill>
              </a:defRPr>
            </a:pPr>
            <a:r>
              <a:t>关闭</a:t>
            </a:r>
          </a:p>
        </p:txBody>
      </p:sp>
      <p:sp>
        <p:nvSpPr>
          <p:cNvPr id="75" name="text">
            <a:extLst xmlns:a="http://schemas.openxmlformats.org/drawingml/2006/main">
              <a:ext uri="{FF2B5EF4-FFF2-40B4-BE49-F238E27FC236}">
                <a16:creationId xmlns:a16="http://schemas.microsoft.com/office/drawing/2014/main" id="{B514DDD3-120E-441B-B556-4E811F9B9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67350"/>
            <a:ext cx="109537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B66"/>
                </a:solidFill>
              </a:defRPr>
            </a:pPr>
            <a:r>
              <a:t>源码开关：libcbench extra / cyclictest / iperf / netperf / LTP 全为 false；lmbench 仅 RV glibc 为 true。</a:t>
            </a:r>
          </a:p>
        </p:txBody>
      </p:sp>
    </p:spTree>
    <p:extLst>
      <p:ext uri="{BB962C8B-B14F-4D97-AF65-F5344CB8AC3E}">
        <p14:creationId xmlns:p14="http://schemas.microsoft.com/office/powerpoint/2010/main" val="6325349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9DE52C76-952A-4567-92DD-3506B2276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B66"/>
                </a:solidFill>
              </a:defRPr>
            </a:pPr>
            <a:r>
              <a:t>SudoOS-Plus · OSCOMP 6.28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8342158C-C544-4635-8CAD-27C601DDB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049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114"/>
                </a:solidFill>
              </a:defRPr>
            </a:pPr>
            <a:r>
              <a:t>本轮验证：通过项明确，失败项同样保留</a:t>
            </a:r>
          </a:p>
        </p:txBody>
      </p:sp>
      <p:cxnSp>
        <p:nvCxnSpPr>
          <p:cNvPr id="32" name="rule"/>
          <p:cNvCxnSpPr/>
          <p:nvPr/>
        </p:nvCxnSpPr>
        <p:spPr>
          <a:xfrm xmlns:a="http://schemas.openxmlformats.org/drawingml/2006/main">
            <a:off x="400050" y="121920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ED5FB34-F45C-4D4D-AA6F-E47938CB5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B66"/>
                </a:solidFill>
              </a:defRPr>
            </a:pPr>
            <a:r>
              <a:t>17</a:t>
            </a:r>
          </a:p>
        </p:txBody>
      </p:sp>
      <p:sp>
        <p:nvSpPr>
          <p:cNvPr id="5" name="panel">
            <a:extLst xmlns:a="http://schemas.openxmlformats.org/drawingml/2006/main">
              <a:ext uri="{FF2B5EF4-FFF2-40B4-BE49-F238E27FC236}">
                <a16:creationId xmlns:a16="http://schemas.microsoft.com/office/drawing/2014/main" id="{467C7794-E0F8-456C-8FC3-70525C856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7A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D84CD17-FE54-4A75-A8C6-EF08054BE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1009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t>PASS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C9A3E46-6591-4AE5-8FE6-AF4EA8FA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647825"/>
            <a:ext cx="3048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114"/>
                </a:solidFill>
              </a:defRPr>
            </a:pPr>
            <a:r>
              <a:t>myos-mm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F89E227-2A7E-4873-8B22-BAC8F1110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647825"/>
            <a:ext cx="642937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B66"/>
                </a:solidFill>
              </a:defRPr>
            </a:pPr>
            <a:r>
              <a:t>45 passed / 0 failed；覆盖地址、VMA、ASID、fault、buddy、vmalloc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376EFCC1-392D-43FC-85CA-D729D8C36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7A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BE34ADA-47B4-4664-887D-0908CDA29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0"/>
            <a:ext cx="1009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t>PASS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4CCA66EC-ADA2-40B3-A5B3-0D775829A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333625"/>
            <a:ext cx="3048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114"/>
                </a:solidFill>
              </a:defRPr>
            </a:pPr>
            <a:r>
              <a:t>提交总审计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01C84B6-4BCC-4B2F-A19C-08C42EEFF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333625"/>
            <a:ext cx="642937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B66"/>
                </a:solidFill>
              </a:defRPr>
            </a:pPr>
            <a:r>
              <a:t>11 PASS / 2 WARN / 0 FAIL；双内核产物可识别</a:t>
            </a:r>
          </a:p>
        </p:txBody>
      </p:sp>
      <p:sp>
        <p:nvSpPr>
          <p:cNvPr id="13" name="panel">
            <a:extLst xmlns:a="http://schemas.openxmlformats.org/drawingml/2006/main">
              <a:ext uri="{FF2B5EF4-FFF2-40B4-BE49-F238E27FC236}">
                <a16:creationId xmlns:a16="http://schemas.microsoft.com/office/drawing/2014/main" id="{B9ACD6ED-92DD-41A6-9D5C-E11D7EEBE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0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7A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52ED39E0-34C8-4A36-B535-D8C63EB39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67050"/>
            <a:ext cx="1009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t>PASS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1DF0B10E-5DDA-4097-9156-57E696589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019425"/>
            <a:ext cx="3048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114"/>
                </a:solidFill>
              </a:defRPr>
            </a:pPr>
            <a:r>
              <a:t>newtest P0/P3/P5/P6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E8D3C160-7064-41D2-B279-D455BB262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019425"/>
            <a:ext cx="642937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B66"/>
                </a:solidFill>
              </a:defRPr>
            </a:pPr>
            <a:r>
              <a:t>ABI、scheduler、clone/futex/TLS、network 静态检查通过</a:t>
            </a:r>
          </a:p>
        </p:txBody>
      </p:sp>
      <p:sp>
        <p:nvSpPr>
          <p:cNvPr id="17" name="panel">
            <a:extLst xmlns:a="http://schemas.openxmlformats.org/drawingml/2006/main">
              <a:ext uri="{FF2B5EF4-FFF2-40B4-BE49-F238E27FC236}">
                <a16:creationId xmlns:a16="http://schemas.microsoft.com/office/drawing/2014/main" id="{9FB156F8-8838-4311-AEF3-597FD1EFD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38550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62227490-7973-4524-9F8D-2BD5E3B95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52850"/>
            <a:ext cx="1009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t>FAIL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DDA19265-BE32-4ED0-8E0D-907B1D27B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705225"/>
            <a:ext cx="3048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114"/>
                </a:solidFill>
              </a:defRPr>
            </a:pPr>
            <a:r>
              <a:t>newtest P2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8E21BAB8-0BE8-4E19-8029-F3F30681C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705225"/>
            <a:ext cx="642937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B66"/>
                </a:solidFill>
              </a:defRPr>
            </a:pPr>
            <a:r>
              <a:t>rtc.rs 未满足 RTC_RD_TIME ioctl 常量检查</a:t>
            </a:r>
          </a:p>
        </p:txBody>
      </p:sp>
      <p:sp>
        <p:nvSpPr>
          <p:cNvPr id="21" name="panel">
            <a:extLst xmlns:a="http://schemas.openxmlformats.org/drawingml/2006/main">
              <a:ext uri="{FF2B5EF4-FFF2-40B4-BE49-F238E27FC236}">
                <a16:creationId xmlns:a16="http://schemas.microsoft.com/office/drawing/2014/main" id="{3DE4A553-AE02-44F8-A957-A3151F6A9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24350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5FB8C407-05CF-4F4A-B80C-0D841F274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38650"/>
            <a:ext cx="1009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t>FAIL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0EC9A804-A85D-4687-A700-C603EB068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391025"/>
            <a:ext cx="3048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114"/>
                </a:solidFill>
              </a:defRPr>
            </a:pPr>
            <a:r>
              <a:t>newtest P4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874D8538-1784-4191-8FF8-7677110E0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391025"/>
            <a:ext cx="642937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B66"/>
                </a:solidFill>
              </a:defRPr>
            </a:pPr>
            <a:r>
              <a:t>LA loader 路径与 /lib64 → /lib 审计契约未满足</a:t>
            </a:r>
          </a:p>
        </p:txBody>
      </p:sp>
      <p:sp>
        <p:nvSpPr>
          <p:cNvPr id="25" name="panel">
            <a:extLst xmlns:a="http://schemas.openxmlformats.org/drawingml/2006/main">
              <a:ext uri="{FF2B5EF4-FFF2-40B4-BE49-F238E27FC236}">
                <a16:creationId xmlns:a16="http://schemas.microsoft.com/office/drawing/2014/main" id="{9FDC852C-3229-4460-A5A0-CCC4C5A7F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10150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0F085153-91AD-41DD-8028-EAC1ACB8E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24450"/>
            <a:ext cx="1009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t>WARN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183C2CA8-61A8-449B-89EF-C557B6F93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076825"/>
            <a:ext cx="3048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114"/>
                </a:solidFill>
              </a:defRPr>
            </a:pPr>
            <a:r>
              <a:t>baseline guard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A58C2F9C-1241-4E27-A9C2-39E1B3405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076825"/>
            <a:ext cx="642937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B66"/>
                </a:solidFill>
              </a:defRPr>
            </a:pPr>
            <a:r>
              <a:t>显示 240 PASS，但 check() 未使用 ok，结论不可信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06A6F21E-46E1-40B8-82A6-85FDCB32E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857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B66"/>
                </a:solidFill>
              </a:defRPr>
            </a:pPr>
            <a:r>
              <a:t>本页是 2026-06-28 本轮命令结果，不是历史日志摘要。</a:t>
            </a:r>
          </a:p>
        </p:txBody>
      </p:sp>
    </p:spTree>
    <p:extLst>
      <p:ext uri="{BB962C8B-B14F-4D97-AF65-F5344CB8AC3E}">
        <p14:creationId xmlns:p14="http://schemas.microsoft.com/office/powerpoint/2010/main" val="153188094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03CF2FFC-7378-4C33-840B-00912CC65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B66"/>
                </a:solidFill>
              </a:defRPr>
            </a:pPr>
            <a:r>
              <a:t>SudoOS-Plus · OSCOMP 6.28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BFCBEB01-BB44-4290-BF44-302EDDE0A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049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114"/>
                </a:solidFill>
              </a:defRPr>
            </a:pPr>
            <a:r>
              <a:t>当前进度：四类状态必须分开标记</a:t>
            </a:r>
          </a:p>
        </p:txBody>
      </p:sp>
      <p:cxnSp>
        <p:nvCxnSpPr>
          <p:cNvPr id="20" name="rule"/>
          <p:cNvCxnSpPr/>
          <p:nvPr/>
        </p:nvCxnSpPr>
        <p:spPr>
          <a:xfrm xmlns:a="http://schemas.openxmlformats.org/drawingml/2006/main">
            <a:off x="400050" y="121920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B4A839A-605E-41CE-A62E-74537F5A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B66"/>
                </a:solidFill>
              </a:defRPr>
            </a:pPr>
            <a:r>
              <a:t>18</a:t>
            </a:r>
          </a:p>
        </p:txBody>
      </p:sp>
      <p:sp>
        <p:nvSpPr>
          <p:cNvPr id="5" name="panel">
            <a:extLst xmlns:a="http://schemas.openxmlformats.org/drawingml/2006/main">
              <a:ext uri="{FF2B5EF4-FFF2-40B4-BE49-F238E27FC236}">
                <a16:creationId xmlns:a16="http://schemas.microsoft.com/office/drawing/2014/main" id="{ED4BAEDD-CCD4-4CA4-8B08-913487859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25717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9377E90-82FC-4AF6-9C75-0EDEAD1B0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71650"/>
            <a:ext cx="21145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7A4D"/>
                </a:solidFill>
              </a:defRPr>
            </a:pPr>
            <a:r>
              <a:t>稳定基线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ADBC561-76BC-45BD-922B-1F1E2A2A1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09800"/>
            <a:ext cx="2114550" cy="308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114"/>
                </a:solidFill>
              </a:defRPr>
            </a:pPr>
            <a:r>
              <a:t>• 双架构构建
• 高半启动 / FDT
• 内存单测
• basic 四组合</a:t>
            </a:r>
          </a:p>
        </p:txBody>
      </p:sp>
      <p:sp>
        <p:nvSpPr>
          <p:cNvPr id="8" name="panel">
            <a:extLst xmlns:a="http://schemas.openxmlformats.org/drawingml/2006/main">
              <a:ext uri="{FF2B5EF4-FFF2-40B4-BE49-F238E27FC236}">
                <a16:creationId xmlns:a16="http://schemas.microsoft.com/office/drawing/2014/main" id="{E8B8EF4A-25C2-422F-8284-6734F47B0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581150"/>
            <a:ext cx="25717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0CDE502-B1C7-414B-9827-E00351D24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771650"/>
            <a:ext cx="21145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114"/>
                </a:solidFill>
              </a:defRPr>
            </a:pPr>
            <a:r>
              <a:t>已实现待回归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810C5C1-1EFC-42E2-BEA6-2F8E1F7AD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09800"/>
            <a:ext cx="2114550" cy="308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114"/>
                </a:solidFill>
              </a:defRPr>
            </a:pPr>
            <a:r>
              <a:t>• SMP / 调度
• signal
• 动态 ELF
• procfs / sysfs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4D0C038F-AAEF-43CF-ACE5-5D68B94A4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581150"/>
            <a:ext cx="25717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054C0B5-45D0-4B94-942A-B0E5DC5DF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71650"/>
            <a:ext cx="21145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114"/>
                </a:solidFill>
              </a:defRPr>
            </a:pPr>
            <a:r>
              <a:t>部分闭环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3F499DB-E871-4B3E-B6EE-30A621118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09800"/>
            <a:ext cx="2114550" cy="308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114"/>
                </a:solidFill>
              </a:defRPr>
            </a:pPr>
            <a:r>
              <a:t>• BusyBox LA
• libcbench
• ext4 只读
• socket / VirtIO-Net</a:t>
            </a:r>
          </a:p>
        </p:txBody>
      </p:sp>
      <p:sp>
        <p:nvSpPr>
          <p:cNvPr id="14" name="panel">
            <a:extLst xmlns:a="http://schemas.openxmlformats.org/drawingml/2006/main">
              <a:ext uri="{FF2B5EF4-FFF2-40B4-BE49-F238E27FC236}">
                <a16:creationId xmlns:a16="http://schemas.microsoft.com/office/drawing/2014/main" id="{7FAF1B0C-6D0B-4E03-9B19-3F1F81CF6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581150"/>
            <a:ext cx="25717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D72F18F2-A756-4D38-8801-E17B16EBC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771650"/>
            <a:ext cx="21145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6B35"/>
                </a:solidFill>
              </a:defRPr>
            </a:pPr>
            <a:r>
              <a:t>未形成得分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ADED422-DA73-48EE-AA31-4369BF627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209800"/>
            <a:ext cx="2114550" cy="308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114"/>
                </a:solidFill>
              </a:defRPr>
            </a:pPr>
            <a:r>
              <a:t>• lmbench
• cyclictest
• iozone
• iperf/netperf/LTP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AC3D2B7C-7C15-4BEB-9FB5-83B45AAD3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48350"/>
            <a:ext cx="10287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114"/>
                </a:solidFill>
              </a:defRPr>
            </a:pPr>
            <a:r>
              <a:t>不要把“代码存在”直接涂成绿色；状态颜色由当前证据决定。</a:t>
            </a:r>
          </a:p>
        </p:txBody>
      </p:sp>
    </p:spTree>
    <p:extLst>
      <p:ext uri="{BB962C8B-B14F-4D97-AF65-F5344CB8AC3E}">
        <p14:creationId xmlns:p14="http://schemas.microsoft.com/office/powerpoint/2010/main" val="78489505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FE745043-CF0D-4D14-B290-C8F97BF5A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B66"/>
                </a:solidFill>
              </a:defRPr>
            </a:pPr>
            <a:r>
              <a:t>SudoOS-Plus · OSCOMP 6.28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FF9CF0F9-89E6-4D16-A776-83BDDFC69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049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114"/>
                </a:solidFill>
              </a:defRPr>
            </a:pPr>
            <a:r>
              <a:t>文件职责 I：kernel 集成层</a:t>
            </a:r>
          </a:p>
        </p:txBody>
      </p:sp>
      <p:cxnSp>
        <p:nvCxnSpPr>
          <p:cNvPr id="17" name="rule"/>
          <p:cNvCxnSpPr/>
          <p:nvPr/>
        </p:nvCxnSpPr>
        <p:spPr>
          <a:xfrm xmlns:a="http://schemas.openxmlformats.org/drawingml/2006/main">
            <a:off x="400050" y="121920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536E1BE-5929-4FDB-84B3-C5AB6EBFD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B66"/>
                </a:solidFill>
              </a:defRPr>
            </a:pPr>
            <a:r>
              <a:t>19</a:t>
            </a:r>
          </a:p>
        </p:txBody>
      </p:sp>
      <p:sp>
        <p:nvSpPr>
          <p:cNvPr id="5" name="panel">
            <a:extLst xmlns:a="http://schemas.openxmlformats.org/drawingml/2006/main">
              <a:ext uri="{FF2B5EF4-FFF2-40B4-BE49-F238E27FC236}">
                <a16:creationId xmlns:a16="http://schemas.microsoft.com/office/drawing/2014/main" id="{B723A08D-47B6-4D8B-979D-48B6DC013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3467100" cy="430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73C9DE7-D2A8-48EE-BE74-D523E4126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14500"/>
            <a:ext cx="3009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114"/>
                </a:solidFill>
              </a:defRPr>
            </a:pPr>
            <a:r>
              <a:t>启动 / 内存 / 并发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11E3960-D90F-417F-81CA-A0FF771E4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52650"/>
            <a:ext cx="3009900" cy="3486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114"/>
                </a:solidFill>
              </a:defRPr>
            </a:pPr>
            <a:r>
              <a:t>main · linker · memory · page_alloc
heap · runtime_page_table · vm · fault
context · irq · irq_lock · lockdep
smp · ipi · call_function · tlb
trap · time · timer · workqueue
task/* · tracked_spin</a:t>
            </a:r>
          </a:p>
        </p:txBody>
      </p:sp>
      <p:sp>
        <p:nvSpPr>
          <p:cNvPr id="8" name="panel">
            <a:extLst xmlns:a="http://schemas.openxmlformats.org/drawingml/2006/main">
              <a:ext uri="{FF2B5EF4-FFF2-40B4-BE49-F238E27FC236}">
                <a16:creationId xmlns:a16="http://schemas.microsoft.com/office/drawing/2014/main" id="{0DB64AC0-56CD-4E14-94DF-2AFDCBC8A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524000"/>
            <a:ext cx="3467100" cy="430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F377B76-F1AF-43D7-95EA-3860350FD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714500"/>
            <a:ext cx="3009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114"/>
                </a:solidFill>
              </a:defRPr>
            </a:pPr>
            <a:r>
              <a:t>进程 / ABI / 用户态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89425BE-CA7B-400A-A66C-1A67975CB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152650"/>
            <a:ext cx="3009900" cy="3486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114"/>
                </a:solidFill>
              </a:defRPr>
            </a:pPr>
            <a:r>
              <a:t>process · signal · syscall · user
user_mm · elf · exec · initramfs
user/riscv64.S · user/loongarch64.S
pipe · tty · devpts
console · panic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DDD20268-6E01-4284-9B28-5B886081F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524000"/>
            <a:ext cx="3467100" cy="430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5FD5696-D469-43A0-B1C7-98E9D61BE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714500"/>
            <a:ext cx="3009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6B35"/>
                </a:solidFill>
              </a:defRPr>
            </a:pPr>
            <a:r>
              <a:t>文件系统 / 驱动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079961F-2833-44D7-966E-1F1D0ECC2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152650"/>
            <a:ext cx="3009900" cy="3486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114"/>
                </a:solidFill>
              </a:defRPr>
            </a:pPr>
            <a:r>
              <a:t>fs/mod · procfs · sysfs
block · ext4 · device · virtio
rng · rtc
net/mod · net/socket
net/virtio_net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EEA13751-DCE8-4B62-BB1C-920BBDF12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00750"/>
            <a:ext cx="10668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B66"/>
                </a:solidFill>
              </a:defRPr>
            </a:pPr>
            <a:r>
              <a:t>详细逐文件说明已写入 README.md；user.rs 当前 8352 行，是后续拆分重点。</a:t>
            </a:r>
          </a:p>
        </p:txBody>
      </p:sp>
    </p:spTree>
    <p:extLst>
      <p:ext uri="{BB962C8B-B14F-4D97-AF65-F5344CB8AC3E}">
        <p14:creationId xmlns:p14="http://schemas.microsoft.com/office/powerpoint/2010/main" val="204601630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092EF839-16A8-41A5-8845-35393D3B2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B66"/>
                </a:solidFill>
              </a:defRPr>
            </a:pPr>
            <a:r>
              <a:t>SudoOS-Plus · OSCOMP 6.28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5970B0F2-61F0-42DC-AE40-4CA01E106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049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114"/>
                </a:solidFill>
              </a:defRPr>
            </a:pPr>
            <a:r>
              <a:t>文件职责 II：架构层与通用基础 crate</a:t>
            </a:r>
          </a:p>
        </p:txBody>
      </p:sp>
      <p:cxnSp>
        <p:nvCxnSpPr>
          <p:cNvPr id="16" name="rule"/>
          <p:cNvCxnSpPr/>
          <p:nvPr/>
        </p:nvCxnSpPr>
        <p:spPr>
          <a:xfrm xmlns:a="http://schemas.openxmlformats.org/drawingml/2006/main">
            <a:off x="400050" y="121920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EEFEDE0-7543-4782-82FB-F0A9F0FA1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B66"/>
                </a:solidFill>
              </a:defRPr>
            </a:pPr>
            <a:r>
              <a:t>20</a:t>
            </a:r>
          </a:p>
        </p:txBody>
      </p:sp>
      <p:sp>
        <p:nvSpPr>
          <p:cNvPr id="5" name="panel">
            <a:extLst xmlns:a="http://schemas.openxmlformats.org/drawingml/2006/main">
              <a:ext uri="{FF2B5EF4-FFF2-40B4-BE49-F238E27FC236}">
                <a16:creationId xmlns:a16="http://schemas.microsoft.com/office/drawing/2014/main" id="{27CC0BE7-3B99-48B9-A4EF-23C73B57B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3467100" cy="430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479EAB6-D2F5-4258-AFA1-3D4AD3224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14500"/>
            <a:ext cx="3009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114"/>
                </a:solidFill>
              </a:defRPr>
            </a:pPr>
            <a:r>
              <a:t>arch/riscv64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EFEA447-8A21-4CE6-916C-98E034768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52650"/>
            <a:ext cx="3009900" cy="3486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114"/>
                </a:solidFill>
              </a:defRPr>
            </a:pPr>
            <a:r>
              <a:t>asm/entry · secondary
boot · cpu · sbi · early_console
interrupt · time · smp
trap/entry · frame · mod
task/context · switch
memory/layout · phys_access
paging/*：boot/entry/geometry/map
activate</a:t>
            </a:r>
          </a:p>
        </p:txBody>
      </p:sp>
      <p:sp>
        <p:nvSpPr>
          <p:cNvPr id="8" name="panel">
            <a:extLst xmlns:a="http://schemas.openxmlformats.org/drawingml/2006/main">
              <a:ext uri="{FF2B5EF4-FFF2-40B4-BE49-F238E27FC236}">
                <a16:creationId xmlns:a16="http://schemas.microsoft.com/office/drawing/2014/main" id="{3E085EC2-B8FE-4488-9CFB-8E93F72A1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524000"/>
            <a:ext cx="3467100" cy="430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59C667F-C629-41D7-B6A5-1099A532D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714500"/>
            <a:ext cx="3009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114"/>
                </a:solidFill>
              </a:defRPr>
            </a:pPr>
            <a:r>
              <a:t>arch/loongarch64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2B788F2-F9F4-4E4A-9EBB-D04C400BA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152650"/>
            <a:ext cx="3009900" cy="3486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114"/>
                </a:solidFill>
              </a:defRPr>
            </a:pPr>
            <a:r>
              <a:t>asm/entry · secondary
boot · cpu · early_console
interrupt · time · smp
trap/* · task/*
memory/dmw · layout · phys_access
paging/* · refill.S
platform/qemu_virt/*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80BA8A33-5866-4E34-B159-64565625C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524000"/>
            <a:ext cx="3467100" cy="430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63FF972-42AD-46DD-A658-4FF3AB47E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714500"/>
            <a:ext cx="3009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6B35"/>
                </a:solidFill>
              </a:defRPr>
            </a:pPr>
            <a:r>
              <a:t>mm + support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FC63534-BB52-4002-9C09-22CDD5B48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152650"/>
            <a:ext cx="3009900" cy="3486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114"/>
                </a:solidFill>
              </a:defRPr>
            </a:pPr>
            <a:r>
              <a:t>mm：address/range/frame/map
buddy/* · slab/* · heap/*
paging/* · vma · address_space
user_space · asid · tlb · vmalloc
boot · fdt · runtime · sync · vfs</a:t>
            </a:r>
          </a:p>
        </p:txBody>
      </p:sp>
    </p:spTree>
    <p:extLst>
      <p:ext uri="{BB962C8B-B14F-4D97-AF65-F5344CB8AC3E}">
        <p14:creationId xmlns:p14="http://schemas.microsoft.com/office/powerpoint/2010/main" val="205608944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93FF9F0F-EACB-4C92-A3B6-CADC01D7F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B66"/>
                </a:solidFill>
              </a:defRPr>
            </a:pPr>
            <a:r>
              <a:t>SudoOS-Plus · OSCOMP 6.28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C5C4E6BB-9671-4F6C-B03A-CE2A374EB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049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114"/>
                </a:solidFill>
              </a:defRPr>
            </a:pPr>
            <a:r>
              <a:t>文件职责 III：构建、审计、测试与文档</a:t>
            </a:r>
          </a:p>
        </p:txBody>
      </p:sp>
      <p:cxnSp>
        <p:nvCxnSpPr>
          <p:cNvPr id="17" name="rule"/>
          <p:cNvCxnSpPr/>
          <p:nvPr/>
        </p:nvCxnSpPr>
        <p:spPr>
          <a:xfrm xmlns:a="http://schemas.openxmlformats.org/drawingml/2006/main">
            <a:off x="400050" y="121920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C49ED28-42B8-448E-B80A-B5D564D05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B66"/>
                </a:solidFill>
              </a:defRPr>
            </a:pPr>
            <a:r>
              <a:t>21</a:t>
            </a:r>
          </a:p>
        </p:txBody>
      </p:sp>
      <p:sp>
        <p:nvSpPr>
          <p:cNvPr id="5" name="panel">
            <a:extLst xmlns:a="http://schemas.openxmlformats.org/drawingml/2006/main">
              <a:ext uri="{FF2B5EF4-FFF2-40B4-BE49-F238E27FC236}">
                <a16:creationId xmlns:a16="http://schemas.microsoft.com/office/drawing/2014/main" id="{0EE9571F-D8C9-4ADD-8BCB-3C90FE098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34671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1137962-CAD8-44AA-BD32-7509A84A1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71650"/>
            <a:ext cx="3009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114"/>
                </a:solidFill>
              </a:defRPr>
            </a:pPr>
            <a:r>
              <a:t>构建入口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36A2790-8E1C-4CAA-891F-C0D5181EC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09800"/>
            <a:ext cx="3009900" cy="2895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114"/>
                </a:solidFill>
              </a:defRPr>
            </a:pPr>
            <a:r>
              <a:t>• Makefile：比赛 wrapper
• Makefile.project：开发/QEMU
• oscomp-build.sh：双内核
• cargo-dot/config：离线源
• rust-toolchain：固定 nightly</a:t>
            </a:r>
          </a:p>
        </p:txBody>
      </p:sp>
      <p:sp>
        <p:nvSpPr>
          <p:cNvPr id="8" name="panel">
            <a:extLst xmlns:a="http://schemas.openxmlformats.org/drawingml/2006/main">
              <a:ext uri="{FF2B5EF4-FFF2-40B4-BE49-F238E27FC236}">
                <a16:creationId xmlns:a16="http://schemas.microsoft.com/office/drawing/2014/main" id="{B6D193C7-A6E1-43E0-93ED-35E84105B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581150"/>
            <a:ext cx="34671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50C9C92-E80E-4B37-8D26-5FA6F2BE7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771650"/>
            <a:ext cx="3009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114"/>
                </a:solidFill>
              </a:defRPr>
            </a:pPr>
            <a:r>
              <a:t>审计与回归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964DFE1-DD75-4013-9B78-A2CCAA807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09800"/>
            <a:ext cx="3009900" cy="2895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114"/>
                </a:solidFill>
              </a:defRPr>
            </a:pPr>
            <a:r>
              <a:t>• oscomp-audit / baseline guard
• newtest P0–P6
• m5–m16 milestone audit
• RISC-V 启动/页分配专项
• smoke / stress / preflight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6DEFB15C-6F6D-4D00-BB6C-820C4DE41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581150"/>
            <a:ext cx="34671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CFFBBBE-89B9-42AC-8457-F818163F4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771650"/>
            <a:ext cx="3009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6B35"/>
                </a:solidFill>
              </a:defRPr>
            </a:pPr>
            <a:r>
              <a:t>工程文档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1ED5C1F0-BF79-4917-9900-B236ADF58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209800"/>
            <a:ext cx="3009900" cy="2895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114"/>
                </a:solidFill>
              </a:defRPr>
            </a:pPr>
            <a:r>
              <a:t>• boot/context/locking
• CPU/IPI/TLB/scheduler
• M5–M16 完成记录
• group matrix
• submit checklist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AA4C3182-616B-4CF3-8CFD-BA60A4C77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72150"/>
            <a:ext cx="10763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B66"/>
                </a:solidFill>
              </a:defRPr>
            </a:pPr>
            <a:r>
              <a:t>工作树存在未跟踪 .bak、.oscomp_patch_backup 与 vendor 目录；本轮不批量清理。</a:t>
            </a:r>
          </a:p>
        </p:txBody>
      </p:sp>
    </p:spTree>
    <p:extLst>
      <p:ext uri="{BB962C8B-B14F-4D97-AF65-F5344CB8AC3E}">
        <p14:creationId xmlns:p14="http://schemas.microsoft.com/office/powerpoint/2010/main" val="185421922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264FAA52-76A4-4B4C-A840-8DCEDB513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B66"/>
                </a:solidFill>
              </a:defRPr>
            </a:pPr>
            <a:r>
              <a:t>SudoOS-Plus · OSCOMP 6.28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AD44D5A1-1FB7-4E30-B6F4-D81C630DB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049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114"/>
                </a:solidFill>
              </a:defRPr>
            </a:pPr>
            <a:r>
              <a:t>风险登记：先修“会让 PASS 失真”的问题</a:t>
            </a:r>
          </a:p>
        </p:txBody>
      </p:sp>
      <p:cxnSp>
        <p:nvCxnSpPr>
          <p:cNvPr id="25" name="rule"/>
          <p:cNvCxnSpPr/>
          <p:nvPr/>
        </p:nvCxnSpPr>
        <p:spPr>
          <a:xfrm xmlns:a="http://schemas.openxmlformats.org/drawingml/2006/main">
            <a:off x="400050" y="121920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223F66F-83F4-4537-A13F-54B57925A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B66"/>
                </a:solidFill>
              </a:defRPr>
            </a:pPr>
            <a:r>
              <a:t>22</a:t>
            </a:r>
          </a:p>
        </p:txBody>
      </p:sp>
      <p:sp>
        <p:nvSpPr>
          <p:cNvPr id="5" name="panel">
            <a:extLst xmlns:a="http://schemas.openxmlformats.org/drawingml/2006/main">
              <a:ext uri="{FF2B5EF4-FFF2-40B4-BE49-F238E27FC236}">
                <a16:creationId xmlns:a16="http://schemas.microsoft.com/office/drawing/2014/main" id="{0B7E2DD8-EF89-44DD-B73D-1367D8088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54102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C53C4FB-CE4D-42B6-B4C3-FC01A0DA6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4953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42318"/>
                </a:solidFill>
              </a:defRPr>
            </a:pPr>
            <a:r>
              <a:t>P0 · baseline guard 忽略 ok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2CC486A-CFCE-4EF1-A4F5-F576DFE20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90750"/>
            <a:ext cx="4953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114"/>
                </a:solidFill>
              </a:defRPr>
            </a:pPr>
            <a:r>
              <a:t>240 PASS / 0 FAIL 不可信；必须先修 check() 与退出码自测。</a:t>
            </a:r>
          </a:p>
        </p:txBody>
      </p:sp>
      <p:sp>
        <p:nvSpPr>
          <p:cNvPr id="8" name="panel">
            <a:extLst xmlns:a="http://schemas.openxmlformats.org/drawingml/2006/main">
              <a:ext uri="{FF2B5EF4-FFF2-40B4-BE49-F238E27FC236}">
                <a16:creationId xmlns:a16="http://schemas.microsoft.com/office/drawing/2014/main" id="{EAC210F8-2BC6-49EA-89CD-551E4274A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95600"/>
            <a:ext cx="54102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7F89A14-EAAA-475F-9442-1D12B0582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86100"/>
            <a:ext cx="4953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114"/>
                </a:solidFill>
              </a:defRPr>
            </a:pPr>
            <a:r>
              <a:t>P0 · LA busybox known-bad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E2A3A72-7BE2-4214-893F-3252F6521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24250"/>
            <a:ext cx="4953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114"/>
                </a:solidFill>
              </a:defRPr>
            </a:pPr>
            <a:r>
              <a:t>后台 sleep/kill 与 glibc outer shell 有历史 SIGSEGV 证据。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780FD1D5-5654-4357-AFB4-0E4BA7778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29100"/>
            <a:ext cx="54102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29210C51-0F68-449F-BB15-40D234BB0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19600"/>
            <a:ext cx="4953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114"/>
                </a:solidFill>
              </a:defRPr>
            </a:pPr>
            <a:r>
              <a:t>P0 · 当前 HEAD 日志缺口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64F7906-DD94-4428-88F7-6CBF20771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57750"/>
            <a:ext cx="4953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114"/>
                </a:solidFill>
              </a:defRPr>
            </a:pPr>
            <a:r>
              <a:t>附件得分、源码与当前 contest 日志尚未逐项对齐。</a:t>
            </a:r>
          </a:p>
        </p:txBody>
      </p:sp>
      <p:sp>
        <p:nvSpPr>
          <p:cNvPr id="14" name="panel">
            <a:extLst xmlns:a="http://schemas.openxmlformats.org/drawingml/2006/main">
              <a:ext uri="{FF2B5EF4-FFF2-40B4-BE49-F238E27FC236}">
                <a16:creationId xmlns:a16="http://schemas.microsoft.com/office/drawing/2014/main" id="{2D7B4C22-7586-46C7-B44E-B4943C21D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562100"/>
            <a:ext cx="55816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A2A120E8-19C1-4CCB-9497-3C1639DB0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752600"/>
            <a:ext cx="5124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114"/>
                </a:solidFill>
              </a:defRPr>
            </a:pPr>
            <a:r>
              <a:t>P1 · P2/P4 审计失败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EEF6D5B6-6283-4069-A2C5-3F359CAEA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90750"/>
            <a:ext cx="51244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114"/>
                </a:solidFill>
              </a:defRPr>
            </a:pPr>
            <a:r>
              <a:t>RTC ioctl 与 LA loader / lib64 契约需要统一。</a:t>
            </a:r>
          </a:p>
        </p:txBody>
      </p:sp>
      <p:sp>
        <p:nvSpPr>
          <p:cNvPr id="17" name="panel">
            <a:extLst xmlns:a="http://schemas.openxmlformats.org/drawingml/2006/main">
              <a:ext uri="{FF2B5EF4-FFF2-40B4-BE49-F238E27FC236}">
                <a16:creationId xmlns:a16="http://schemas.microsoft.com/office/drawing/2014/main" id="{9278A524-D6E2-438A-AF07-D2F3191BE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895600"/>
            <a:ext cx="55816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E139C0F4-DF63-4398-A3DE-373E1AA6A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086100"/>
            <a:ext cx="5124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114"/>
                </a:solidFill>
              </a:defRPr>
            </a:pPr>
            <a:r>
              <a:t>P1 · 评分空白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D9AE5CD3-CECA-4124-96CF-A96418AA4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524250"/>
            <a:ext cx="51244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114"/>
                </a:solidFill>
              </a:defRPr>
            </a:pPr>
            <a:r>
              <a:t>lmbench、iozone、iperf、netperf、LTP 等七组仍为 0。</a:t>
            </a:r>
          </a:p>
        </p:txBody>
      </p:sp>
      <p:sp>
        <p:nvSpPr>
          <p:cNvPr id="20" name="panel">
            <a:extLst xmlns:a="http://schemas.openxmlformats.org/drawingml/2006/main">
              <a:ext uri="{FF2B5EF4-FFF2-40B4-BE49-F238E27FC236}">
                <a16:creationId xmlns:a16="http://schemas.microsoft.com/office/drawing/2014/main" id="{5728A0E5-2D11-41A7-8540-9A04374B3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29100"/>
            <a:ext cx="55816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4CF34FB3-52A4-4DF3-9A25-CED26E159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419600"/>
            <a:ext cx="5124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114"/>
                </a:solidFill>
              </a:defRPr>
            </a:pPr>
            <a:r>
              <a:t>P2 · 工程复杂度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F738AF72-E7E4-451C-84AC-85B544F66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857750"/>
            <a:ext cx="51244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114"/>
                </a:solidFill>
              </a:defRPr>
            </a:pPr>
            <a:r>
              <a:t>user.rs 过大、备份文件多、warning 与审计契约债务累积。</a:t>
            </a:r>
          </a:p>
        </p:txBody>
      </p:sp>
    </p:spTree>
    <p:extLst>
      <p:ext uri="{BB962C8B-B14F-4D97-AF65-F5344CB8AC3E}">
        <p14:creationId xmlns:p14="http://schemas.microsoft.com/office/powerpoint/2010/main" val="66311048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628E223A-6CC4-4612-8336-5EEEA6626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B66"/>
                </a:solidFill>
              </a:defRPr>
            </a:pPr>
            <a:r>
              <a:t>SudoOS-Plus · OSCOMP 6.28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F0C7F106-D12C-46F6-ACE7-B07119B67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049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114"/>
                </a:solidFill>
              </a:defRPr>
            </a:pPr>
            <a:r>
              <a:t>实施路线：先复现，再稳定，最后扩分</a:t>
            </a:r>
          </a:p>
        </p:txBody>
      </p:sp>
      <p:cxnSp>
        <p:nvCxnSpPr>
          <p:cNvPr id="23" name="rule"/>
          <p:cNvCxnSpPr/>
          <p:nvPr/>
        </p:nvCxnSpPr>
        <p:spPr>
          <a:xfrm xmlns:a="http://schemas.openxmlformats.org/drawingml/2006/main">
            <a:off x="400050" y="121920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EDCF781D-58AF-459B-8264-9D7E6DFE0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B66"/>
                </a:solidFill>
              </a:defRPr>
            </a:pPr>
            <a:r>
              <a:t>23</a:t>
            </a:r>
          </a:p>
        </p:txBody>
      </p:sp>
      <p:cxnSp>
        <p:nvCxnSpPr>
          <p:cNvPr id="25" name="rule"/>
          <p:cNvCxnSpPr/>
          <p:nvPr/>
        </p:nvCxnSpPr>
        <p:spPr>
          <a:xfrm xmlns:a="http://schemas.openxmlformats.org/drawingml/2006/main">
            <a:off x="800100" y="5429250"/>
            <a:ext cx="1057275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1114"/>
            </a:solidFill>
            <a:prstDash val="solid"/>
          </a:ln>
        </p:spPr>
      </p:cxnSp>
      <p:sp>
        <p:nvSpPr>
          <p:cNvPr id="6" name="panel">
            <a:extLst xmlns:a="http://schemas.openxmlformats.org/drawingml/2006/main">
              <a:ext uri="{FF2B5EF4-FFF2-40B4-BE49-F238E27FC236}">
                <a16:creationId xmlns:a16="http://schemas.microsoft.com/office/drawing/2014/main" id="{E38D8145-3630-4BD9-BF5C-60DE92F79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2B916099-8673-471C-979B-99D89049E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372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anel">
            <a:extLst xmlns:a="http://schemas.openxmlformats.org/drawingml/2006/main">
              <a:ext uri="{FF2B5EF4-FFF2-40B4-BE49-F238E27FC236}">
                <a16:creationId xmlns:a16="http://schemas.microsoft.com/office/drawing/2014/main" id="{1C8CC700-CACD-4326-B399-871063807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372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D039EBE5-B13D-4C9F-AC33-F5C021A07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32575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E1601BE-F100-4E1B-9223-1E89A62E3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71650"/>
            <a:ext cx="2800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6B35"/>
                </a:solidFill>
              </a:defRPr>
            </a:pPr>
            <a:r>
              <a:t>A–C · P0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D12FFEE5-6740-48A3-8264-A12CA4387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09800"/>
            <a:ext cx="2800350" cy="2514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114"/>
                </a:solidFill>
              </a:defRPr>
            </a:pPr>
            <a:r>
              <a:t>• 修 baseline guard
• 冻结当前测试范围
• 复现 741.9279
• 稳定 LA busybox
• 双架构完整日志</a:t>
            </a:r>
          </a:p>
        </p:txBody>
      </p:sp>
      <p:sp>
        <p:nvSpPr>
          <p:cNvPr id="12" name="panel">
            <a:extLst xmlns:a="http://schemas.openxmlformats.org/drawingml/2006/main">
              <a:ext uri="{FF2B5EF4-FFF2-40B4-BE49-F238E27FC236}">
                <a16:creationId xmlns:a16="http://schemas.microsoft.com/office/drawing/2014/main" id="{5C8E5FB5-FE3D-4240-A61A-BF9D78826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581150"/>
            <a:ext cx="32575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141D014-6538-4A2A-85DD-9D513AB04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771650"/>
            <a:ext cx="2800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114"/>
                </a:solidFill>
              </a:defRPr>
            </a:pPr>
            <a:r>
              <a:t>D–F · P1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E94A6E31-5AEF-4105-859A-C6CAE32EE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209800"/>
            <a:ext cx="2800350" cy="2514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114"/>
                </a:solidFill>
              </a:defRPr>
            </a:pPr>
            <a:r>
              <a:t>• 修 RTC / loader 契约
• 提高 libcbench
• 闭环 RV glibc lmbench
• 每次只改一个变量
• 保留回滚点</a:t>
            </a:r>
          </a:p>
        </p:txBody>
      </p:sp>
      <p:sp>
        <p:nvSpPr>
          <p:cNvPr id="15" name="panel">
            <a:extLst xmlns:a="http://schemas.openxmlformats.org/drawingml/2006/main">
              <a:ext uri="{FF2B5EF4-FFF2-40B4-BE49-F238E27FC236}">
                <a16:creationId xmlns:a16="http://schemas.microsoft.com/office/drawing/2014/main" id="{49469DD0-4E5B-4421-BA2E-AB032F61D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581150"/>
            <a:ext cx="41910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0D1558D9-8DC4-449D-944D-7D7415086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771650"/>
            <a:ext cx="3733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114"/>
                </a:solidFill>
              </a:defRPr>
            </a:pPr>
            <a:r>
              <a:t>G–I · P2/P3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70C685F0-92E9-4A2E-BE64-9684ABD3A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209800"/>
            <a:ext cx="3733800" cy="2514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114"/>
                </a:solidFill>
              </a:defRPr>
            </a:pPr>
            <a:r>
              <a:t>• ext4 写入与 iozone
• VirtIO-Net 数据面
• iperf → netperf
• cyclictest / libctest
• LTP allowlist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ACC84F79-8998-4FA7-A36F-7CB4E4510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76900"/>
            <a:ext cx="2286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114"/>
                </a:solidFill>
              </a:defRPr>
            </a:pPr>
            <a:r>
              <a:t>可信基线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B853F5AC-91F0-40E3-B285-94CD36481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676900"/>
            <a:ext cx="2286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114"/>
                </a:solidFill>
              </a:defRPr>
            </a:pPr>
            <a:r>
              <a:t>兼容与性能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CA1DCFC5-C4EA-402F-9067-AB0DC5E44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676900"/>
            <a:ext cx="2286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114"/>
                </a:solidFill>
              </a:defRPr>
            </a:pPr>
            <a:r>
              <a:t>扩展得分</a:t>
            </a:r>
          </a:p>
        </p:txBody>
      </p:sp>
    </p:spTree>
    <p:extLst>
      <p:ext uri="{BB962C8B-B14F-4D97-AF65-F5344CB8AC3E}">
        <p14:creationId xmlns:p14="http://schemas.microsoft.com/office/powerpoint/2010/main" val="97116313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074AF544-A36A-4F2B-8D20-1EDEFFD9F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B66"/>
                </a:solidFill>
              </a:defRPr>
            </a:pPr>
            <a:r>
              <a:t>SudoOS-Plus · OSCOMP 6.28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D6D68AD0-1603-4A01-8CC9-0F52DD333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049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114"/>
                </a:solidFill>
              </a:defRPr>
            </a:pPr>
            <a:r>
              <a:t>完成定义：让源码、日志与得分成为同一条证据链</a:t>
            </a:r>
          </a:p>
        </p:txBody>
      </p:sp>
      <p:cxnSp>
        <p:nvCxnSpPr>
          <p:cNvPr id="19" name="rule"/>
          <p:cNvCxnSpPr/>
          <p:nvPr/>
        </p:nvCxnSpPr>
        <p:spPr>
          <a:xfrm xmlns:a="http://schemas.openxmlformats.org/drawingml/2006/main">
            <a:off x="400050" y="121920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6C9B4A5-A5AB-45A8-85C0-55CCCD30B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B66"/>
                </a:solidFill>
              </a:defRPr>
            </a:pPr>
            <a:r>
              <a:t>24</a:t>
            </a:r>
          </a:p>
        </p:txBody>
      </p:sp>
      <p:sp>
        <p:nvSpPr>
          <p:cNvPr id="5" name="panel">
            <a:extLst xmlns:a="http://schemas.openxmlformats.org/drawingml/2006/main">
              <a:ext uri="{FF2B5EF4-FFF2-40B4-BE49-F238E27FC236}">
                <a16:creationId xmlns:a16="http://schemas.microsoft.com/office/drawing/2014/main" id="{BF0023DB-B0F5-4BA1-829B-F5157ED04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113919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FC1B49B-7C34-4959-A852-1184597DE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08204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</a:defRPr>
            </a:pPr>
            <a:r>
              <a:t>CURRENT CODE  =  CURRENT LOGS  =  PLATFORM SCORE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0E99345B-A74D-4A5F-863E-4708991D9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14700"/>
            <a:ext cx="346710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D07798B-8B18-44D1-AFBA-ECD0420C7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05200"/>
            <a:ext cx="3009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114"/>
                </a:solidFill>
              </a:defRPr>
            </a:pPr>
            <a:r>
              <a:t>可信门禁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996BA1B-EDA9-4FBE-8BF6-E1A49693A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43350"/>
            <a:ext cx="30099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114"/>
                </a:solidFill>
              </a:defRPr>
            </a:pPr>
            <a:r>
              <a:t>guard 能真实失败
P2/P4 契约闭环
git diff --check 通过</a:t>
            </a:r>
          </a:p>
        </p:txBody>
      </p:sp>
      <p:sp>
        <p:nvSpPr>
          <p:cNvPr id="10" name="panel">
            <a:extLst xmlns:a="http://schemas.openxmlformats.org/drawingml/2006/main">
              <a:ext uri="{FF2B5EF4-FFF2-40B4-BE49-F238E27FC236}">
                <a16:creationId xmlns:a16="http://schemas.microsoft.com/office/drawing/2014/main" id="{79608C97-5967-4902-9DAE-4BECA1B52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314700"/>
            <a:ext cx="346710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EB6C9DDC-229E-4CE0-AC25-78B626147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505200"/>
            <a:ext cx="3009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114"/>
                </a:solidFill>
              </a:defRPr>
            </a:pPr>
            <a:r>
              <a:t>动态证据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CB88070-46B4-4BB2-9AFD-E15FE3D43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943350"/>
            <a:ext cx="30099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114"/>
                </a:solidFill>
              </a:defRPr>
            </a:pPr>
            <a:r>
              <a:t>RV/LA 完整 contest
panic/signal/timeout = 0
score 可逐项复现</a:t>
            </a:r>
          </a:p>
        </p:txBody>
      </p:sp>
      <p:sp>
        <p:nvSpPr>
          <p:cNvPr id="13" name="panel">
            <a:extLst xmlns:a="http://schemas.openxmlformats.org/drawingml/2006/main">
              <a:ext uri="{FF2B5EF4-FFF2-40B4-BE49-F238E27FC236}">
                <a16:creationId xmlns:a16="http://schemas.microsoft.com/office/drawing/2014/main" id="{50953A7F-5DB6-4A31-A556-B8C6D853B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314700"/>
            <a:ext cx="346710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7C6F3803-B0A9-49D5-BB87-16DC1D635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505200"/>
            <a:ext cx="3009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6B35"/>
                </a:solidFill>
              </a:defRPr>
            </a:pPr>
            <a:r>
              <a:t>下一目标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421FBBCB-60AB-43B9-8411-4C44796A3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943350"/>
            <a:ext cx="30099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114"/>
                </a:solidFill>
              </a:defRPr>
            </a:pPr>
            <a:r>
              <a:t>LA busybox 追平 RV
libcbench 稳定增分
lmbench/存储/网络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74A26052-CC78-4BDA-8D97-5D1EDFE5B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1144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114"/>
                </a:solidFill>
              </a:defRPr>
            </a:pPr>
            <a:r>
              <a:t>当前最值得做的不是“再开一组”，而是把已有 741.9279 变成可复现、可审计、可持续的基线。</a:t>
            </a:r>
          </a:p>
        </p:txBody>
      </p:sp>
    </p:spTree>
    <p:extLst>
      <p:ext uri="{BB962C8B-B14F-4D97-AF65-F5344CB8AC3E}">
        <p14:creationId xmlns:p14="http://schemas.microsoft.com/office/powerpoint/2010/main" val="19167742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2026-06-28T11:40:04.6890000Z</dcterms:created>
  <dcterms:modified xsi:type="dcterms:W3CDTF">2026-06-28T11:40:04.6890000Z</dcterms:modified>
</coreProperties>
</file>